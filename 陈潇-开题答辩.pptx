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1567" r:id="rId2"/>
    <p:sldId id="1918" r:id="rId3"/>
    <p:sldId id="1910" r:id="rId4"/>
    <p:sldId id="2127" r:id="rId5"/>
    <p:sldId id="2128" r:id="rId6"/>
    <p:sldId id="2118" r:id="rId7"/>
    <p:sldId id="1928" r:id="rId8"/>
    <p:sldId id="2088" r:id="rId9"/>
    <p:sldId id="1935" r:id="rId10"/>
    <p:sldId id="1936" r:id="rId11"/>
    <p:sldId id="2119" r:id="rId12"/>
    <p:sldId id="2006" r:id="rId13"/>
    <p:sldId id="2120" r:id="rId14"/>
    <p:sldId id="1943" r:id="rId15"/>
    <p:sldId id="2109" r:id="rId16"/>
    <p:sldId id="1942" r:id="rId17"/>
    <p:sldId id="2110" r:id="rId18"/>
    <p:sldId id="2124" r:id="rId19"/>
    <p:sldId id="2125" r:id="rId20"/>
    <p:sldId id="2126" r:id="rId21"/>
    <p:sldId id="196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5B0AF-BCEC-4E1D-B0E5-06EBE07B79E8}" v="1" dt="2026-06-14T14:16:58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07" autoAdjust="0"/>
    <p:restoredTop sz="94714"/>
  </p:normalViewPr>
  <p:slideViewPr>
    <p:cSldViewPr snapToGrid="0">
      <p:cViewPr varScale="1">
        <p:scale>
          <a:sx n="152" d="100"/>
          <a:sy n="152" d="100"/>
        </p:scale>
        <p:origin x="9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潇 陈" userId="14fc73876ea915df" providerId="LiveId" clId="{E27E2893-F55A-4E6A-AA18-061D11DD6DB9}"/>
    <pc:docChg chg="undo custSel modSld">
      <pc:chgData name="潇 陈" userId="14fc73876ea915df" providerId="LiveId" clId="{E27E2893-F55A-4E6A-AA18-061D11DD6DB9}" dt="2026-06-14T14:18:45.998" v="211" actId="20577"/>
      <pc:docMkLst>
        <pc:docMk/>
      </pc:docMkLst>
      <pc:sldChg chg="modSp mod">
        <pc:chgData name="潇 陈" userId="14fc73876ea915df" providerId="LiveId" clId="{E27E2893-F55A-4E6A-AA18-061D11DD6DB9}" dt="2026-06-14T14:14:32.779" v="104" actId="20577"/>
        <pc:sldMkLst>
          <pc:docMk/>
          <pc:sldMk cId="0" sldId="1567"/>
        </pc:sldMkLst>
        <pc:spChg chg="mod">
          <ac:chgData name="潇 陈" userId="14fc73876ea915df" providerId="LiveId" clId="{E27E2893-F55A-4E6A-AA18-061D11DD6DB9}" dt="2026-06-14T14:14:32.779" v="104" actId="20577"/>
          <ac:spMkLst>
            <pc:docMk/>
            <pc:sldMk cId="0" sldId="1567"/>
            <ac:spMk id="3" creationId="{F1237743-FA03-C776-30E3-3DE92A0E1158}"/>
          </ac:spMkLst>
        </pc:spChg>
        <pc:spChg chg="mod">
          <ac:chgData name="潇 陈" userId="14fc73876ea915df" providerId="LiveId" clId="{E27E2893-F55A-4E6A-AA18-061D11DD6DB9}" dt="2026-06-14T14:12:38.127" v="1"/>
          <ac:spMkLst>
            <pc:docMk/>
            <pc:sldMk cId="0" sldId="1567"/>
            <ac:spMk id="10" creationId="{00000000-0000-0000-0000-000000000000}"/>
          </ac:spMkLst>
        </pc:spChg>
        <pc:spChg chg="mod">
          <ac:chgData name="潇 陈" userId="14fc73876ea915df" providerId="LiveId" clId="{E27E2893-F55A-4E6A-AA18-061D11DD6DB9}" dt="2026-06-14T14:13:03.945" v="98" actId="20577"/>
          <ac:spMkLst>
            <pc:docMk/>
            <pc:sldMk cId="0" sldId="1567"/>
            <ac:spMk id="11" creationId="{00000000-0000-0000-0000-000000000000}"/>
          </ac:spMkLst>
        </pc:spChg>
      </pc:sldChg>
      <pc:sldChg chg="addSp delSp modSp mod">
        <pc:chgData name="潇 陈" userId="14fc73876ea915df" providerId="LiveId" clId="{E27E2893-F55A-4E6A-AA18-061D11DD6DB9}" dt="2026-06-14T14:18:45.998" v="211" actId="20577"/>
        <pc:sldMkLst>
          <pc:docMk/>
          <pc:sldMk cId="4130777904" sldId="1918"/>
        </pc:sldMkLst>
        <pc:spChg chg="mod">
          <ac:chgData name="潇 陈" userId="14fc73876ea915df" providerId="LiveId" clId="{E27E2893-F55A-4E6A-AA18-061D11DD6DB9}" dt="2026-06-14T14:17:56.729" v="174" actId="20577"/>
          <ac:spMkLst>
            <pc:docMk/>
            <pc:sldMk cId="4130777904" sldId="1918"/>
            <ac:spMk id="3" creationId="{8E9E21FC-1FFD-80A8-DC4B-04F55B8791D0}"/>
          </ac:spMkLst>
        </pc:spChg>
        <pc:spChg chg="mod">
          <ac:chgData name="潇 陈" userId="14fc73876ea915df" providerId="LiveId" clId="{E27E2893-F55A-4E6A-AA18-061D11DD6DB9}" dt="2026-06-14T14:17:04.683" v="140" actId="20577"/>
          <ac:spMkLst>
            <pc:docMk/>
            <pc:sldMk cId="4130777904" sldId="1918"/>
            <ac:spMk id="11" creationId="{7561AB59-E006-4216-8ABB-DEFEEC01D424}"/>
          </ac:spMkLst>
        </pc:spChg>
        <pc:spChg chg="mod">
          <ac:chgData name="潇 陈" userId="14fc73876ea915df" providerId="LiveId" clId="{E27E2893-F55A-4E6A-AA18-061D11DD6DB9}" dt="2026-06-14T14:18:29.467" v="175" actId="1076"/>
          <ac:spMkLst>
            <pc:docMk/>
            <pc:sldMk cId="4130777904" sldId="1918"/>
            <ac:spMk id="23" creationId="{7AB0E501-1698-0D28-0A5F-1C87F6E60880}"/>
          </ac:spMkLst>
        </pc:spChg>
        <pc:spChg chg="mod">
          <ac:chgData name="潇 陈" userId="14fc73876ea915df" providerId="LiveId" clId="{E27E2893-F55A-4E6A-AA18-061D11DD6DB9}" dt="2026-06-14T14:17:34.434" v="148" actId="1076"/>
          <ac:spMkLst>
            <pc:docMk/>
            <pc:sldMk cId="4130777904" sldId="1918"/>
            <ac:spMk id="44" creationId="{BE3BBC25-40DD-4C0E-EA99-101937B004B8}"/>
          </ac:spMkLst>
        </pc:spChg>
        <pc:spChg chg="mod">
          <ac:chgData name="潇 陈" userId="14fc73876ea915df" providerId="LiveId" clId="{E27E2893-F55A-4E6A-AA18-061D11DD6DB9}" dt="2026-06-14T14:17:36.847" v="149" actId="1076"/>
          <ac:spMkLst>
            <pc:docMk/>
            <pc:sldMk cId="4130777904" sldId="1918"/>
            <ac:spMk id="45" creationId="{765934B1-9FAB-E038-3883-68E243181503}"/>
          </ac:spMkLst>
        </pc:spChg>
        <pc:spChg chg="mod">
          <ac:chgData name="潇 陈" userId="14fc73876ea915df" providerId="LiveId" clId="{E27E2893-F55A-4E6A-AA18-061D11DD6DB9}" dt="2026-06-14T14:18:45.998" v="211" actId="20577"/>
          <ac:spMkLst>
            <pc:docMk/>
            <pc:sldMk cId="4130777904" sldId="1918"/>
            <ac:spMk id="46" creationId="{C88DD15D-E1CB-FFA9-C380-38A3394B444C}"/>
          </ac:spMkLst>
        </pc:spChg>
        <pc:spChg chg="del topLvl">
          <ac:chgData name="潇 陈" userId="14fc73876ea915df" providerId="LiveId" clId="{E27E2893-F55A-4E6A-AA18-061D11DD6DB9}" dt="2026-06-14T14:17:17.372" v="145" actId="478"/>
          <ac:spMkLst>
            <pc:docMk/>
            <pc:sldMk cId="4130777904" sldId="1918"/>
            <ac:spMk id="5130" creationId="{FF83F8C2-DEC9-7321-D971-C6EFF8D19390}"/>
          </ac:spMkLst>
        </pc:spChg>
        <pc:spChg chg="mod topLvl">
          <ac:chgData name="潇 陈" userId="14fc73876ea915df" providerId="LiveId" clId="{E27E2893-F55A-4E6A-AA18-061D11DD6DB9}" dt="2026-06-14T14:17:27.932" v="146" actId="1076"/>
          <ac:spMkLst>
            <pc:docMk/>
            <pc:sldMk cId="4130777904" sldId="1918"/>
            <ac:spMk id="5131" creationId="{0FECEB68-FCF5-EE7D-2BD3-1A167DF99623}"/>
          </ac:spMkLst>
        </pc:spChg>
        <pc:spChg chg="add del">
          <ac:chgData name="潇 陈" userId="14fc73876ea915df" providerId="LiveId" clId="{E27E2893-F55A-4E6A-AA18-061D11DD6DB9}" dt="2026-06-14T14:17:15.045" v="143" actId="478"/>
          <ac:spMkLst>
            <pc:docMk/>
            <pc:sldMk cId="4130777904" sldId="1918"/>
            <ac:spMk id="5140" creationId="{8AC0140B-CD45-37AE-3958-82879EFEAAAE}"/>
          </ac:spMkLst>
        </pc:spChg>
        <pc:grpChg chg="mod">
          <ac:chgData name="潇 陈" userId="14fc73876ea915df" providerId="LiveId" clId="{E27E2893-F55A-4E6A-AA18-061D11DD6DB9}" dt="2026-06-14T14:17:49.664" v="150" actId="1076"/>
          <ac:grpSpMkLst>
            <pc:docMk/>
            <pc:sldMk cId="4130777904" sldId="1918"/>
            <ac:grpSpMk id="2" creationId="{C85286B4-90BC-F5B9-8A25-101AC3C1B8B8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4" creationId="{99521A93-4728-2783-6F6E-1DB3C28990A5}"/>
          </ac:grpSpMkLst>
        </pc:grpChg>
        <pc:grpChg chg="mod">
          <ac:chgData name="潇 陈" userId="14fc73876ea915df" providerId="LiveId" clId="{E27E2893-F55A-4E6A-AA18-061D11DD6DB9}" dt="2026-06-14T14:18:37.347" v="176" actId="1076"/>
          <ac:grpSpMkLst>
            <pc:docMk/>
            <pc:sldMk cId="4130777904" sldId="1918"/>
            <ac:grpSpMk id="5" creationId="{F2403960-E819-8BEA-09B3-08583F5A2231}"/>
          </ac:grpSpMkLst>
        </pc:grpChg>
        <pc:grpChg chg="mod">
          <ac:chgData name="潇 陈" userId="14fc73876ea915df" providerId="LiveId" clId="{E27E2893-F55A-4E6A-AA18-061D11DD6DB9}" dt="2026-06-14T14:17:49.664" v="150" actId="1076"/>
          <ac:grpSpMkLst>
            <pc:docMk/>
            <pc:sldMk cId="4130777904" sldId="1918"/>
            <ac:grpSpMk id="14" creationId="{79D02E49-B919-F76B-8792-FF80B2E881AE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18" creationId="{52E4006C-5553-A23D-381D-F3319DB878BD}"/>
          </ac:grpSpMkLst>
        </pc:grpChg>
        <pc:grpChg chg="mod">
          <ac:chgData name="潇 陈" userId="14fc73876ea915df" providerId="LiveId" clId="{E27E2893-F55A-4E6A-AA18-061D11DD6DB9}" dt="2026-06-14T14:18:37.347" v="176" actId="1076"/>
          <ac:grpSpMkLst>
            <pc:docMk/>
            <pc:sldMk cId="4130777904" sldId="1918"/>
            <ac:grpSpMk id="42" creationId="{6AB853F9-CE8D-B281-9817-28ADEBA0B7AA}"/>
          </ac:grpSpMkLst>
        </pc:grpChg>
        <pc:grpChg chg="del">
          <ac:chgData name="潇 陈" userId="14fc73876ea915df" providerId="LiveId" clId="{E27E2893-F55A-4E6A-AA18-061D11DD6DB9}" dt="2026-06-14T14:17:17.372" v="145" actId="478"/>
          <ac:grpSpMkLst>
            <pc:docMk/>
            <pc:sldMk cId="4130777904" sldId="1918"/>
            <ac:grpSpMk id="5126" creationId="{A0E177E5-A049-3C5C-DBE2-87A04E5DD91B}"/>
          </ac:grpSpMkLst>
        </pc:grpChg>
        <pc:grpChg chg="add del">
          <ac:chgData name="潇 陈" userId="14fc73876ea915df" providerId="LiveId" clId="{E27E2893-F55A-4E6A-AA18-061D11DD6DB9}" dt="2026-06-14T14:17:16.495" v="144" actId="478"/>
          <ac:grpSpMkLst>
            <pc:docMk/>
            <pc:sldMk cId="4130777904" sldId="1918"/>
            <ac:grpSpMk id="5127" creationId="{14AED640-8C5A-FC78-EA29-CE13134AC636}"/>
          </ac:grpSpMkLst>
        </pc:grpChg>
      </pc:sldChg>
    </pc:docChg>
  </pc:docChgLst>
  <pc:docChgLst>
    <pc:chgData name="潇 陈" userId="14fc73876ea915df" providerId="LiveId" clId="{E2A3C2C3-8315-4A3E-9876-2FE35F167E81}"/>
    <pc:docChg chg="delSld">
      <pc:chgData name="潇 陈" userId="14fc73876ea915df" providerId="LiveId" clId="{E2A3C2C3-8315-4A3E-9876-2FE35F167E81}" dt="2026-06-06T08:52:57.927" v="2" actId="4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EF2D7F-44C1-470F-8EFA-B89AC86EDD2D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8A008-9EBE-4984-B804-07A2F1EC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6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750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48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847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2AD0-B334-B5B6-05A1-64C4F906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D94805-008C-C163-C4E0-0AE9FDC74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F7CB69-50F3-2BDE-AED4-7A7F0E814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E54D18-6640-7767-0029-E4C7F35EA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28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60F3F-906C-7E89-DEB1-29E61E1F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5CF9CF-3189-2B4C-7568-CCF6341E6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A2C135-959D-C905-5A48-D865D8701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BB14B-7F98-7D8E-6557-3EF3B9393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506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2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1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735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66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6963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248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21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739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83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358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183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8291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3">
              <a:buFont typeface="Wingdings" panose="05000000000000000000" pitchFamily="2" charset="2"/>
              <a:buNone/>
            </a:pPr>
            <a:endParaRPr lang="zh-CN" altLang="en-US" sz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3025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247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491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861FF3-F875-4F10-BE2C-9BFD67510342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17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273F5-D869-48B6-9E8D-5000814E6E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EA68F36-A654-4FC8-B844-E1D12B3AE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F510F8-DE3D-4386-8C99-294B0A94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42A1E-8A2D-2F43-B7FC-72AE5266F0DA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8F1F6-9FBE-477D-B112-18DCC05A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82566-6301-43F9-8F92-F8A427206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5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AC5AD7-7E18-460B-95C0-497A8D3B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DD01F-A695-49CF-9904-34226883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B2E7F-800A-4A6D-9375-65383DA26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82A4-8D11-3B40-B5CD-14257A4FA07E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73B17C-6C4C-4FC5-8A40-EE9B64E22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944AA-E543-40DE-93D1-267E12F4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6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AFBFF-9A77-4545-8160-E10A3F2DA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0065E1-B2FF-45D0-ABE1-1E742E368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F04D8-8784-410C-9D53-A0CCA818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9059-8D09-4A49-BD32-9B02A70A7C8B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ECE-B695-4BCF-A8AC-270D8B85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4FD6B-3786-48A3-B360-23F53089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346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D2974B-98D9-45C6-9E13-43EA9C3A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8CDCD-0166-4B02-B27D-6666AF4AD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51CA9F-20C5-4B02-BFC6-14E3266A2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16F47B-9C50-4205-BE88-CBEC915E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9DB53-E403-214F-9858-A976BBC6781C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2539B-0C4C-4992-BD67-ECF91986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4208A4-F55A-4946-808E-AD1881377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28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E28A3-9CD0-4DD8-ADF0-07559ACE0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BCCB69-8EEF-43EC-8624-5ACEFDB43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6C02A3-A108-409E-A5C1-D4946DC7F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D21184-88F1-433D-BB81-F55C8F221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2B8758-32B1-4DF7-AC50-3C799D9F09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7437BC-B5DA-4E63-9062-D95EBE55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DF9D7-AA4A-7646-BE88-4980904E29E0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C1F2F1-058A-4D0A-945A-725219A0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A56C51C-380D-482E-998E-3819402B4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40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E0977-DF55-449F-803A-82F051F4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FD93C7-4CBB-4E36-9794-373A0EB5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165CA-5E68-BB40-A0E3-C8725EFB916D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57FB65-EEA7-489E-9A4D-E28228C2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4A9E50-55C2-4ACB-BBF3-2C125F7E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08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8C79F3-893C-4F3C-A9CA-792E72FB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4B57-BBEC-CC45-8DDB-7E1304F51DA7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620F30-02C4-4B3A-8EB3-2B05D1390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247A9-542F-46E4-A2B6-12C62CC9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1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8F16D-11D5-43D2-B351-22FD81A0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8136F-D49B-47EC-B653-03F944E67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CE415A-6636-4E58-A6ED-F4272F1F4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40E851-985B-4049-9134-72EF38F05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8308B-4AA3-A544-9A50-E4CF126D27DC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EFF272-A2CA-4A34-AA4E-182E06491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578BFE-24D1-4984-B111-F2CD383B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85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32006-3FC6-4A5B-80F2-DE4805551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B3F3CE-5DCD-415B-914C-3E506C74B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E6D909-C372-437B-ABF0-C5459FFC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6E896F-8785-420F-AF7F-B6AFF7FA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CD96D-5659-6741-B387-C522ED22A656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938E06-9DC5-4A77-8171-D40946FE9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56E8DF-E699-4C70-A1B8-04BE23D48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89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95D80-7387-4E46-8344-3ACDCC378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93F051-CE19-41AA-B092-CB7992505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6AD87-E0F2-4011-8317-9B022053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6BC82-5222-3543-8615-2863C3A41959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871922-16AE-4A01-951E-1E832E2D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C0720D-FFC2-4643-901E-7617E0A2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69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E22F178-6420-4A27-AE0A-2672D52B5D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633C43-7ABF-4C4A-BD75-4E816465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21413-F042-4CED-AB2E-577F090B7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F441D-2052-2649-BFA1-B3A83284B95B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DD06A-6417-4CC4-8192-C978551A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55030-E2B1-448F-BAA7-5EA3E283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3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845A9E-1CD2-4D3D-928D-FFB7A4E78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197D57-EB65-4F47-A74A-1E4918880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9B9C2-1E65-40B8-9023-94952E10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21ED9-3FAB-D34B-94BD-E46F408107C4}" type="datetime1">
              <a:rPr lang="en-US" altLang="zh-CN" smtClean="0"/>
              <a:t>6/14/2026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8369C8-ADBB-47B1-8BF7-AC3E01B4D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CF11E-34F6-4B11-937B-EA9DACDDD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AFA4C-2B9D-4D18-AC20-7FED1E2F9B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72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ickr.com/photos/gbpublic/22301344823" TargetMode="External"/><Relationship Id="rId13" Type="http://schemas.openxmlformats.org/officeDocument/2006/relationships/image" Target="../media/image11.svg"/><Relationship Id="rId3" Type="http://schemas.openxmlformats.org/officeDocument/2006/relationships/image" Target="../media/image2.jpeg"/><Relationship Id="rId7" Type="http://schemas.microsoft.com/office/2007/relationships/hdphoto" Target="../media/hdphoto1.wdp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svg"/><Relationship Id="rId5" Type="http://schemas.openxmlformats.org/officeDocument/2006/relationships/image" Target="../media/image5.jpg"/><Relationship Id="rId10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2.jpeg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3.png"/><Relationship Id="rId9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9"/>
          <p:cNvSpPr>
            <a:spLocks noChangeArrowheads="1"/>
          </p:cNvSpPr>
          <p:nvPr/>
        </p:nvSpPr>
        <p:spPr bwMode="auto">
          <a:xfrm>
            <a:off x="10032537" y="5836071"/>
            <a:ext cx="2208148" cy="1021968"/>
          </a:xfrm>
          <a:custGeom>
            <a:avLst/>
            <a:gdLst>
              <a:gd name="connsiteX0" fmla="*/ 10000 w 10000"/>
              <a:gd name="connsiteY0" fmla="*/ 0 h 10000"/>
              <a:gd name="connsiteX1" fmla="*/ 10000 w 10000"/>
              <a:gd name="connsiteY1" fmla="*/ 10000 h 10000"/>
              <a:gd name="connsiteX2" fmla="*/ 0 w 10000"/>
              <a:gd name="connsiteY2" fmla="*/ 10000 h 10000"/>
              <a:gd name="connsiteX3" fmla="*/ 2220 w 10000"/>
              <a:gd name="connsiteY3" fmla="*/ 10000 h 10000"/>
              <a:gd name="connsiteX4" fmla="*/ 3171 w 10000"/>
              <a:gd name="connsiteY4" fmla="*/ 0 h 10000"/>
              <a:gd name="connsiteX5" fmla="*/ 10000 w 10000"/>
              <a:gd name="connsiteY5" fmla="*/ 0 h 10000"/>
              <a:gd name="connsiteX0-1" fmla="*/ 10000 w 10000"/>
              <a:gd name="connsiteY0-2" fmla="*/ 0 h 10000"/>
              <a:gd name="connsiteX1-3" fmla="*/ 10000 w 10000"/>
              <a:gd name="connsiteY1-4" fmla="*/ 10000 h 10000"/>
              <a:gd name="connsiteX2-5" fmla="*/ 0 w 10000"/>
              <a:gd name="connsiteY2-6" fmla="*/ 10000 h 10000"/>
              <a:gd name="connsiteX3-7" fmla="*/ 1053 w 10000"/>
              <a:gd name="connsiteY3-8" fmla="*/ 6672 h 10000"/>
              <a:gd name="connsiteX4-9" fmla="*/ 3171 w 10000"/>
              <a:gd name="connsiteY4-10" fmla="*/ 0 h 10000"/>
              <a:gd name="connsiteX5-11" fmla="*/ 10000 w 10000"/>
              <a:gd name="connsiteY5-12" fmla="*/ 0 h 10000"/>
              <a:gd name="connsiteX0-13" fmla="*/ 8947 w 8947"/>
              <a:gd name="connsiteY0-14" fmla="*/ 0 h 10000"/>
              <a:gd name="connsiteX1-15" fmla="*/ 8947 w 8947"/>
              <a:gd name="connsiteY1-16" fmla="*/ 10000 h 10000"/>
              <a:gd name="connsiteX2-17" fmla="*/ 0 w 8947"/>
              <a:gd name="connsiteY2-18" fmla="*/ 6672 h 10000"/>
              <a:gd name="connsiteX3-19" fmla="*/ 0 w 8947"/>
              <a:gd name="connsiteY3-20" fmla="*/ 6672 h 10000"/>
              <a:gd name="connsiteX4-21" fmla="*/ 2118 w 8947"/>
              <a:gd name="connsiteY4-22" fmla="*/ 0 h 10000"/>
              <a:gd name="connsiteX5-23" fmla="*/ 8947 w 8947"/>
              <a:gd name="connsiteY5-24" fmla="*/ 0 h 10000"/>
              <a:gd name="connsiteX0-25" fmla="*/ 10000 w 10000"/>
              <a:gd name="connsiteY0-26" fmla="*/ 0 h 6672"/>
              <a:gd name="connsiteX1-27" fmla="*/ 9780 w 10000"/>
              <a:gd name="connsiteY1-28" fmla="*/ 6672 h 6672"/>
              <a:gd name="connsiteX2-29" fmla="*/ 0 w 10000"/>
              <a:gd name="connsiteY2-30" fmla="*/ 6672 h 6672"/>
              <a:gd name="connsiteX3-31" fmla="*/ 0 w 10000"/>
              <a:gd name="connsiteY3-32" fmla="*/ 6672 h 6672"/>
              <a:gd name="connsiteX4-33" fmla="*/ 2367 w 10000"/>
              <a:gd name="connsiteY4-34" fmla="*/ 0 h 6672"/>
              <a:gd name="connsiteX5-35" fmla="*/ 10000 w 10000"/>
              <a:gd name="connsiteY5-36" fmla="*/ 0 h 6672"/>
              <a:gd name="connsiteX0-37" fmla="*/ 11740 w 11740"/>
              <a:gd name="connsiteY0-38" fmla="*/ 0 h 17320"/>
              <a:gd name="connsiteX1-39" fmla="*/ 11520 w 11740"/>
              <a:gd name="connsiteY1-40" fmla="*/ 10000 h 17320"/>
              <a:gd name="connsiteX2-41" fmla="*/ 1740 w 11740"/>
              <a:gd name="connsiteY2-42" fmla="*/ 10000 h 17320"/>
              <a:gd name="connsiteX3-43" fmla="*/ 0 w 11740"/>
              <a:gd name="connsiteY3-44" fmla="*/ 17320 h 17320"/>
              <a:gd name="connsiteX4-45" fmla="*/ 4107 w 11740"/>
              <a:gd name="connsiteY4-46" fmla="*/ 0 h 17320"/>
              <a:gd name="connsiteX5-47" fmla="*/ 11740 w 11740"/>
              <a:gd name="connsiteY5-48" fmla="*/ 0 h 17320"/>
              <a:gd name="connsiteX0-49" fmla="*/ 11740 w 11740"/>
              <a:gd name="connsiteY0-50" fmla="*/ 0 h 17320"/>
              <a:gd name="connsiteX1-51" fmla="*/ 11520 w 11740"/>
              <a:gd name="connsiteY1-52" fmla="*/ 17320 h 17320"/>
              <a:gd name="connsiteX2-53" fmla="*/ 1740 w 11740"/>
              <a:gd name="connsiteY2-54" fmla="*/ 10000 h 17320"/>
              <a:gd name="connsiteX3-55" fmla="*/ 0 w 11740"/>
              <a:gd name="connsiteY3-56" fmla="*/ 17320 h 17320"/>
              <a:gd name="connsiteX4-57" fmla="*/ 4107 w 11740"/>
              <a:gd name="connsiteY4-58" fmla="*/ 0 h 17320"/>
              <a:gd name="connsiteX5-59" fmla="*/ 11740 w 11740"/>
              <a:gd name="connsiteY5-60" fmla="*/ 0 h 17320"/>
              <a:gd name="connsiteX0-61" fmla="*/ 11740 w 11740"/>
              <a:gd name="connsiteY0-62" fmla="*/ 0 h 17320"/>
              <a:gd name="connsiteX1-63" fmla="*/ 11520 w 11740"/>
              <a:gd name="connsiteY1-64" fmla="*/ 17320 h 17320"/>
              <a:gd name="connsiteX2-65" fmla="*/ 2609 w 11740"/>
              <a:gd name="connsiteY2-66" fmla="*/ 17320 h 17320"/>
              <a:gd name="connsiteX3-67" fmla="*/ 0 w 11740"/>
              <a:gd name="connsiteY3-68" fmla="*/ 17320 h 17320"/>
              <a:gd name="connsiteX4-69" fmla="*/ 4107 w 11740"/>
              <a:gd name="connsiteY4-70" fmla="*/ 0 h 17320"/>
              <a:gd name="connsiteX5-71" fmla="*/ 11740 w 11740"/>
              <a:gd name="connsiteY5-72" fmla="*/ 0 h 17320"/>
              <a:gd name="connsiteX0-73" fmla="*/ 11740 w 11740"/>
              <a:gd name="connsiteY0-74" fmla="*/ 0 h 17320"/>
              <a:gd name="connsiteX1-75" fmla="*/ 11520 w 11740"/>
              <a:gd name="connsiteY1-76" fmla="*/ 17320 h 17320"/>
              <a:gd name="connsiteX2-77" fmla="*/ 9131 w 11740"/>
              <a:gd name="connsiteY2-78" fmla="*/ 17320 h 17320"/>
              <a:gd name="connsiteX3-79" fmla="*/ 0 w 11740"/>
              <a:gd name="connsiteY3-80" fmla="*/ 17320 h 17320"/>
              <a:gd name="connsiteX4-81" fmla="*/ 4107 w 11740"/>
              <a:gd name="connsiteY4-82" fmla="*/ 0 h 17320"/>
              <a:gd name="connsiteX5-83" fmla="*/ 11740 w 11740"/>
              <a:gd name="connsiteY5-84" fmla="*/ 0 h 17320"/>
              <a:gd name="connsiteX0-85" fmla="*/ 10870 w 10870"/>
              <a:gd name="connsiteY0-86" fmla="*/ 0 h 17320"/>
              <a:gd name="connsiteX1-87" fmla="*/ 10650 w 10870"/>
              <a:gd name="connsiteY1-88" fmla="*/ 17320 h 17320"/>
              <a:gd name="connsiteX2-89" fmla="*/ 8261 w 10870"/>
              <a:gd name="connsiteY2-90" fmla="*/ 17320 h 17320"/>
              <a:gd name="connsiteX3-91" fmla="*/ 0 w 10870"/>
              <a:gd name="connsiteY3-92" fmla="*/ 17320 h 17320"/>
              <a:gd name="connsiteX4-93" fmla="*/ 3237 w 10870"/>
              <a:gd name="connsiteY4-94" fmla="*/ 0 h 17320"/>
              <a:gd name="connsiteX5-95" fmla="*/ 10870 w 10870"/>
              <a:gd name="connsiteY5-96" fmla="*/ 0 h 17320"/>
              <a:gd name="connsiteX0-97" fmla="*/ 10000 w 10000"/>
              <a:gd name="connsiteY0-98" fmla="*/ 0 h 17320"/>
              <a:gd name="connsiteX1-99" fmla="*/ 9780 w 10000"/>
              <a:gd name="connsiteY1-100" fmla="*/ 17320 h 17320"/>
              <a:gd name="connsiteX2-101" fmla="*/ 7391 w 10000"/>
              <a:gd name="connsiteY2-102" fmla="*/ 17320 h 17320"/>
              <a:gd name="connsiteX3-103" fmla="*/ 0 w 10000"/>
              <a:gd name="connsiteY3-104" fmla="*/ 12349 h 17320"/>
              <a:gd name="connsiteX4-105" fmla="*/ 2367 w 10000"/>
              <a:gd name="connsiteY4-106" fmla="*/ 0 h 17320"/>
              <a:gd name="connsiteX5-107" fmla="*/ 10000 w 10000"/>
              <a:gd name="connsiteY5-108" fmla="*/ 0 h 17320"/>
              <a:gd name="connsiteX0-109" fmla="*/ 10000 w 10000"/>
              <a:gd name="connsiteY0-110" fmla="*/ 0 h 17320"/>
              <a:gd name="connsiteX1-111" fmla="*/ 9780 w 10000"/>
              <a:gd name="connsiteY1-112" fmla="*/ 12349 h 17320"/>
              <a:gd name="connsiteX2-113" fmla="*/ 7391 w 10000"/>
              <a:gd name="connsiteY2-114" fmla="*/ 17320 h 17320"/>
              <a:gd name="connsiteX3-115" fmla="*/ 0 w 10000"/>
              <a:gd name="connsiteY3-116" fmla="*/ 12349 h 17320"/>
              <a:gd name="connsiteX4-117" fmla="*/ 2367 w 10000"/>
              <a:gd name="connsiteY4-118" fmla="*/ 0 h 17320"/>
              <a:gd name="connsiteX5-119" fmla="*/ 10000 w 10000"/>
              <a:gd name="connsiteY5-120" fmla="*/ 0 h 17320"/>
              <a:gd name="connsiteX0-121" fmla="*/ 10000 w 10000"/>
              <a:gd name="connsiteY0-122" fmla="*/ 0 h 12349"/>
              <a:gd name="connsiteX1-123" fmla="*/ 9780 w 10000"/>
              <a:gd name="connsiteY1-124" fmla="*/ 12349 h 12349"/>
              <a:gd name="connsiteX2-125" fmla="*/ 7391 w 10000"/>
              <a:gd name="connsiteY2-126" fmla="*/ 12349 h 12349"/>
              <a:gd name="connsiteX3-127" fmla="*/ 0 w 10000"/>
              <a:gd name="connsiteY3-128" fmla="*/ 12349 h 12349"/>
              <a:gd name="connsiteX4-129" fmla="*/ 2367 w 10000"/>
              <a:gd name="connsiteY4-130" fmla="*/ 0 h 12349"/>
              <a:gd name="connsiteX5-131" fmla="*/ 10000 w 10000"/>
              <a:gd name="connsiteY5-132" fmla="*/ 0 h 123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00" h="12349">
                <a:moveTo>
                  <a:pt x="10000" y="0"/>
                </a:moveTo>
                <a:cubicBezTo>
                  <a:pt x="9927" y="3333"/>
                  <a:pt x="9853" y="9016"/>
                  <a:pt x="9780" y="12349"/>
                </a:cubicBezTo>
                <a:lnTo>
                  <a:pt x="7391" y="12349"/>
                </a:lnTo>
                <a:lnTo>
                  <a:pt x="0" y="12349"/>
                </a:lnTo>
                <a:lnTo>
                  <a:pt x="2367" y="0"/>
                </a:lnTo>
                <a:lnTo>
                  <a:pt x="10000" y="0"/>
                </a:lnTo>
                <a:close/>
              </a:path>
            </a:pathLst>
          </a:custGeom>
          <a:solidFill>
            <a:srgbClr val="E70012"/>
          </a:solidFill>
          <a:ln w="9525">
            <a:noFill/>
            <a:round/>
          </a:ln>
        </p:spPr>
        <p:txBody>
          <a:bodyPr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9" name="Freeform 10"/>
          <p:cNvSpPr>
            <a:spLocks noChangeArrowheads="1"/>
          </p:cNvSpPr>
          <p:nvPr/>
        </p:nvSpPr>
        <p:spPr bwMode="auto">
          <a:xfrm>
            <a:off x="9648471" y="6249855"/>
            <a:ext cx="2592215" cy="608175"/>
          </a:xfrm>
          <a:custGeom>
            <a:avLst/>
            <a:gdLst>
              <a:gd name="connsiteX0" fmla="*/ 9223 w 9223"/>
              <a:gd name="connsiteY0" fmla="*/ 0 h 10000"/>
              <a:gd name="connsiteX1" fmla="*/ 9223 w 9223"/>
              <a:gd name="connsiteY1" fmla="*/ 10000 h 10000"/>
              <a:gd name="connsiteX2" fmla="*/ 0 w 9223"/>
              <a:gd name="connsiteY2" fmla="*/ 5868 h 10000"/>
              <a:gd name="connsiteX3" fmla="*/ 1381 w 9223"/>
              <a:gd name="connsiteY3" fmla="*/ 0 h 10000"/>
              <a:gd name="connsiteX4" fmla="*/ 9223 w 9223"/>
              <a:gd name="connsiteY4" fmla="*/ 0 h 10000"/>
              <a:gd name="connsiteX0-1" fmla="*/ 10000 w 10000"/>
              <a:gd name="connsiteY0-2" fmla="*/ 0 h 5868"/>
              <a:gd name="connsiteX1-3" fmla="*/ 10000 w 10000"/>
              <a:gd name="connsiteY1-4" fmla="*/ 5868 h 5868"/>
              <a:gd name="connsiteX2-5" fmla="*/ 0 w 10000"/>
              <a:gd name="connsiteY2-6" fmla="*/ 5868 h 5868"/>
              <a:gd name="connsiteX3-7" fmla="*/ 1497 w 10000"/>
              <a:gd name="connsiteY3-8" fmla="*/ 0 h 5868"/>
              <a:gd name="connsiteX4-9" fmla="*/ 10000 w 10000"/>
              <a:gd name="connsiteY4-10" fmla="*/ 0 h 5868"/>
              <a:gd name="connsiteX0-11" fmla="*/ 10715 w 10715"/>
              <a:gd name="connsiteY0-12" fmla="*/ 0 h 10000"/>
              <a:gd name="connsiteX1-13" fmla="*/ 10715 w 10715"/>
              <a:gd name="connsiteY1-14" fmla="*/ 10000 h 10000"/>
              <a:gd name="connsiteX2-15" fmla="*/ 0 w 10715"/>
              <a:gd name="connsiteY2-16" fmla="*/ 10000 h 10000"/>
              <a:gd name="connsiteX3-17" fmla="*/ 2212 w 10715"/>
              <a:gd name="connsiteY3-18" fmla="*/ 0 h 10000"/>
              <a:gd name="connsiteX4-19" fmla="*/ 10715 w 10715"/>
              <a:gd name="connsiteY4-20" fmla="*/ 0 h 10000"/>
              <a:gd name="connsiteX0-21" fmla="*/ 10715 w 10715"/>
              <a:gd name="connsiteY0-22" fmla="*/ 0 h 10000"/>
              <a:gd name="connsiteX1-23" fmla="*/ 10715 w 10715"/>
              <a:gd name="connsiteY1-24" fmla="*/ 10000 h 10000"/>
              <a:gd name="connsiteX2-25" fmla="*/ 0 w 10715"/>
              <a:gd name="connsiteY2-26" fmla="*/ 10000 h 10000"/>
              <a:gd name="connsiteX3-27" fmla="*/ 2212 w 10715"/>
              <a:gd name="connsiteY3-28" fmla="*/ 0 h 10000"/>
              <a:gd name="connsiteX4-29" fmla="*/ 10715 w 10715"/>
              <a:gd name="connsiteY4-30" fmla="*/ 0 h 10000"/>
              <a:gd name="connsiteX0-31" fmla="*/ 9643 w 9643"/>
              <a:gd name="connsiteY0-32" fmla="*/ 0 h 10000"/>
              <a:gd name="connsiteX1-33" fmla="*/ 9643 w 9643"/>
              <a:gd name="connsiteY1-34" fmla="*/ 10000 h 10000"/>
              <a:gd name="connsiteX2-35" fmla="*/ 0 w 9643"/>
              <a:gd name="connsiteY2-36" fmla="*/ 5965 h 10000"/>
              <a:gd name="connsiteX3-37" fmla="*/ 1140 w 9643"/>
              <a:gd name="connsiteY3-38" fmla="*/ 0 h 10000"/>
              <a:gd name="connsiteX4-39" fmla="*/ 9643 w 9643"/>
              <a:gd name="connsiteY4-40" fmla="*/ 0 h 10000"/>
              <a:gd name="connsiteX0-41" fmla="*/ 10000 w 10000"/>
              <a:gd name="connsiteY0-42" fmla="*/ 0 h 5965"/>
              <a:gd name="connsiteX1-43" fmla="*/ 9812 w 10000"/>
              <a:gd name="connsiteY1-44" fmla="*/ 5965 h 5965"/>
              <a:gd name="connsiteX2-45" fmla="*/ 0 w 10000"/>
              <a:gd name="connsiteY2-46" fmla="*/ 5965 h 5965"/>
              <a:gd name="connsiteX3-47" fmla="*/ 1182 w 10000"/>
              <a:gd name="connsiteY3-48" fmla="*/ 0 h 5965"/>
              <a:gd name="connsiteX4-49" fmla="*/ 10000 w 10000"/>
              <a:gd name="connsiteY4-50" fmla="*/ 0 h 596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5965">
                <a:moveTo>
                  <a:pt x="10000" y="0"/>
                </a:moveTo>
                <a:cubicBezTo>
                  <a:pt x="9937" y="1988"/>
                  <a:pt x="9875" y="3977"/>
                  <a:pt x="9812" y="5965"/>
                </a:cubicBezTo>
                <a:lnTo>
                  <a:pt x="0" y="5965"/>
                </a:lnTo>
                <a:lnTo>
                  <a:pt x="1182" y="0"/>
                </a:lnTo>
                <a:lnTo>
                  <a:pt x="10000" y="0"/>
                </a:lnTo>
                <a:close/>
              </a:path>
            </a:pathLst>
          </a:custGeom>
          <a:solidFill>
            <a:srgbClr val="1169B3">
              <a:alpha val="80000"/>
            </a:srgbClr>
          </a:solidFill>
          <a:ln w="9525">
            <a:noFill/>
            <a:round/>
          </a:ln>
        </p:spPr>
        <p:txBody>
          <a:bodyPr/>
          <a:lstStyle/>
          <a:p>
            <a:endParaRPr lang="zh-CN" altLang="en-US" sz="2400"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/>
        </p:nvSpPr>
        <p:spPr bwMode="auto">
          <a:xfrm>
            <a:off x="-9313" y="1"/>
            <a:ext cx="4665133" cy="1663700"/>
          </a:xfrm>
          <a:custGeom>
            <a:avLst/>
            <a:gdLst>
              <a:gd name="connsiteX0" fmla="*/ 11 w 5510"/>
              <a:gd name="connsiteY0" fmla="*/ 761 h 1965"/>
              <a:gd name="connsiteX1" fmla="*/ 11 w 5510"/>
              <a:gd name="connsiteY1" fmla="*/ 0 h 1965"/>
              <a:gd name="connsiteX2" fmla="*/ 4830 w 5510"/>
              <a:gd name="connsiteY2" fmla="*/ 0 h 1965"/>
              <a:gd name="connsiteX3" fmla="*/ 5510 w 5510"/>
              <a:gd name="connsiteY3" fmla="*/ 0 h 1965"/>
              <a:gd name="connsiteX4" fmla="*/ 4489 w 5510"/>
              <a:gd name="connsiteY4" fmla="*/ 1927 h 1965"/>
              <a:gd name="connsiteX5" fmla="*/ 0 w 5510"/>
              <a:gd name="connsiteY5" fmla="*/ 1965 h 1965"/>
              <a:gd name="connsiteX6" fmla="*/ 11 w 5510"/>
              <a:gd name="connsiteY6" fmla="*/ 761 h 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10" h="1965">
                <a:moveTo>
                  <a:pt x="11" y="761"/>
                </a:moveTo>
                <a:lnTo>
                  <a:pt x="11" y="0"/>
                </a:lnTo>
                <a:lnTo>
                  <a:pt x="4830" y="0"/>
                </a:lnTo>
                <a:lnTo>
                  <a:pt x="5510" y="0"/>
                </a:lnTo>
                <a:lnTo>
                  <a:pt x="4489" y="1927"/>
                </a:lnTo>
                <a:lnTo>
                  <a:pt x="0" y="1965"/>
                </a:lnTo>
                <a:lnTo>
                  <a:pt x="11" y="761"/>
                </a:lnTo>
                <a:close/>
              </a:path>
            </a:pathLst>
          </a:custGeom>
          <a:solidFill>
            <a:srgbClr val="E6001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任意多边形 4"/>
          <p:cNvSpPr/>
          <p:nvPr/>
        </p:nvSpPr>
        <p:spPr bwMode="auto">
          <a:xfrm>
            <a:off x="-17779" y="-27384"/>
            <a:ext cx="6689844" cy="1398693"/>
          </a:xfrm>
          <a:custGeom>
            <a:avLst/>
            <a:gdLst>
              <a:gd name="connsiteX0" fmla="*/ 11 w 8435"/>
              <a:gd name="connsiteY0" fmla="*/ 10 h 1652"/>
              <a:gd name="connsiteX1" fmla="*/ 0 w 8435"/>
              <a:gd name="connsiteY1" fmla="*/ 10 h 1652"/>
              <a:gd name="connsiteX2" fmla="*/ 5934 w 8435"/>
              <a:gd name="connsiteY2" fmla="*/ 0 h 1652"/>
              <a:gd name="connsiteX3" fmla="*/ 8435 w 8435"/>
              <a:gd name="connsiteY3" fmla="*/ 1 h 1652"/>
              <a:gd name="connsiteX4" fmla="*/ 7602 w 8435"/>
              <a:gd name="connsiteY4" fmla="*/ 1652 h 1652"/>
              <a:gd name="connsiteX5" fmla="*/ 10 w 8435"/>
              <a:gd name="connsiteY5" fmla="*/ 1652 h 1652"/>
              <a:gd name="connsiteX6" fmla="*/ 11 w 8435"/>
              <a:gd name="connsiteY6" fmla="*/ 10 h 1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35" h="1652">
                <a:moveTo>
                  <a:pt x="11" y="10"/>
                </a:moveTo>
                <a:lnTo>
                  <a:pt x="0" y="10"/>
                </a:lnTo>
                <a:lnTo>
                  <a:pt x="5934" y="0"/>
                </a:lnTo>
                <a:lnTo>
                  <a:pt x="8435" y="1"/>
                </a:lnTo>
                <a:lnTo>
                  <a:pt x="7602" y="1652"/>
                </a:lnTo>
                <a:lnTo>
                  <a:pt x="10" y="1652"/>
                </a:lnTo>
                <a:cubicBezTo>
                  <a:pt x="10" y="1046"/>
                  <a:pt x="-2" y="-4"/>
                  <a:pt x="11" y="10"/>
                </a:cubicBezTo>
                <a:close/>
              </a:path>
            </a:pathLst>
          </a:custGeom>
          <a:solidFill>
            <a:srgbClr val="0070C0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121920" tIns="60960" rIns="121920" bIns="60960" numCol="1" rtlCol="0" anchor="t" anchorCtr="0" compatLnSpc="1"/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3" name="Picture 920" descr="D:\计算所\PPT的模板\logo－b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73" y="250090"/>
            <a:ext cx="940864" cy="77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5"/>
          <p:cNvSpPr txBox="1">
            <a:spLocks noChangeArrowheads="1"/>
          </p:cNvSpPr>
          <p:nvPr/>
        </p:nvSpPr>
        <p:spPr bwMode="auto">
          <a:xfrm>
            <a:off x="1022341" y="247740"/>
            <a:ext cx="5141920" cy="728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中国科学院计算技术研究所</a:t>
            </a:r>
            <a:endParaRPr lang="en-US" altLang="zh-CN" sz="2800" b="1" dirty="0">
              <a:solidFill>
                <a:schemeClr val="bg1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algn="ctr" eaLnBrk="1" hangingPunct="1"/>
            <a:r>
              <a:rPr lang="en-US" altLang="zh-CN" sz="1333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Institute of Computing Technology, Chinese Academy of Sciences</a:t>
            </a:r>
            <a:endParaRPr lang="zh-CN" altLang="en-US" sz="1333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40708" y="1801263"/>
            <a:ext cx="11329259" cy="21467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</a:rPr>
              <a:t>面向昇腾显卡的大模型长文本推理优化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374459" y="4085536"/>
            <a:ext cx="3661755" cy="12481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汇报人：陈潇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导师：王卅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先进计算机系统研究中心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BBFF06-70A3-4A2B-DF7F-0BD78AE2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1237743-FA03-C776-30E3-3DE92A0E1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909" y="5473336"/>
            <a:ext cx="3661755" cy="12481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2026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</a:t>
            </a:r>
            <a:endParaRPr lang="en-US" altLang="zh-CN" sz="24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" y="848"/>
            <a:ext cx="36957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8" name="Rectangle 3"/>
          <p:cNvSpPr txBox="1"/>
          <p:nvPr/>
        </p:nvSpPr>
        <p:spPr>
          <a:xfrm>
            <a:off x="793328" y="2755903"/>
            <a:ext cx="2108201" cy="7493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733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37" name="六边形 36"/>
          <p:cNvSpPr/>
          <p:nvPr/>
        </p:nvSpPr>
        <p:spPr>
          <a:xfrm rot="5400000">
            <a:off x="1092202" y="2478193"/>
            <a:ext cx="1511300" cy="1303867"/>
          </a:xfrm>
          <a:prstGeom prst="hexagon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50012"/>
                </a:solidFill>
              </a14:hiddenFill>
            </a:ext>
          </a:extLst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1400" kern="0" dirty="0">
              <a:solidFill>
                <a:sysClr val="window" lastClr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B28DF9BE-C194-43EA-A62E-15A49F963DF9}"/>
              </a:ext>
            </a:extLst>
          </p:cNvPr>
          <p:cNvGrpSpPr/>
          <p:nvPr/>
        </p:nvGrpSpPr>
        <p:grpSpPr>
          <a:xfrm>
            <a:off x="5652493" y="351940"/>
            <a:ext cx="5490221" cy="1011002"/>
            <a:chOff x="5656" y="178"/>
            <a:chExt cx="7794" cy="1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561AB59-E006-4216-8ABB-DEFEEC01D424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研究背景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B7F5AD37-1A46-44AE-845E-9D41FA8D782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23FAD5-8037-429A-B8E7-A0EA1AA1E78F}"/>
              </a:ext>
            </a:extLst>
          </p:cNvPr>
          <p:cNvGrpSpPr/>
          <p:nvPr/>
        </p:nvGrpSpPr>
        <p:grpSpPr>
          <a:xfrm>
            <a:off x="5007232" y="777037"/>
            <a:ext cx="653651" cy="748201"/>
            <a:chOff x="1111669" y="3089259"/>
            <a:chExt cx="591868" cy="676010"/>
          </a:xfrm>
        </p:grpSpPr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B59A5391-F1C8-4A06-AA76-178528B20878}"/>
                </a:ext>
              </a:extLst>
            </p:cNvPr>
            <p:cNvSpPr/>
            <p:nvPr/>
          </p:nvSpPr>
          <p:spPr>
            <a:xfrm rot="5400000">
              <a:off x="1065801" y="3135127"/>
              <a:ext cx="676010" cy="584273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CA954729-CD26-48F8-91AC-BC64D00E06E3}"/>
                </a:ext>
              </a:extLst>
            </p:cNvPr>
            <p:cNvSpPr txBox="1"/>
            <p:nvPr/>
          </p:nvSpPr>
          <p:spPr>
            <a:xfrm>
              <a:off x="1124476" y="3192846"/>
              <a:ext cx="579061" cy="45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rgbClr val="FFFFFF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2403960-E819-8BEA-09B3-08583F5A2231}"/>
              </a:ext>
            </a:extLst>
          </p:cNvPr>
          <p:cNvGrpSpPr/>
          <p:nvPr/>
        </p:nvGrpSpPr>
        <p:grpSpPr>
          <a:xfrm>
            <a:off x="5679530" y="3885614"/>
            <a:ext cx="5490222" cy="1011001"/>
            <a:chOff x="5656" y="178"/>
            <a:chExt cx="7794" cy="1770"/>
          </a:xfrm>
        </p:grpSpPr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8DD15D-E1CB-FFA9-C380-38A3394B444C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总结与展望</a:t>
              </a:r>
            </a:p>
          </p:txBody>
        </p:sp>
        <p:sp>
          <p:nvSpPr>
            <p:cNvPr id="47" name="文本框 7">
              <a:extLst>
                <a:ext uri="{FF2B5EF4-FFF2-40B4-BE49-F238E27FC236}">
                  <a16:creationId xmlns:a16="http://schemas.microsoft.com/office/drawing/2014/main" id="{2754986B-5E74-2384-03FC-C8A218444ADD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7">
            <a:extLst>
              <a:ext uri="{FF2B5EF4-FFF2-40B4-BE49-F238E27FC236}">
                <a16:creationId xmlns:a16="http://schemas.microsoft.com/office/drawing/2014/main" id="{6AB853F9-CE8D-B281-9817-28ADEBA0B7AA}"/>
              </a:ext>
            </a:extLst>
          </p:cNvPr>
          <p:cNvGrpSpPr/>
          <p:nvPr/>
        </p:nvGrpSpPr>
        <p:grpSpPr>
          <a:xfrm>
            <a:off x="5034269" y="4314031"/>
            <a:ext cx="661280" cy="748200"/>
            <a:chOff x="1262670" y="3093804"/>
            <a:chExt cx="597571" cy="676392"/>
          </a:xfrm>
        </p:grpSpPr>
        <p:sp>
          <p:nvSpPr>
            <p:cNvPr id="44" name="六边形 8">
              <a:extLst>
                <a:ext uri="{FF2B5EF4-FFF2-40B4-BE49-F238E27FC236}">
                  <a16:creationId xmlns:a16="http://schemas.microsoft.com/office/drawing/2014/main" id="{BE3BBC25-40DD-4C0E-EA99-101937B004B8}"/>
                </a:ext>
              </a:extLst>
            </p:cNvPr>
            <p:cNvSpPr/>
            <p:nvPr/>
          </p:nvSpPr>
          <p:spPr>
            <a:xfrm rot="5400000">
              <a:off x="1216022" y="3140452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5" name="文本框 64">
              <a:extLst>
                <a:ext uri="{FF2B5EF4-FFF2-40B4-BE49-F238E27FC236}">
                  <a16:creationId xmlns:a16="http://schemas.microsoft.com/office/drawing/2014/main" id="{765934B1-9FAB-E038-3883-68E243181503}"/>
                </a:ext>
              </a:extLst>
            </p:cNvPr>
            <p:cNvSpPr txBox="1"/>
            <p:nvPr/>
          </p:nvSpPr>
          <p:spPr>
            <a:xfrm>
              <a:off x="1282391" y="3211435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三</a:t>
              </a:r>
            </a:p>
          </p:txBody>
        </p:sp>
      </p:grpSp>
      <p:sp>
        <p:nvSpPr>
          <p:cNvPr id="5131" name="文本框 7">
            <a:extLst>
              <a:ext uri="{FF2B5EF4-FFF2-40B4-BE49-F238E27FC236}">
                <a16:creationId xmlns:a16="http://schemas.microsoft.com/office/drawing/2014/main" id="{0FECEB68-FCF5-EE7D-2BD3-1A167DF99623}"/>
              </a:ext>
            </a:extLst>
          </p:cNvPr>
          <p:cNvSpPr txBox="1"/>
          <p:nvPr/>
        </p:nvSpPr>
        <p:spPr>
          <a:xfrm>
            <a:off x="5755223" y="5397350"/>
            <a:ext cx="5240859" cy="42039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defTabSz="914377">
              <a:defRPr/>
            </a:pPr>
            <a:endParaRPr lang="zh-CN" altLang="en-US" sz="2133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C85286B4-90BC-F5B9-8A25-101AC3C1B8B8}"/>
              </a:ext>
            </a:extLst>
          </p:cNvPr>
          <p:cNvGrpSpPr/>
          <p:nvPr/>
        </p:nvGrpSpPr>
        <p:grpSpPr>
          <a:xfrm>
            <a:off x="5649099" y="1777004"/>
            <a:ext cx="5490222" cy="1011001"/>
            <a:chOff x="5656" y="178"/>
            <a:chExt cx="7794" cy="1770"/>
          </a:xfrm>
        </p:grpSpPr>
        <p:sp>
          <p:nvSpPr>
            <p:cNvPr id="3" name="矩形 10">
              <a:extLst>
                <a:ext uri="{FF2B5EF4-FFF2-40B4-BE49-F238E27FC236}">
                  <a16:creationId xmlns:a16="http://schemas.microsoft.com/office/drawing/2014/main" id="{8E9E21FC-1FFD-80A8-DC4B-04F55B8791D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研究内容</a:t>
              </a: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1E21349-6198-D562-1769-7ED23D337789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79D02E49-B919-F76B-8792-FF80B2E881AE}"/>
              </a:ext>
            </a:extLst>
          </p:cNvPr>
          <p:cNvGrpSpPr/>
          <p:nvPr/>
        </p:nvGrpSpPr>
        <p:grpSpPr>
          <a:xfrm>
            <a:off x="5003837" y="2202101"/>
            <a:ext cx="653651" cy="748200"/>
            <a:chOff x="1109756" y="3090803"/>
            <a:chExt cx="590677" cy="676392"/>
          </a:xfrm>
        </p:grpSpPr>
        <p:sp>
          <p:nvSpPr>
            <p:cNvPr id="15" name="六边形 8">
              <a:extLst>
                <a:ext uri="{FF2B5EF4-FFF2-40B4-BE49-F238E27FC236}">
                  <a16:creationId xmlns:a16="http://schemas.microsoft.com/office/drawing/2014/main" id="{6847B8B8-6180-27D8-96E9-058E80C002DF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0E3B5C1A-3A3F-AB80-5155-6322EB641D5F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二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0E501-1698-0D28-0A5F-1C87F6E60880}"/>
              </a:ext>
            </a:extLst>
          </p:cNvPr>
          <p:cNvSpPr txBox="1"/>
          <p:nvPr/>
        </p:nvSpPr>
        <p:spPr>
          <a:xfrm>
            <a:off x="6027514" y="2642866"/>
            <a:ext cx="4474302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神经网络时间预测模型研究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分布式训练自动并行策略研究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故障场景下的弹性训练研究</a:t>
            </a:r>
          </a:p>
        </p:txBody>
      </p:sp>
    </p:spTree>
    <p:extLst>
      <p:ext uri="{BB962C8B-B14F-4D97-AF65-F5344CB8AC3E}">
        <p14:creationId xmlns:p14="http://schemas.microsoft.com/office/powerpoint/2010/main" val="413077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2882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20"/>
          <p:cNvSpPr/>
          <p:nvPr/>
        </p:nvSpPr>
        <p:spPr>
          <a:xfrm>
            <a:off x="215170" y="176965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研究背景：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自回归大模型的两个阶段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F20FB77-D594-5375-608C-1D8597FBAA81}"/>
              </a:ext>
            </a:extLst>
          </p:cNvPr>
          <p:cNvSpPr txBox="1">
            <a:spLocks/>
          </p:cNvSpPr>
          <p:nvPr/>
        </p:nvSpPr>
        <p:spPr>
          <a:xfrm>
            <a:off x="647696" y="1582700"/>
            <a:ext cx="5448304" cy="4025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Prefill</a:t>
            </a:r>
          </a:p>
          <a:p>
            <a:pPr lvl="1"/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计算密集型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Decode</a:t>
            </a:r>
          </a:p>
          <a:p>
            <a:pPr lvl="1"/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访存密集型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575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3B26C-2F0A-F182-C727-0D977BC6E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>
            <a:extLst>
              <a:ext uri="{FF2B5EF4-FFF2-40B4-BE49-F238E27FC236}">
                <a16:creationId xmlns:a16="http://schemas.microsoft.com/office/drawing/2014/main" id="{D4EE9AF8-EBE1-8EDC-2DBD-20CB82A5D46F}"/>
              </a:ext>
            </a:extLst>
          </p:cNvPr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>
            <a:extLst>
              <a:ext uri="{FF2B5EF4-FFF2-40B4-BE49-F238E27FC236}">
                <a16:creationId xmlns:a16="http://schemas.microsoft.com/office/drawing/2014/main" id="{C6102F79-F044-D6E8-7603-5884FFA2468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BEC9BA2-542A-DEB2-A742-5C40609C5445}"/>
              </a:ext>
            </a:extLst>
          </p:cNvPr>
          <p:cNvSpPr/>
          <p:nvPr/>
        </p:nvSpPr>
        <p:spPr>
          <a:xfrm>
            <a:off x="-20320" y="12882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>
            <a:extLst>
              <a:ext uri="{FF2B5EF4-FFF2-40B4-BE49-F238E27FC236}">
                <a16:creationId xmlns:a16="http://schemas.microsoft.com/office/drawing/2014/main" id="{491748B6-D496-7745-6C3A-A9B67EC453C6}"/>
              </a:ext>
            </a:extLst>
          </p:cNvPr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>
            <a:extLst>
              <a:ext uri="{FF2B5EF4-FFF2-40B4-BE49-F238E27FC236}">
                <a16:creationId xmlns:a16="http://schemas.microsoft.com/office/drawing/2014/main" id="{C1403A9D-785E-0D99-6CCA-995812222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20">
            <a:extLst>
              <a:ext uri="{FF2B5EF4-FFF2-40B4-BE49-F238E27FC236}">
                <a16:creationId xmlns:a16="http://schemas.microsoft.com/office/drawing/2014/main" id="{8C1BA76B-3D9B-D6B2-EF9E-E5531320DBE0}"/>
              </a:ext>
            </a:extLst>
          </p:cNvPr>
          <p:cNvSpPr/>
          <p:nvPr/>
        </p:nvSpPr>
        <p:spPr>
          <a:xfrm>
            <a:off x="215170" y="176965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研究背景：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大模型即将进入百万上下文时代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EB1D12D5-E88A-6417-E307-E65599C3891C}"/>
              </a:ext>
            </a:extLst>
          </p:cNvPr>
          <p:cNvSpPr txBox="1"/>
          <p:nvPr/>
        </p:nvSpPr>
        <p:spPr>
          <a:xfrm>
            <a:off x="8131699" y="6097574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模型上下文快速增长</a:t>
            </a:r>
            <a:endParaRPr lang="en-CN" sz="2000" b="1" baseline="30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F388F50-AAF4-0628-4DB9-BD9FF492D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4095" y="1208870"/>
            <a:ext cx="4844522" cy="4758669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048FAD3-F148-D52D-D2B7-C5D33E94B07E}"/>
              </a:ext>
            </a:extLst>
          </p:cNvPr>
          <p:cNvSpPr txBox="1">
            <a:spLocks/>
          </p:cNvSpPr>
          <p:nvPr/>
        </p:nvSpPr>
        <p:spPr>
          <a:xfrm>
            <a:off x="647696" y="1582700"/>
            <a:ext cx="5448304" cy="4025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MHA-GQA-MLA</a:t>
            </a: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Token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KV cache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级压缩到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KB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KV cache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成为部署的主要显存消耗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不能仅关注计算吞吐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行业趋势进一步放大压力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en-US" altLang="zh-CN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Agent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场景下，更长的上下文会带来更好的任务表现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9578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99D4-1D53-E847-3BF5-875A3EF6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>
            <a:extLst>
              <a:ext uri="{FF2B5EF4-FFF2-40B4-BE49-F238E27FC236}">
                <a16:creationId xmlns:a16="http://schemas.microsoft.com/office/drawing/2014/main" id="{BA0992AE-C574-2E14-6B94-62BBFF0C44A0}"/>
              </a:ext>
            </a:extLst>
          </p:cNvPr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>
            <a:extLst>
              <a:ext uri="{FF2B5EF4-FFF2-40B4-BE49-F238E27FC236}">
                <a16:creationId xmlns:a16="http://schemas.microsoft.com/office/drawing/2014/main" id="{462043CF-12A8-3E53-10E5-DB4DA2592EB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75CD970-BE0C-5D55-0AC2-89C008675ECB}"/>
              </a:ext>
            </a:extLst>
          </p:cNvPr>
          <p:cNvSpPr/>
          <p:nvPr/>
        </p:nvSpPr>
        <p:spPr>
          <a:xfrm>
            <a:off x="-20320" y="12882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>
            <a:extLst>
              <a:ext uri="{FF2B5EF4-FFF2-40B4-BE49-F238E27FC236}">
                <a16:creationId xmlns:a16="http://schemas.microsoft.com/office/drawing/2014/main" id="{023F489D-17D6-2237-6364-BF4BE0A1DE23}"/>
              </a:ext>
            </a:extLst>
          </p:cNvPr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>
            <a:extLst>
              <a:ext uri="{FF2B5EF4-FFF2-40B4-BE49-F238E27FC236}">
                <a16:creationId xmlns:a16="http://schemas.microsoft.com/office/drawing/2014/main" id="{283B0A8A-6C13-06B7-5BEA-275853F36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20">
            <a:extLst>
              <a:ext uri="{FF2B5EF4-FFF2-40B4-BE49-F238E27FC236}">
                <a16:creationId xmlns:a16="http://schemas.microsoft.com/office/drawing/2014/main" id="{13478F74-5F60-F223-D16A-5C7FA538B047}"/>
              </a:ext>
            </a:extLst>
          </p:cNvPr>
          <p:cNvSpPr/>
          <p:nvPr/>
        </p:nvSpPr>
        <p:spPr>
          <a:xfrm>
            <a:off x="215170" y="176965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研究背景：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长上下文带来的四重压力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17DC4A0-3F4F-1045-1009-580ED225F459}"/>
              </a:ext>
            </a:extLst>
          </p:cNvPr>
          <p:cNvSpPr txBox="1">
            <a:spLocks/>
          </p:cNvSpPr>
          <p:nvPr/>
        </p:nvSpPr>
        <p:spPr>
          <a:xfrm>
            <a:off x="853225" y="1624645"/>
            <a:ext cx="9066755" cy="4025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TTFT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压力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超长上下文带来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prefill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阶段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计算量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的激增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TPOT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压力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超长上下文带来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计算量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访存量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的双重增长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昇腾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计算访存比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不如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nVidia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，劣势更明显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显存压力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的上下文已经超出昇腾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910C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单卡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的显存容量了（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GQA-4Head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通信压力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分离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kv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cache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传输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传统</a:t>
            </a:r>
            <a:r>
              <a:rPr lang="en-US" altLang="zh-CN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CP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跨卡通信压力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lvl="1" indent="0">
              <a:buNone/>
            </a:pP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10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" y="848"/>
            <a:ext cx="36957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8" name="Rectangle 3"/>
          <p:cNvSpPr txBox="1"/>
          <p:nvPr/>
        </p:nvSpPr>
        <p:spPr>
          <a:xfrm>
            <a:off x="793328" y="2755903"/>
            <a:ext cx="2108201" cy="7493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733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37" name="六边形 36"/>
          <p:cNvSpPr/>
          <p:nvPr/>
        </p:nvSpPr>
        <p:spPr>
          <a:xfrm rot="5400000">
            <a:off x="1092202" y="2478193"/>
            <a:ext cx="1511300" cy="1303867"/>
          </a:xfrm>
          <a:prstGeom prst="hexagon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50012"/>
                </a:solidFill>
              </a14:hiddenFill>
            </a:ext>
          </a:extLst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1400" kern="0" dirty="0">
              <a:solidFill>
                <a:sysClr val="window" lastClr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B28DF9BE-C194-43EA-A62E-15A49F963DF9}"/>
              </a:ext>
            </a:extLst>
          </p:cNvPr>
          <p:cNvGrpSpPr/>
          <p:nvPr/>
        </p:nvGrpSpPr>
        <p:grpSpPr>
          <a:xfrm>
            <a:off x="5652493" y="351940"/>
            <a:ext cx="5490221" cy="1011002"/>
            <a:chOff x="5656" y="178"/>
            <a:chExt cx="7794" cy="1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561AB59-E006-4216-8ABB-DEFEEC01D424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选题背景及意义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B7F5AD37-1A46-44AE-845E-9D41FA8D782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23FAD5-8037-429A-B8E7-A0EA1AA1E78F}"/>
              </a:ext>
            </a:extLst>
          </p:cNvPr>
          <p:cNvGrpSpPr/>
          <p:nvPr/>
        </p:nvGrpSpPr>
        <p:grpSpPr>
          <a:xfrm>
            <a:off x="5007232" y="777037"/>
            <a:ext cx="653651" cy="748201"/>
            <a:chOff x="1111669" y="3089259"/>
            <a:chExt cx="591868" cy="676010"/>
          </a:xfrm>
        </p:grpSpPr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B59A5391-F1C8-4A06-AA76-178528B20878}"/>
                </a:ext>
              </a:extLst>
            </p:cNvPr>
            <p:cNvSpPr/>
            <p:nvPr/>
          </p:nvSpPr>
          <p:spPr>
            <a:xfrm rot="5400000">
              <a:off x="1065801" y="3135127"/>
              <a:ext cx="676010" cy="584273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CA954729-CD26-48F8-91AC-BC64D00E06E3}"/>
                </a:ext>
              </a:extLst>
            </p:cNvPr>
            <p:cNvSpPr txBox="1"/>
            <p:nvPr/>
          </p:nvSpPr>
          <p:spPr>
            <a:xfrm>
              <a:off x="1124476" y="3192846"/>
              <a:ext cx="579061" cy="45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rgbClr val="FFFFFF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2403960-E819-8BEA-09B3-08583F5A2231}"/>
              </a:ext>
            </a:extLst>
          </p:cNvPr>
          <p:cNvGrpSpPr/>
          <p:nvPr/>
        </p:nvGrpSpPr>
        <p:grpSpPr>
          <a:xfrm>
            <a:off x="5652496" y="2012812"/>
            <a:ext cx="5490222" cy="1011001"/>
            <a:chOff x="5656" y="178"/>
            <a:chExt cx="7794" cy="1770"/>
          </a:xfrm>
        </p:grpSpPr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8DD15D-E1CB-FFA9-C380-38A3394B444C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研究目标与研究内容</a:t>
              </a:r>
            </a:p>
          </p:txBody>
        </p:sp>
        <p:sp>
          <p:nvSpPr>
            <p:cNvPr id="47" name="文本框 7">
              <a:extLst>
                <a:ext uri="{FF2B5EF4-FFF2-40B4-BE49-F238E27FC236}">
                  <a16:creationId xmlns:a16="http://schemas.microsoft.com/office/drawing/2014/main" id="{2754986B-5E74-2384-03FC-C8A218444ADD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7">
            <a:extLst>
              <a:ext uri="{FF2B5EF4-FFF2-40B4-BE49-F238E27FC236}">
                <a16:creationId xmlns:a16="http://schemas.microsoft.com/office/drawing/2014/main" id="{6AB853F9-CE8D-B281-9817-28ADEBA0B7AA}"/>
              </a:ext>
            </a:extLst>
          </p:cNvPr>
          <p:cNvGrpSpPr/>
          <p:nvPr/>
        </p:nvGrpSpPr>
        <p:grpSpPr>
          <a:xfrm>
            <a:off x="5007234" y="2437909"/>
            <a:ext cx="653651" cy="748200"/>
            <a:chOff x="1109756" y="3090803"/>
            <a:chExt cx="590677" cy="676392"/>
          </a:xfrm>
        </p:grpSpPr>
        <p:sp>
          <p:nvSpPr>
            <p:cNvPr id="44" name="六边形 8">
              <a:extLst>
                <a:ext uri="{FF2B5EF4-FFF2-40B4-BE49-F238E27FC236}">
                  <a16:creationId xmlns:a16="http://schemas.microsoft.com/office/drawing/2014/main" id="{BE3BBC25-40DD-4C0E-EA99-101937B004B8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5" name="文本框 64">
              <a:extLst>
                <a:ext uri="{FF2B5EF4-FFF2-40B4-BE49-F238E27FC236}">
                  <a16:creationId xmlns:a16="http://schemas.microsoft.com/office/drawing/2014/main" id="{765934B1-9FAB-E038-3883-68E24318150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三</a:t>
              </a:r>
            </a:p>
          </p:txBody>
        </p:sp>
      </p:grpSp>
      <p:grpSp>
        <p:nvGrpSpPr>
          <p:cNvPr id="5126" name="组合 29">
            <a:extLst>
              <a:ext uri="{FF2B5EF4-FFF2-40B4-BE49-F238E27FC236}">
                <a16:creationId xmlns:a16="http://schemas.microsoft.com/office/drawing/2014/main" id="{A0E177E5-A049-3C5C-DBE2-87A04E5DD91B}"/>
              </a:ext>
            </a:extLst>
          </p:cNvPr>
          <p:cNvGrpSpPr/>
          <p:nvPr/>
        </p:nvGrpSpPr>
        <p:grpSpPr>
          <a:xfrm>
            <a:off x="5666691" y="4236570"/>
            <a:ext cx="5490222" cy="1011001"/>
            <a:chOff x="5656" y="178"/>
            <a:chExt cx="7794" cy="1770"/>
          </a:xfrm>
        </p:grpSpPr>
        <p:sp>
          <p:nvSpPr>
            <p:cNvPr id="5130" name="矩形 10">
              <a:extLst>
                <a:ext uri="{FF2B5EF4-FFF2-40B4-BE49-F238E27FC236}">
                  <a16:creationId xmlns:a16="http://schemas.microsoft.com/office/drawing/2014/main" id="{FF83F8C2-DEC9-7321-D971-C6EFF8D1939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已发表论文列表</a:t>
              </a:r>
            </a:p>
          </p:txBody>
        </p:sp>
        <p:sp>
          <p:nvSpPr>
            <p:cNvPr id="5131" name="文本框 7">
              <a:extLst>
                <a:ext uri="{FF2B5EF4-FFF2-40B4-BE49-F238E27FC236}">
                  <a16:creationId xmlns:a16="http://schemas.microsoft.com/office/drawing/2014/main" id="{0FECEB68-FCF5-EE7D-2BD3-1A167DF99623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27" name="组合 7">
            <a:extLst>
              <a:ext uri="{FF2B5EF4-FFF2-40B4-BE49-F238E27FC236}">
                <a16:creationId xmlns:a16="http://schemas.microsoft.com/office/drawing/2014/main" id="{14AED640-8C5A-FC78-EA29-CE13134AC636}"/>
              </a:ext>
            </a:extLst>
          </p:cNvPr>
          <p:cNvGrpSpPr/>
          <p:nvPr/>
        </p:nvGrpSpPr>
        <p:grpSpPr>
          <a:xfrm>
            <a:off x="5021429" y="4661667"/>
            <a:ext cx="653651" cy="748200"/>
            <a:chOff x="1109756" y="3090803"/>
            <a:chExt cx="590677" cy="676392"/>
          </a:xfrm>
        </p:grpSpPr>
        <p:sp>
          <p:nvSpPr>
            <p:cNvPr id="5128" name="六边形 8">
              <a:extLst>
                <a:ext uri="{FF2B5EF4-FFF2-40B4-BE49-F238E27FC236}">
                  <a16:creationId xmlns:a16="http://schemas.microsoft.com/office/drawing/2014/main" id="{2A28B2E5-4F08-BE10-7993-1E50594E19F5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29" name="文本框 64">
              <a:extLst>
                <a:ext uri="{FF2B5EF4-FFF2-40B4-BE49-F238E27FC236}">
                  <a16:creationId xmlns:a16="http://schemas.microsoft.com/office/drawing/2014/main" id="{1382CF0C-BFB4-C4D4-5F07-F7F295C91DDA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四</a:t>
              </a:r>
            </a:p>
          </p:txBody>
        </p:sp>
      </p:grpSp>
      <p:sp>
        <p:nvSpPr>
          <p:cNvPr id="5140" name="Slide Number Placeholder 5139">
            <a:extLst>
              <a:ext uri="{FF2B5EF4-FFF2-40B4-BE49-F238E27FC236}">
                <a16:creationId xmlns:a16="http://schemas.microsoft.com/office/drawing/2014/main" id="{8AC0140B-CD45-37AE-3958-82879EFE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6</a:t>
            </a:fld>
            <a:endParaRPr lang="zh-CN" altLang="en-US"/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C85286B4-90BC-F5B9-8A25-101AC3C1B8B8}"/>
              </a:ext>
            </a:extLst>
          </p:cNvPr>
          <p:cNvGrpSpPr/>
          <p:nvPr/>
        </p:nvGrpSpPr>
        <p:grpSpPr>
          <a:xfrm>
            <a:off x="5652492" y="1185332"/>
            <a:ext cx="5490222" cy="1011001"/>
            <a:chOff x="5656" y="178"/>
            <a:chExt cx="7794" cy="1770"/>
          </a:xfrm>
        </p:grpSpPr>
        <p:sp>
          <p:nvSpPr>
            <p:cNvPr id="3" name="矩形 10">
              <a:extLst>
                <a:ext uri="{FF2B5EF4-FFF2-40B4-BE49-F238E27FC236}">
                  <a16:creationId xmlns:a16="http://schemas.microsoft.com/office/drawing/2014/main" id="{8E9E21FC-1FFD-80A8-DC4B-04F55B8791D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rgbClr val="C0000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国内外研究现状分析</a:t>
              </a: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1E21349-6198-D562-1769-7ED23D337789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79D02E49-B919-F76B-8792-FF80B2E881AE}"/>
              </a:ext>
            </a:extLst>
          </p:cNvPr>
          <p:cNvGrpSpPr/>
          <p:nvPr/>
        </p:nvGrpSpPr>
        <p:grpSpPr>
          <a:xfrm>
            <a:off x="5007230" y="1610429"/>
            <a:ext cx="653651" cy="748200"/>
            <a:chOff x="1109756" y="3090803"/>
            <a:chExt cx="590677" cy="676392"/>
          </a:xfrm>
        </p:grpSpPr>
        <p:sp>
          <p:nvSpPr>
            <p:cNvPr id="15" name="六边形 8">
              <a:extLst>
                <a:ext uri="{FF2B5EF4-FFF2-40B4-BE49-F238E27FC236}">
                  <a16:creationId xmlns:a16="http://schemas.microsoft.com/office/drawing/2014/main" id="{6847B8B8-6180-27D8-96E9-058E80C002DF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0E3B5C1A-3A3F-AB80-5155-6322EB641D5F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二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0E501-1698-0D28-0A5F-1C87F6E60880}"/>
              </a:ext>
            </a:extLst>
          </p:cNvPr>
          <p:cNvSpPr txBox="1"/>
          <p:nvPr/>
        </p:nvSpPr>
        <p:spPr>
          <a:xfrm>
            <a:off x="6011115" y="3023813"/>
            <a:ext cx="4474302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神经网络时间预测模型研究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分布式训练自动并行策略研究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故障场景下的弹性训练研究</a:t>
            </a:r>
          </a:p>
        </p:txBody>
      </p: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9521A93-4728-2783-6F6E-1DB3C28990A5}"/>
              </a:ext>
            </a:extLst>
          </p:cNvPr>
          <p:cNvGrpSpPr/>
          <p:nvPr/>
        </p:nvGrpSpPr>
        <p:grpSpPr>
          <a:xfrm>
            <a:off x="5652492" y="5060443"/>
            <a:ext cx="5490222" cy="1011001"/>
            <a:chOff x="5656" y="178"/>
            <a:chExt cx="7794" cy="1770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33D22EE-D039-3BDD-BEBD-0EB04C925582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评阅后修改情况</a:t>
              </a: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9D2E824D-5486-F8A6-C727-A2D6E3D443C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7">
            <a:extLst>
              <a:ext uri="{FF2B5EF4-FFF2-40B4-BE49-F238E27FC236}">
                <a16:creationId xmlns:a16="http://schemas.microsoft.com/office/drawing/2014/main" id="{52E4006C-5553-A23D-381D-F3319DB878BD}"/>
              </a:ext>
            </a:extLst>
          </p:cNvPr>
          <p:cNvGrpSpPr/>
          <p:nvPr/>
        </p:nvGrpSpPr>
        <p:grpSpPr>
          <a:xfrm>
            <a:off x="5007230" y="5485540"/>
            <a:ext cx="653651" cy="748200"/>
            <a:chOff x="1109756" y="3090803"/>
            <a:chExt cx="590677" cy="676392"/>
          </a:xfrm>
        </p:grpSpPr>
        <p:sp>
          <p:nvSpPr>
            <p:cNvPr id="19" name="六边形 8">
              <a:extLst>
                <a:ext uri="{FF2B5EF4-FFF2-40B4-BE49-F238E27FC236}">
                  <a16:creationId xmlns:a16="http://schemas.microsoft.com/office/drawing/2014/main" id="{3B10208D-B462-07CF-39AD-C4E91CE4DE4E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0" name="文本框 64">
              <a:extLst>
                <a:ext uri="{FF2B5EF4-FFF2-40B4-BE49-F238E27FC236}">
                  <a16:creationId xmlns:a16="http://schemas.microsoft.com/office/drawing/2014/main" id="{99BEE8C7-1684-8A70-4160-61296CEF9FC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423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C0904D9-390D-4B8B-E0E7-E876F238CBD5}"/>
              </a:ext>
            </a:extLst>
          </p:cNvPr>
          <p:cNvSpPr/>
          <p:nvPr/>
        </p:nvSpPr>
        <p:spPr>
          <a:xfrm>
            <a:off x="215169" y="76593"/>
            <a:ext cx="11592817" cy="974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国内外发展现状</a:t>
            </a:r>
            <a:b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神经网络性能建模相关工作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BE40AE3-53DB-BA9B-1C50-D0CA66477152}"/>
              </a:ext>
            </a:extLst>
          </p:cNvPr>
          <p:cNvCxnSpPr>
            <a:cxnSpLocks/>
          </p:cNvCxnSpPr>
          <p:nvPr/>
        </p:nvCxnSpPr>
        <p:spPr>
          <a:xfrm>
            <a:off x="2038865" y="3741700"/>
            <a:ext cx="88968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40D744FA-18EB-8C23-3AF2-EF82737A7B1B}"/>
              </a:ext>
            </a:extLst>
          </p:cNvPr>
          <p:cNvSpPr/>
          <p:nvPr/>
        </p:nvSpPr>
        <p:spPr>
          <a:xfrm>
            <a:off x="2875006" y="3618133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58FA3-993F-27F7-FAB1-C9376EE2A47B}"/>
              </a:ext>
            </a:extLst>
          </p:cNvPr>
          <p:cNvSpPr txBox="1"/>
          <p:nvPr/>
        </p:nvSpPr>
        <p:spPr>
          <a:xfrm>
            <a:off x="255888" y="2684251"/>
            <a:ext cx="2112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基于分析的</a:t>
            </a:r>
          </a:p>
          <a:p>
            <a:pPr algn="ctr"/>
            <a:r>
              <a:rPr lang="en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性能模型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CD7E5C-42D7-FE86-F64C-FEC5A9B41725}"/>
              </a:ext>
            </a:extLst>
          </p:cNvPr>
          <p:cNvSpPr txBox="1"/>
          <p:nvPr/>
        </p:nvSpPr>
        <p:spPr>
          <a:xfrm>
            <a:off x="255888" y="4224100"/>
            <a:ext cx="21124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基于学习的</a:t>
            </a:r>
          </a:p>
          <a:p>
            <a:pPr algn="ctr"/>
            <a:r>
              <a:rPr lang="en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性能模型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F8994-B801-6D8B-93CA-2CD2226C6D79}"/>
              </a:ext>
            </a:extLst>
          </p:cNvPr>
          <p:cNvSpPr txBox="1"/>
          <p:nvPr/>
        </p:nvSpPr>
        <p:spPr>
          <a:xfrm>
            <a:off x="2175303" y="2591919"/>
            <a:ext cx="1893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GPU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程序</a:t>
            </a:r>
            <a:r>
              <a:rPr lang="zh-CN" altLang="en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访存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行为的分析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ISCA’09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EEA0A6-5746-BD0C-3E67-6BFED406EB11}"/>
              </a:ext>
            </a:extLst>
          </p:cNvPr>
          <p:cNvSpPr txBox="1"/>
          <p:nvPr/>
        </p:nvSpPr>
        <p:spPr>
          <a:xfrm>
            <a:off x="4202327" y="2591919"/>
            <a:ext cx="1893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GPU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部件吞吐量的建模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HPCA‘11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ECC14A-8B43-0B90-4901-36E2FF0903CD}"/>
              </a:ext>
            </a:extLst>
          </p:cNvPr>
          <p:cNvSpPr/>
          <p:nvPr/>
        </p:nvSpPr>
        <p:spPr>
          <a:xfrm>
            <a:off x="5025596" y="3622164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5C1463-290D-41CA-B0A4-6522FB48BB81}"/>
              </a:ext>
            </a:extLst>
          </p:cNvPr>
          <p:cNvSpPr txBox="1"/>
          <p:nvPr/>
        </p:nvSpPr>
        <p:spPr>
          <a:xfrm>
            <a:off x="6229353" y="2591919"/>
            <a:ext cx="1893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通过运行时指标进行性能建模（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ICLR’17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D5CEC3-4157-89BD-46FD-9E1DF697FC8F}"/>
              </a:ext>
            </a:extLst>
          </p:cNvPr>
          <p:cNvSpPr/>
          <p:nvPr/>
        </p:nvSpPr>
        <p:spPr>
          <a:xfrm>
            <a:off x="7052619" y="3622164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DB1C6E-77B8-9C28-82F6-AE3F43DD1AB4}"/>
              </a:ext>
            </a:extLst>
          </p:cNvPr>
          <p:cNvSpPr txBox="1"/>
          <p:nvPr/>
        </p:nvSpPr>
        <p:spPr>
          <a:xfrm>
            <a:off x="5158946" y="4177933"/>
            <a:ext cx="1893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基于统计学方法，例如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Lasso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回归（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ACML’17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467F9DF-5BEF-DD3B-8E3B-67438DE49B3B}"/>
              </a:ext>
            </a:extLst>
          </p:cNvPr>
          <p:cNvSpPr/>
          <p:nvPr/>
        </p:nvSpPr>
        <p:spPr>
          <a:xfrm>
            <a:off x="5986590" y="3622164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E2F354-28EA-A765-FCCE-468830738828}"/>
              </a:ext>
            </a:extLst>
          </p:cNvPr>
          <p:cNvSpPr/>
          <p:nvPr/>
        </p:nvSpPr>
        <p:spPr>
          <a:xfrm>
            <a:off x="7995081" y="3613349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12104-9383-D92C-CDBA-CF41C201613C}"/>
              </a:ext>
            </a:extLst>
          </p:cNvPr>
          <p:cNvSpPr txBox="1"/>
          <p:nvPr/>
        </p:nvSpPr>
        <p:spPr>
          <a:xfrm>
            <a:off x="7599406" y="4316432"/>
            <a:ext cx="35216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基于机器学习方法预测程序性能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OSDI’18,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ICML’19,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MLSys’21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168616-6541-5080-B3FC-4DE3ABEA62AE}"/>
              </a:ext>
            </a:extLst>
          </p:cNvPr>
          <p:cNvSpPr/>
          <p:nvPr/>
        </p:nvSpPr>
        <p:spPr>
          <a:xfrm>
            <a:off x="9113110" y="3622164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DC587D-0070-8DDB-7143-90782F31149A}"/>
              </a:ext>
            </a:extLst>
          </p:cNvPr>
          <p:cNvSpPr/>
          <p:nvPr/>
        </p:nvSpPr>
        <p:spPr>
          <a:xfrm>
            <a:off x="10212605" y="3622164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FDEFBCD-79F0-6B83-D58D-7C4690623C17}"/>
              </a:ext>
            </a:extLst>
          </p:cNvPr>
          <p:cNvSpPr/>
          <p:nvPr/>
        </p:nvSpPr>
        <p:spPr>
          <a:xfrm>
            <a:off x="3261926" y="1872920"/>
            <a:ext cx="6450741" cy="396803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不足：难以对“黑盒”程序进行建模</a:t>
            </a:r>
            <a:endParaRPr lang="en-CN" sz="2000" dirty="0">
              <a:solidFill>
                <a:schemeClr val="accent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476E8C-6AD9-10D8-1639-3F75C9FD2729}"/>
              </a:ext>
            </a:extLst>
          </p:cNvPr>
          <p:cNvSpPr/>
          <p:nvPr/>
        </p:nvSpPr>
        <p:spPr>
          <a:xfrm>
            <a:off x="3261927" y="5480623"/>
            <a:ext cx="6450740" cy="36512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不足：训练成本高，难以泛化</a:t>
            </a:r>
            <a:endParaRPr lang="en-CN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18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C0904D9-390D-4B8B-E0E7-E876F238CBD5}"/>
              </a:ext>
            </a:extLst>
          </p:cNvPr>
          <p:cNvSpPr/>
          <p:nvPr/>
        </p:nvSpPr>
        <p:spPr>
          <a:xfrm>
            <a:off x="215169" y="76593"/>
            <a:ext cx="11592817" cy="974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国内外发展现状</a:t>
            </a:r>
            <a:b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分布式训练并行策略相关工作</a:t>
            </a:r>
          </a:p>
        </p:txBody>
      </p:sp>
      <p:cxnSp>
        <p:nvCxnSpPr>
          <p:cNvPr id="35" name="Straight Arrow Connector 25">
            <a:extLst>
              <a:ext uri="{FF2B5EF4-FFF2-40B4-BE49-F238E27FC236}">
                <a16:creationId xmlns:a16="http://schemas.microsoft.com/office/drawing/2014/main" id="{C786E1B7-DADC-B3C9-8FCC-69D9A4B5DD9B}"/>
              </a:ext>
            </a:extLst>
          </p:cNvPr>
          <p:cNvCxnSpPr>
            <a:cxnSpLocks/>
          </p:cNvCxnSpPr>
          <p:nvPr/>
        </p:nvCxnSpPr>
        <p:spPr>
          <a:xfrm>
            <a:off x="1812325" y="2376328"/>
            <a:ext cx="8118389" cy="0"/>
          </a:xfrm>
          <a:prstGeom prst="straightConnector1">
            <a:avLst/>
          </a:prstGeom>
          <a:ln w="571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26">
            <a:extLst>
              <a:ext uri="{FF2B5EF4-FFF2-40B4-BE49-F238E27FC236}">
                <a16:creationId xmlns:a16="http://schemas.microsoft.com/office/drawing/2014/main" id="{98E6D70F-767E-1350-2005-7639B8E6B3CD}"/>
              </a:ext>
            </a:extLst>
          </p:cNvPr>
          <p:cNvSpPr/>
          <p:nvPr/>
        </p:nvSpPr>
        <p:spPr>
          <a:xfrm>
            <a:off x="3818176" y="2252761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7" name="Oval 27">
            <a:extLst>
              <a:ext uri="{FF2B5EF4-FFF2-40B4-BE49-F238E27FC236}">
                <a16:creationId xmlns:a16="http://schemas.microsoft.com/office/drawing/2014/main" id="{C846B203-74F8-39C2-55CB-6E756EFCCB65}"/>
              </a:ext>
            </a:extLst>
          </p:cNvPr>
          <p:cNvSpPr/>
          <p:nvPr/>
        </p:nvSpPr>
        <p:spPr>
          <a:xfrm>
            <a:off x="5990476" y="2247977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Oval 28">
            <a:extLst>
              <a:ext uri="{FF2B5EF4-FFF2-40B4-BE49-F238E27FC236}">
                <a16:creationId xmlns:a16="http://schemas.microsoft.com/office/drawing/2014/main" id="{90C300A9-E61C-4B80-557B-BC8A7D743C7A}"/>
              </a:ext>
            </a:extLst>
          </p:cNvPr>
          <p:cNvSpPr/>
          <p:nvPr/>
        </p:nvSpPr>
        <p:spPr>
          <a:xfrm>
            <a:off x="8189315" y="2247977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TextBox 29">
            <a:extLst>
              <a:ext uri="{FF2B5EF4-FFF2-40B4-BE49-F238E27FC236}">
                <a16:creationId xmlns:a16="http://schemas.microsoft.com/office/drawing/2014/main" id="{9A0649D5-E01D-3F94-4432-0480426A4C15}"/>
              </a:ext>
            </a:extLst>
          </p:cNvPr>
          <p:cNvSpPr txBox="1"/>
          <p:nvPr/>
        </p:nvSpPr>
        <p:spPr>
          <a:xfrm>
            <a:off x="2818246" y="2731184"/>
            <a:ext cx="2198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数据并行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Parameter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Server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(OSDI’14)</a:t>
            </a:r>
          </a:p>
        </p:txBody>
      </p:sp>
      <p:sp>
        <p:nvSpPr>
          <p:cNvPr id="40" name="TextBox 30">
            <a:extLst>
              <a:ext uri="{FF2B5EF4-FFF2-40B4-BE49-F238E27FC236}">
                <a16:creationId xmlns:a16="http://schemas.microsoft.com/office/drawing/2014/main" id="{10DEC7A6-EC6F-BE00-C7B4-22893217D83A}"/>
              </a:ext>
            </a:extLst>
          </p:cNvPr>
          <p:cNvSpPr txBox="1"/>
          <p:nvPr/>
        </p:nvSpPr>
        <p:spPr>
          <a:xfrm>
            <a:off x="5349255" y="2731184"/>
            <a:ext cx="1494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张量并行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Tofu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(EuroSys’19)</a:t>
            </a:r>
          </a:p>
          <a:p>
            <a:pPr algn="ctr"/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1" name="TextBox 31">
            <a:extLst>
              <a:ext uri="{FF2B5EF4-FFF2-40B4-BE49-F238E27FC236}">
                <a16:creationId xmlns:a16="http://schemas.microsoft.com/office/drawing/2014/main" id="{ECCD16AB-D110-70B3-6BF0-C96570E644C2}"/>
              </a:ext>
            </a:extLst>
          </p:cNvPr>
          <p:cNvSpPr txBox="1"/>
          <p:nvPr/>
        </p:nvSpPr>
        <p:spPr>
          <a:xfrm>
            <a:off x="7175929" y="2742701"/>
            <a:ext cx="2198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流水线</a:t>
            </a:r>
            <a:r>
              <a:rPr lang="zh-CN" altLang="en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并行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PiperDream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(SOSP’19)</a:t>
            </a:r>
          </a:p>
        </p:txBody>
      </p:sp>
      <p:sp>
        <p:nvSpPr>
          <p:cNvPr id="42" name="TextBox 32">
            <a:extLst>
              <a:ext uri="{FF2B5EF4-FFF2-40B4-BE49-F238E27FC236}">
                <a16:creationId xmlns:a16="http://schemas.microsoft.com/office/drawing/2014/main" id="{5382BA61-11E6-887D-CD34-396BAE6EDE2F}"/>
              </a:ext>
            </a:extLst>
          </p:cNvPr>
          <p:cNvSpPr txBox="1"/>
          <p:nvPr/>
        </p:nvSpPr>
        <p:spPr>
          <a:xfrm>
            <a:off x="8038669" y="4476387"/>
            <a:ext cx="21989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模型并行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FlexFlow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(MLSys’19)</a:t>
            </a:r>
          </a:p>
        </p:txBody>
      </p:sp>
      <p:cxnSp>
        <p:nvCxnSpPr>
          <p:cNvPr id="43" name="Straight Arrow Connector 33">
            <a:extLst>
              <a:ext uri="{FF2B5EF4-FFF2-40B4-BE49-F238E27FC236}">
                <a16:creationId xmlns:a16="http://schemas.microsoft.com/office/drawing/2014/main" id="{44688B05-F3F6-BB0B-012C-B59857457789}"/>
              </a:ext>
            </a:extLst>
          </p:cNvPr>
          <p:cNvCxnSpPr>
            <a:cxnSpLocks/>
          </p:cNvCxnSpPr>
          <p:nvPr/>
        </p:nvCxnSpPr>
        <p:spPr>
          <a:xfrm>
            <a:off x="1814384" y="4055818"/>
            <a:ext cx="8116330" cy="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c 34">
            <a:extLst>
              <a:ext uri="{FF2B5EF4-FFF2-40B4-BE49-F238E27FC236}">
                <a16:creationId xmlns:a16="http://schemas.microsoft.com/office/drawing/2014/main" id="{0DAB27C3-D7E6-F530-B4DD-5DDD1D7B6E5D}"/>
              </a:ext>
            </a:extLst>
          </p:cNvPr>
          <p:cNvSpPr/>
          <p:nvPr/>
        </p:nvSpPr>
        <p:spPr>
          <a:xfrm>
            <a:off x="9522941" y="2376624"/>
            <a:ext cx="790832" cy="709119"/>
          </a:xfrm>
          <a:prstGeom prst="arc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5" name="Arc 35">
            <a:extLst>
              <a:ext uri="{FF2B5EF4-FFF2-40B4-BE49-F238E27FC236}">
                <a16:creationId xmlns:a16="http://schemas.microsoft.com/office/drawing/2014/main" id="{5F7409C5-4A4C-D493-2B5F-F009C4DB01AE}"/>
              </a:ext>
            </a:extLst>
          </p:cNvPr>
          <p:cNvSpPr/>
          <p:nvPr/>
        </p:nvSpPr>
        <p:spPr>
          <a:xfrm>
            <a:off x="9530218" y="3346699"/>
            <a:ext cx="790832" cy="709119"/>
          </a:xfrm>
          <a:prstGeom prst="arc">
            <a:avLst>
              <a:gd name="adj1" fmla="val 263297"/>
              <a:gd name="adj2" fmla="val 5496520"/>
            </a:avLst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6" name="Straight Connector 36">
            <a:extLst>
              <a:ext uri="{FF2B5EF4-FFF2-40B4-BE49-F238E27FC236}">
                <a16:creationId xmlns:a16="http://schemas.microsoft.com/office/drawing/2014/main" id="{D549BEB8-DD3B-4E2E-E46F-4540FC2D288D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10313773" y="2731184"/>
            <a:ext cx="5837" cy="100030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37">
            <a:extLst>
              <a:ext uri="{FF2B5EF4-FFF2-40B4-BE49-F238E27FC236}">
                <a16:creationId xmlns:a16="http://schemas.microsoft.com/office/drawing/2014/main" id="{205352B3-7408-E194-BCBA-B9F6E678E9D0}"/>
              </a:ext>
            </a:extLst>
          </p:cNvPr>
          <p:cNvSpPr txBox="1"/>
          <p:nvPr/>
        </p:nvSpPr>
        <p:spPr>
          <a:xfrm>
            <a:off x="5897348" y="4494429"/>
            <a:ext cx="2514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流水线并行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DAPPLE</a:t>
            </a: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(PPoPP’21)</a:t>
            </a:r>
          </a:p>
        </p:txBody>
      </p:sp>
      <p:sp>
        <p:nvSpPr>
          <p:cNvPr id="48" name="TextBox 38">
            <a:extLst>
              <a:ext uri="{FF2B5EF4-FFF2-40B4-BE49-F238E27FC236}">
                <a16:creationId xmlns:a16="http://schemas.microsoft.com/office/drawing/2014/main" id="{604A4218-0E1C-D983-0EBA-945A75158040}"/>
              </a:ext>
            </a:extLst>
          </p:cNvPr>
          <p:cNvSpPr txBox="1"/>
          <p:nvPr/>
        </p:nvSpPr>
        <p:spPr>
          <a:xfrm>
            <a:off x="4041307" y="4494429"/>
            <a:ext cx="2054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</a:p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流水线并行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Megatron-LM</a:t>
            </a: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(SC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‘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21)</a:t>
            </a:r>
          </a:p>
        </p:txBody>
      </p:sp>
      <p:sp>
        <p:nvSpPr>
          <p:cNvPr id="49" name="Oval 39">
            <a:extLst>
              <a:ext uri="{FF2B5EF4-FFF2-40B4-BE49-F238E27FC236}">
                <a16:creationId xmlns:a16="http://schemas.microsoft.com/office/drawing/2014/main" id="{43867494-0179-7C2B-EED0-DC92DF88B9B7}"/>
              </a:ext>
            </a:extLst>
          </p:cNvPr>
          <p:cNvSpPr/>
          <p:nvPr/>
        </p:nvSpPr>
        <p:spPr>
          <a:xfrm>
            <a:off x="9050961" y="3932251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75A0A498-0534-76D5-C502-35531AFF2AA5}"/>
              </a:ext>
            </a:extLst>
          </p:cNvPr>
          <p:cNvSpPr/>
          <p:nvPr/>
        </p:nvSpPr>
        <p:spPr>
          <a:xfrm>
            <a:off x="7052362" y="392045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1" name="Oval 41">
            <a:extLst>
              <a:ext uri="{FF2B5EF4-FFF2-40B4-BE49-F238E27FC236}">
                <a16:creationId xmlns:a16="http://schemas.microsoft.com/office/drawing/2014/main" id="{EA9836C0-51F3-DE07-C74F-988A4727EC0C}"/>
              </a:ext>
            </a:extLst>
          </p:cNvPr>
          <p:cNvSpPr/>
          <p:nvPr/>
        </p:nvSpPr>
        <p:spPr>
          <a:xfrm>
            <a:off x="4893667" y="3931513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9712ABEB-1E53-A68D-7078-4861123C0B22}"/>
              </a:ext>
            </a:extLst>
          </p:cNvPr>
          <p:cNvSpPr txBox="1"/>
          <p:nvPr/>
        </p:nvSpPr>
        <p:spPr>
          <a:xfrm>
            <a:off x="2253930" y="4494429"/>
            <a:ext cx="20546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</a:p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流水线并行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Alpa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(OSDI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‘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22)</a:t>
            </a:r>
          </a:p>
        </p:txBody>
      </p:sp>
      <p:sp>
        <p:nvSpPr>
          <p:cNvPr id="53" name="Oval 43">
            <a:extLst>
              <a:ext uri="{FF2B5EF4-FFF2-40B4-BE49-F238E27FC236}">
                <a16:creationId xmlns:a16="http://schemas.microsoft.com/office/drawing/2014/main" id="{1863A17F-9553-1327-9859-9B6388FA28CE}"/>
              </a:ext>
            </a:extLst>
          </p:cNvPr>
          <p:cNvSpPr/>
          <p:nvPr/>
        </p:nvSpPr>
        <p:spPr>
          <a:xfrm>
            <a:off x="3106290" y="3931513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4" name="Rounded Rectangle 23">
            <a:extLst>
              <a:ext uri="{FF2B5EF4-FFF2-40B4-BE49-F238E27FC236}">
                <a16:creationId xmlns:a16="http://schemas.microsoft.com/office/drawing/2014/main" id="{943A3A28-FF2D-56C2-061C-C983E9A66BB8}"/>
              </a:ext>
            </a:extLst>
          </p:cNvPr>
          <p:cNvSpPr/>
          <p:nvPr/>
        </p:nvSpPr>
        <p:spPr>
          <a:xfrm>
            <a:off x="3229857" y="1561819"/>
            <a:ext cx="6450741" cy="396803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在单个维度对模型的训练进行分布式部署</a:t>
            </a:r>
            <a:endParaRPr lang="en-CN" sz="2000" dirty="0">
              <a:solidFill>
                <a:schemeClr val="accent1"/>
              </a:solidFill>
            </a:endParaRPr>
          </a:p>
        </p:txBody>
      </p:sp>
      <p:sp>
        <p:nvSpPr>
          <p:cNvPr id="55" name="Rounded Rectangle 23">
            <a:extLst>
              <a:ext uri="{FF2B5EF4-FFF2-40B4-BE49-F238E27FC236}">
                <a16:creationId xmlns:a16="http://schemas.microsoft.com/office/drawing/2014/main" id="{3877D95F-1529-912E-16E7-24358C4C744E}"/>
              </a:ext>
            </a:extLst>
          </p:cNvPr>
          <p:cNvSpPr/>
          <p:nvPr/>
        </p:nvSpPr>
        <p:spPr>
          <a:xfrm>
            <a:off x="4662928" y="5856369"/>
            <a:ext cx="3584597" cy="396803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混合式并行策略</a:t>
            </a:r>
            <a:endParaRPr lang="en-CN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19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C0904D9-390D-4B8B-E0E7-E876F238CBD5}"/>
              </a:ext>
            </a:extLst>
          </p:cNvPr>
          <p:cNvSpPr/>
          <p:nvPr/>
        </p:nvSpPr>
        <p:spPr>
          <a:xfrm>
            <a:off x="215169" y="76593"/>
            <a:ext cx="11592817" cy="974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国内外发展现状</a:t>
            </a:r>
            <a:b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分布式训练自动并行相关工作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B505781-BE91-F8D5-7187-9CF24F185DFD}"/>
              </a:ext>
            </a:extLst>
          </p:cNvPr>
          <p:cNvCxnSpPr>
            <a:cxnSpLocks/>
          </p:cNvCxnSpPr>
          <p:nvPr/>
        </p:nvCxnSpPr>
        <p:spPr>
          <a:xfrm>
            <a:off x="1854866" y="2341879"/>
            <a:ext cx="911516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EA3F3618-B341-3B29-603B-0D1FCFC45297}"/>
              </a:ext>
            </a:extLst>
          </p:cNvPr>
          <p:cNvSpPr/>
          <p:nvPr/>
        </p:nvSpPr>
        <p:spPr>
          <a:xfrm>
            <a:off x="2691007" y="221831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C7600-EAC4-0AD4-E74A-26623061E895}"/>
              </a:ext>
            </a:extLst>
          </p:cNvPr>
          <p:cNvSpPr txBox="1"/>
          <p:nvPr/>
        </p:nvSpPr>
        <p:spPr>
          <a:xfrm>
            <a:off x="1867737" y="2559685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ColocRL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ICML‘17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0D2CC-9CC2-AADB-EB6D-B315AE68A621}"/>
              </a:ext>
            </a:extLst>
          </p:cNvPr>
          <p:cNvSpPr txBox="1"/>
          <p:nvPr/>
        </p:nvSpPr>
        <p:spPr>
          <a:xfrm>
            <a:off x="1893481" y="1642978"/>
            <a:ext cx="1672926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强化学习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543831E-9A3F-EAB7-0AD1-CF0BD165B47D}"/>
              </a:ext>
            </a:extLst>
          </p:cNvPr>
          <p:cNvSpPr/>
          <p:nvPr/>
        </p:nvSpPr>
        <p:spPr>
          <a:xfrm>
            <a:off x="4350418" y="221831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25D89C-B6CC-36FA-F272-4438F9EAAC99}"/>
              </a:ext>
            </a:extLst>
          </p:cNvPr>
          <p:cNvSpPr txBox="1"/>
          <p:nvPr/>
        </p:nvSpPr>
        <p:spPr>
          <a:xfrm>
            <a:off x="3566407" y="2559685"/>
            <a:ext cx="1646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FlexFlow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MLSys’19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BF3B3-87C4-B9C4-7D7F-7DF673BF3CC9}"/>
              </a:ext>
            </a:extLst>
          </p:cNvPr>
          <p:cNvSpPr txBox="1"/>
          <p:nvPr/>
        </p:nvSpPr>
        <p:spPr>
          <a:xfrm>
            <a:off x="3637521" y="1648412"/>
            <a:ext cx="1893673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启发式规则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A8A5BE7-F1F6-FB5F-6C9E-D728CC0C599C}"/>
              </a:ext>
            </a:extLst>
          </p:cNvPr>
          <p:cNvSpPr/>
          <p:nvPr/>
        </p:nvSpPr>
        <p:spPr>
          <a:xfrm>
            <a:off x="5886262" y="221831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5D132-C472-BC81-0605-059CA12C2874}"/>
              </a:ext>
            </a:extLst>
          </p:cNvPr>
          <p:cNvSpPr txBox="1"/>
          <p:nvPr/>
        </p:nvSpPr>
        <p:spPr>
          <a:xfrm>
            <a:off x="5062992" y="2559685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PipeDream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SOSP’19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92A31EA-7905-6578-447F-7806A5844E28}"/>
              </a:ext>
            </a:extLst>
          </p:cNvPr>
          <p:cNvSpPr/>
          <p:nvPr/>
        </p:nvSpPr>
        <p:spPr>
          <a:xfrm>
            <a:off x="7324926" y="221831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212BCE-94FE-A45C-6767-BF636B7B2802}"/>
              </a:ext>
            </a:extLst>
          </p:cNvPr>
          <p:cNvSpPr txBox="1"/>
          <p:nvPr/>
        </p:nvSpPr>
        <p:spPr>
          <a:xfrm>
            <a:off x="6501656" y="2559685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DAPPLE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PPoPP’21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4444500-E569-E04B-488A-DBDBBBBF3984}"/>
              </a:ext>
            </a:extLst>
          </p:cNvPr>
          <p:cNvSpPr/>
          <p:nvPr/>
        </p:nvSpPr>
        <p:spPr>
          <a:xfrm>
            <a:off x="8640023" y="2218312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6F546E-BE1D-8200-22F3-4D822AB50EAC}"/>
              </a:ext>
            </a:extLst>
          </p:cNvPr>
          <p:cNvSpPr txBox="1"/>
          <p:nvPr/>
        </p:nvSpPr>
        <p:spPr>
          <a:xfrm>
            <a:off x="7816753" y="2559685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Piper</a:t>
            </a: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NIPS’21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811886A-2CB8-7045-C627-AFFDEC7E5EF8}"/>
              </a:ext>
            </a:extLst>
          </p:cNvPr>
          <p:cNvSpPr/>
          <p:nvPr/>
        </p:nvSpPr>
        <p:spPr>
          <a:xfrm>
            <a:off x="10028602" y="2227215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6AC81E-21EE-69F9-F997-22DD1F975147}"/>
              </a:ext>
            </a:extLst>
          </p:cNvPr>
          <p:cNvSpPr txBox="1"/>
          <p:nvPr/>
        </p:nvSpPr>
        <p:spPr>
          <a:xfrm>
            <a:off x="9205332" y="2568588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Alpa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OSDI’22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4FB9F6-6D02-1274-A8D8-8A31372A49D7}"/>
              </a:ext>
            </a:extLst>
          </p:cNvPr>
          <p:cNvSpPr txBox="1"/>
          <p:nvPr/>
        </p:nvSpPr>
        <p:spPr>
          <a:xfrm>
            <a:off x="5602308" y="1642978"/>
            <a:ext cx="5132947" cy="40862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动态规划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9D6D3-3483-D65B-004A-3329CFC48DE1}"/>
              </a:ext>
            </a:extLst>
          </p:cNvPr>
          <p:cNvSpPr txBox="1"/>
          <p:nvPr/>
        </p:nvSpPr>
        <p:spPr>
          <a:xfrm>
            <a:off x="812780" y="3550911"/>
            <a:ext cx="10286225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数据并行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√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476A7E-2FFA-DEB1-AA8D-B0CC6326DB24}"/>
              </a:ext>
            </a:extLst>
          </p:cNvPr>
          <p:cNvSpPr txBox="1"/>
          <p:nvPr/>
        </p:nvSpPr>
        <p:spPr>
          <a:xfrm>
            <a:off x="812780" y="4074169"/>
            <a:ext cx="10286225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张量并行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√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√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3626CF-0A9C-D5CF-6D05-BA0B8612B2AE}"/>
              </a:ext>
            </a:extLst>
          </p:cNvPr>
          <p:cNvSpPr txBox="1"/>
          <p:nvPr/>
        </p:nvSpPr>
        <p:spPr>
          <a:xfrm>
            <a:off x="812779" y="4597427"/>
            <a:ext cx="10286225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流水线并行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√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D512F1-ECC9-146A-AC66-A2A73981474C}"/>
              </a:ext>
            </a:extLst>
          </p:cNvPr>
          <p:cNvSpPr txBox="1"/>
          <p:nvPr/>
        </p:nvSpPr>
        <p:spPr>
          <a:xfrm>
            <a:off x="812778" y="5120685"/>
            <a:ext cx="10286225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重计算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√		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endParaRPr lang="zh-CN" altLang="en-US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792103-9797-193C-9E80-88CAF5855486}"/>
              </a:ext>
            </a:extLst>
          </p:cNvPr>
          <p:cNvSpPr txBox="1"/>
          <p:nvPr/>
        </p:nvSpPr>
        <p:spPr>
          <a:xfrm>
            <a:off x="812777" y="5643943"/>
            <a:ext cx="10286225" cy="4086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细粒度切分    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</a:t>
            </a:r>
            <a:r>
              <a:rPr lang="zh-CN" altLang="en-US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r>
              <a:rPr lang="en-US" altLang="zh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	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√</a:t>
            </a:r>
            <a:endParaRPr lang="zh-CN" altLang="en-US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798F0-4779-7AAA-7447-DFDBB73BF64C}"/>
              </a:ext>
            </a:extLst>
          </p:cNvPr>
          <p:cNvSpPr txBox="1"/>
          <p:nvPr/>
        </p:nvSpPr>
        <p:spPr>
          <a:xfrm>
            <a:off x="764383" y="3447971"/>
            <a:ext cx="10490889" cy="2735820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C429148-B07D-E755-7205-AAD4327FDBB2}"/>
              </a:ext>
            </a:extLst>
          </p:cNvPr>
          <p:cNvSpPr/>
          <p:nvPr/>
        </p:nvSpPr>
        <p:spPr>
          <a:xfrm>
            <a:off x="1854866" y="4509334"/>
            <a:ext cx="8994566" cy="490373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N" sz="24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现有工作的不足</a:t>
            </a:r>
            <a:r>
              <a:rPr lang="zh-CN" altLang="en-US" sz="24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：受限于算法复杂度，只能搜索一部分空间</a:t>
            </a:r>
            <a:endParaRPr lang="en-CN" sz="24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401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C0904D9-390D-4B8B-E0E7-E876F238CBD5}"/>
              </a:ext>
            </a:extLst>
          </p:cNvPr>
          <p:cNvSpPr/>
          <p:nvPr/>
        </p:nvSpPr>
        <p:spPr>
          <a:xfrm>
            <a:off x="215169" y="76593"/>
            <a:ext cx="11592817" cy="9745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国内外发展现状</a:t>
            </a:r>
            <a:b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故障场景下弹性训练相关工作</a:t>
            </a:r>
          </a:p>
        </p:txBody>
      </p:sp>
      <p:cxnSp>
        <p:nvCxnSpPr>
          <p:cNvPr id="27" name="Straight Arrow Connector 1">
            <a:extLst>
              <a:ext uri="{FF2B5EF4-FFF2-40B4-BE49-F238E27FC236}">
                <a16:creationId xmlns:a16="http://schemas.microsoft.com/office/drawing/2014/main" id="{622E2C44-CA94-D7B0-3B96-84A153C31081}"/>
              </a:ext>
            </a:extLst>
          </p:cNvPr>
          <p:cNvCxnSpPr>
            <a:cxnSpLocks/>
          </p:cNvCxnSpPr>
          <p:nvPr/>
        </p:nvCxnSpPr>
        <p:spPr>
          <a:xfrm>
            <a:off x="2038865" y="3741700"/>
            <a:ext cx="88968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3">
            <a:extLst>
              <a:ext uri="{FF2B5EF4-FFF2-40B4-BE49-F238E27FC236}">
                <a16:creationId xmlns:a16="http://schemas.microsoft.com/office/drawing/2014/main" id="{93367DAF-6000-1EA9-9D7D-FD0808497DE5}"/>
              </a:ext>
            </a:extLst>
          </p:cNvPr>
          <p:cNvSpPr/>
          <p:nvPr/>
        </p:nvSpPr>
        <p:spPr>
          <a:xfrm>
            <a:off x="3384465" y="3618133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06BA56DF-4B24-E0AC-A813-0151B12FC895}"/>
              </a:ext>
            </a:extLst>
          </p:cNvPr>
          <p:cNvSpPr txBox="1"/>
          <p:nvPr/>
        </p:nvSpPr>
        <p:spPr>
          <a:xfrm>
            <a:off x="255888" y="2421711"/>
            <a:ext cx="2112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Checkpoint</a:t>
            </a:r>
          </a:p>
          <a:p>
            <a:pPr algn="ctr"/>
            <a:r>
              <a:rPr lang="en-US" sz="2400" b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的故障恢复</a:t>
            </a:r>
            <a:endParaRPr lang="en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A8427F30-9292-E22D-F324-3836BD0598D0}"/>
              </a:ext>
            </a:extLst>
          </p:cNvPr>
          <p:cNvSpPr txBox="1"/>
          <p:nvPr/>
        </p:nvSpPr>
        <p:spPr>
          <a:xfrm>
            <a:off x="255888" y="4224100"/>
            <a:ext cx="21124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冗余性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的故障恢复</a:t>
            </a:r>
            <a:endParaRPr lang="en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82AB0B95-F930-6EF9-FCB6-BFF427C0650D}"/>
              </a:ext>
            </a:extLst>
          </p:cNvPr>
          <p:cNvSpPr txBox="1"/>
          <p:nvPr/>
        </p:nvSpPr>
        <p:spPr>
          <a:xfrm>
            <a:off x="2561196" y="2618183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CheckFreq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FAST’21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TextBox 12">
            <a:extLst>
              <a:ext uri="{FF2B5EF4-FFF2-40B4-BE49-F238E27FC236}">
                <a16:creationId xmlns:a16="http://schemas.microsoft.com/office/drawing/2014/main" id="{EFF512D8-FCA4-E418-5C8D-0A93B662F448}"/>
              </a:ext>
            </a:extLst>
          </p:cNvPr>
          <p:cNvSpPr txBox="1"/>
          <p:nvPr/>
        </p:nvSpPr>
        <p:spPr>
          <a:xfrm>
            <a:off x="8380969" y="2633823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MegaScale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NSDI’24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Oval 13">
            <a:extLst>
              <a:ext uri="{FF2B5EF4-FFF2-40B4-BE49-F238E27FC236}">
                <a16:creationId xmlns:a16="http://schemas.microsoft.com/office/drawing/2014/main" id="{C1A54C69-582A-D23B-9B12-4CCADA543185}"/>
              </a:ext>
            </a:extLst>
          </p:cNvPr>
          <p:cNvSpPr/>
          <p:nvPr/>
        </p:nvSpPr>
        <p:spPr>
          <a:xfrm>
            <a:off x="5291262" y="3622164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2D401AF3-D33E-558C-0D84-A2B464B604D5}"/>
              </a:ext>
            </a:extLst>
          </p:cNvPr>
          <p:cNvSpPr txBox="1"/>
          <p:nvPr/>
        </p:nvSpPr>
        <p:spPr>
          <a:xfrm>
            <a:off x="6487296" y="2619024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Gemini</a:t>
            </a: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(SOSP’23)</a:t>
            </a:r>
          </a:p>
        </p:txBody>
      </p:sp>
      <p:sp>
        <p:nvSpPr>
          <p:cNvPr id="35" name="Oval 15">
            <a:extLst>
              <a:ext uri="{FF2B5EF4-FFF2-40B4-BE49-F238E27FC236}">
                <a16:creationId xmlns:a16="http://schemas.microsoft.com/office/drawing/2014/main" id="{DF6E7DF1-EB6F-ECA0-5DBA-9200E6D2B360}"/>
              </a:ext>
            </a:extLst>
          </p:cNvPr>
          <p:cNvSpPr/>
          <p:nvPr/>
        </p:nvSpPr>
        <p:spPr>
          <a:xfrm>
            <a:off x="7310565" y="3622040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D6C1EE4E-B68E-72C2-7B24-D19D76396632}"/>
              </a:ext>
            </a:extLst>
          </p:cNvPr>
          <p:cNvSpPr txBox="1"/>
          <p:nvPr/>
        </p:nvSpPr>
        <p:spPr>
          <a:xfrm>
            <a:off x="5947618" y="4244083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Bamboo</a:t>
            </a: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(NSDI’23)</a:t>
            </a:r>
          </a:p>
        </p:txBody>
      </p:sp>
      <p:sp>
        <p:nvSpPr>
          <p:cNvPr id="37" name="Oval 18">
            <a:extLst>
              <a:ext uri="{FF2B5EF4-FFF2-40B4-BE49-F238E27FC236}">
                <a16:creationId xmlns:a16="http://schemas.microsoft.com/office/drawing/2014/main" id="{9863BF1B-3C0E-9346-4AEE-91CF167C3899}"/>
              </a:ext>
            </a:extLst>
          </p:cNvPr>
          <p:cNvSpPr/>
          <p:nvPr/>
        </p:nvSpPr>
        <p:spPr>
          <a:xfrm>
            <a:off x="7748566" y="3625994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8" name="Oval 19">
            <a:extLst>
              <a:ext uri="{FF2B5EF4-FFF2-40B4-BE49-F238E27FC236}">
                <a16:creationId xmlns:a16="http://schemas.microsoft.com/office/drawing/2014/main" id="{258D31A3-936E-9ABE-EC22-D4A3CDB6AFC8}"/>
              </a:ext>
            </a:extLst>
          </p:cNvPr>
          <p:cNvSpPr/>
          <p:nvPr/>
        </p:nvSpPr>
        <p:spPr>
          <a:xfrm>
            <a:off x="6878289" y="3622040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9" name="TextBox 20">
            <a:extLst>
              <a:ext uri="{FF2B5EF4-FFF2-40B4-BE49-F238E27FC236}">
                <a16:creationId xmlns:a16="http://schemas.microsoft.com/office/drawing/2014/main" id="{AE972E81-7B3B-A4A3-AA3C-96049BABCAF2}"/>
              </a:ext>
            </a:extLst>
          </p:cNvPr>
          <p:cNvSpPr txBox="1"/>
          <p:nvPr/>
        </p:nvSpPr>
        <p:spPr>
          <a:xfrm>
            <a:off x="7001856" y="4239173"/>
            <a:ext cx="21124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Oobleck</a:t>
            </a: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(SOSP’23)</a:t>
            </a:r>
          </a:p>
        </p:txBody>
      </p:sp>
      <p:sp>
        <p:nvSpPr>
          <p:cNvPr id="40" name="Oval 21">
            <a:extLst>
              <a:ext uri="{FF2B5EF4-FFF2-40B4-BE49-F238E27FC236}">
                <a16:creationId xmlns:a16="http://schemas.microsoft.com/office/drawing/2014/main" id="{912DE50B-3B2B-07DA-276C-FCCFAA7E2C36}"/>
              </a:ext>
            </a:extLst>
          </p:cNvPr>
          <p:cNvSpPr/>
          <p:nvPr/>
        </p:nvSpPr>
        <p:spPr>
          <a:xfrm>
            <a:off x="9449920" y="3625994"/>
            <a:ext cx="247134" cy="247134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A7D7337D-8EEE-40A4-16D9-CBDA00AB9E1E}"/>
              </a:ext>
            </a:extLst>
          </p:cNvPr>
          <p:cNvSpPr/>
          <p:nvPr/>
        </p:nvSpPr>
        <p:spPr>
          <a:xfrm>
            <a:off x="3261926" y="1872920"/>
            <a:ext cx="6450741" cy="396803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开销大，保存频率低，恢复时间长</a:t>
            </a:r>
            <a:endParaRPr lang="en-CN" sz="2000" dirty="0">
              <a:solidFill>
                <a:schemeClr val="accent1"/>
              </a:solidFill>
            </a:endParaRPr>
          </a:p>
        </p:txBody>
      </p:sp>
      <p:sp>
        <p:nvSpPr>
          <p:cNvPr id="43" name="Rounded Rectangle 24">
            <a:extLst>
              <a:ext uri="{FF2B5EF4-FFF2-40B4-BE49-F238E27FC236}">
                <a16:creationId xmlns:a16="http://schemas.microsoft.com/office/drawing/2014/main" id="{6C4D2986-90BF-BBC6-E617-CBD6457F37A8}"/>
              </a:ext>
            </a:extLst>
          </p:cNvPr>
          <p:cNvSpPr/>
          <p:nvPr/>
        </p:nvSpPr>
        <p:spPr>
          <a:xfrm>
            <a:off x="7557699" y="5424429"/>
            <a:ext cx="3400130" cy="68902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利用数据并行的冗余性：</a:t>
            </a:r>
            <a:endParaRPr lang="en-US" altLang="zh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限制了可训练的模型大小</a:t>
            </a:r>
            <a:endParaRPr lang="en-CN" sz="2000" dirty="0">
              <a:solidFill>
                <a:schemeClr val="accent1"/>
              </a:solidFill>
            </a:endParaRPr>
          </a:p>
        </p:txBody>
      </p:sp>
      <p:sp>
        <p:nvSpPr>
          <p:cNvPr id="44" name="Rounded Rectangle 24">
            <a:extLst>
              <a:ext uri="{FF2B5EF4-FFF2-40B4-BE49-F238E27FC236}">
                <a16:creationId xmlns:a16="http://schemas.microsoft.com/office/drawing/2014/main" id="{A2CB8A84-857F-6EEC-AF45-444F01625707}"/>
              </a:ext>
            </a:extLst>
          </p:cNvPr>
          <p:cNvSpPr/>
          <p:nvPr/>
        </p:nvSpPr>
        <p:spPr>
          <a:xfrm>
            <a:off x="4034002" y="5424429"/>
            <a:ext cx="3400130" cy="689025"/>
          </a:xfrm>
          <a:prstGeom prst="roundRect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引入额外的冗余计算：</a:t>
            </a:r>
            <a:endParaRPr lang="en-US" altLang="zh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降低了训练效率</a:t>
            </a:r>
            <a:endParaRPr lang="en-CN" sz="2000" dirty="0">
              <a:solidFill>
                <a:schemeClr val="accent1"/>
              </a:solidFill>
            </a:endParaRPr>
          </a:p>
        </p:txBody>
      </p:sp>
      <p:sp>
        <p:nvSpPr>
          <p:cNvPr id="46" name="TextBox 12">
            <a:extLst>
              <a:ext uri="{FF2B5EF4-FFF2-40B4-BE49-F238E27FC236}">
                <a16:creationId xmlns:a16="http://schemas.microsoft.com/office/drawing/2014/main" id="{7B965AF6-6991-CED4-CFC7-292335D0B0D7}"/>
              </a:ext>
            </a:extLst>
          </p:cNvPr>
          <p:cNvSpPr txBox="1"/>
          <p:nvPr/>
        </p:nvSpPr>
        <p:spPr>
          <a:xfrm>
            <a:off x="4454869" y="2612872"/>
            <a:ext cx="18936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Varuna</a:t>
            </a:r>
          </a:p>
          <a:p>
            <a:pPr algn="ctr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EuroSys’22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C1241AB7-168C-C8CB-F7BE-080E82C3D920}"/>
              </a:ext>
            </a:extLst>
          </p:cNvPr>
          <p:cNvSpPr txBox="1"/>
          <p:nvPr/>
        </p:nvSpPr>
        <p:spPr>
          <a:xfrm>
            <a:off x="8606266" y="4218046"/>
            <a:ext cx="1507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Parcae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(NSDI’24)</a:t>
            </a:r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0ED929A5-FD45-8085-71C6-FAA4F7396E79}"/>
              </a:ext>
            </a:extLst>
          </p:cNvPr>
          <p:cNvSpPr/>
          <p:nvPr/>
        </p:nvSpPr>
        <p:spPr>
          <a:xfrm>
            <a:off x="9113110" y="3625994"/>
            <a:ext cx="247134" cy="247134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F0FD1DFD-DD9A-A876-BE8E-FF595E6EC909}"/>
              </a:ext>
            </a:extLst>
          </p:cNvPr>
          <p:cNvCxnSpPr>
            <a:stCxn id="36" idx="2"/>
            <a:endCxn id="44" idx="0"/>
          </p:cNvCxnSpPr>
          <p:nvPr/>
        </p:nvCxnSpPr>
        <p:spPr>
          <a:xfrm flipH="1">
            <a:off x="5734067" y="4890414"/>
            <a:ext cx="1160388" cy="53401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5A13AEA3-9A39-F542-406C-52529A7CBD49}"/>
              </a:ext>
            </a:extLst>
          </p:cNvPr>
          <p:cNvCxnSpPr>
            <a:cxnSpLocks/>
            <a:stCxn id="39" idx="2"/>
            <a:endCxn id="43" idx="0"/>
          </p:cNvCxnSpPr>
          <p:nvPr/>
        </p:nvCxnSpPr>
        <p:spPr>
          <a:xfrm>
            <a:off x="8058102" y="4885504"/>
            <a:ext cx="1199662" cy="538925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EB4A4DD6-2552-D15A-3E42-4F36BBEA099D}"/>
              </a:ext>
            </a:extLst>
          </p:cNvPr>
          <p:cNvCxnSpPr>
            <a:cxnSpLocks/>
            <a:stCxn id="47" idx="2"/>
            <a:endCxn id="43" idx="0"/>
          </p:cNvCxnSpPr>
          <p:nvPr/>
        </p:nvCxnSpPr>
        <p:spPr>
          <a:xfrm flipH="1">
            <a:off x="9257764" y="4864377"/>
            <a:ext cx="102480" cy="56005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8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" y="848"/>
            <a:ext cx="36957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8" name="Rectangle 3"/>
          <p:cNvSpPr txBox="1"/>
          <p:nvPr/>
        </p:nvSpPr>
        <p:spPr>
          <a:xfrm>
            <a:off x="793328" y="2755903"/>
            <a:ext cx="2108201" cy="7493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733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37" name="六边形 36"/>
          <p:cNvSpPr/>
          <p:nvPr/>
        </p:nvSpPr>
        <p:spPr>
          <a:xfrm rot="5400000">
            <a:off x="1092202" y="2478193"/>
            <a:ext cx="1511300" cy="1303867"/>
          </a:xfrm>
          <a:prstGeom prst="hexagon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50012"/>
                </a:solidFill>
              </a14:hiddenFill>
            </a:ext>
          </a:extLst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1400" kern="0" dirty="0">
              <a:solidFill>
                <a:sysClr val="window" lastClr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B28DF9BE-C194-43EA-A62E-15A49F963DF9}"/>
              </a:ext>
            </a:extLst>
          </p:cNvPr>
          <p:cNvGrpSpPr/>
          <p:nvPr/>
        </p:nvGrpSpPr>
        <p:grpSpPr>
          <a:xfrm>
            <a:off x="5652493" y="351940"/>
            <a:ext cx="5490221" cy="1011002"/>
            <a:chOff x="5656" y="178"/>
            <a:chExt cx="7794" cy="1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561AB59-E006-4216-8ABB-DEFEEC01D424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选题背景及意义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B7F5AD37-1A46-44AE-845E-9D41FA8D782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23FAD5-8037-429A-B8E7-A0EA1AA1E78F}"/>
              </a:ext>
            </a:extLst>
          </p:cNvPr>
          <p:cNvGrpSpPr/>
          <p:nvPr/>
        </p:nvGrpSpPr>
        <p:grpSpPr>
          <a:xfrm>
            <a:off x="5007232" y="777037"/>
            <a:ext cx="653651" cy="748201"/>
            <a:chOff x="1111669" y="3089259"/>
            <a:chExt cx="591868" cy="676010"/>
          </a:xfrm>
        </p:grpSpPr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B59A5391-F1C8-4A06-AA76-178528B20878}"/>
                </a:ext>
              </a:extLst>
            </p:cNvPr>
            <p:cNvSpPr/>
            <p:nvPr/>
          </p:nvSpPr>
          <p:spPr>
            <a:xfrm rot="5400000">
              <a:off x="1065801" y="3135127"/>
              <a:ext cx="676010" cy="584273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CA954729-CD26-48F8-91AC-BC64D00E06E3}"/>
                </a:ext>
              </a:extLst>
            </p:cNvPr>
            <p:cNvSpPr txBox="1"/>
            <p:nvPr/>
          </p:nvSpPr>
          <p:spPr>
            <a:xfrm>
              <a:off x="1124476" y="3192846"/>
              <a:ext cx="579061" cy="45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rgbClr val="FFFFFF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2403960-E819-8BEA-09B3-08583F5A2231}"/>
              </a:ext>
            </a:extLst>
          </p:cNvPr>
          <p:cNvGrpSpPr/>
          <p:nvPr/>
        </p:nvGrpSpPr>
        <p:grpSpPr>
          <a:xfrm>
            <a:off x="5652496" y="2012812"/>
            <a:ext cx="5490222" cy="1011001"/>
            <a:chOff x="5656" y="178"/>
            <a:chExt cx="7794" cy="1770"/>
          </a:xfrm>
        </p:grpSpPr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8DD15D-E1CB-FFA9-C380-38A3394B444C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rgbClr val="C0000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研究目标与研究内容</a:t>
              </a:r>
            </a:p>
          </p:txBody>
        </p:sp>
        <p:sp>
          <p:nvSpPr>
            <p:cNvPr id="47" name="文本框 7">
              <a:extLst>
                <a:ext uri="{FF2B5EF4-FFF2-40B4-BE49-F238E27FC236}">
                  <a16:creationId xmlns:a16="http://schemas.microsoft.com/office/drawing/2014/main" id="{2754986B-5E74-2384-03FC-C8A218444ADD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7">
            <a:extLst>
              <a:ext uri="{FF2B5EF4-FFF2-40B4-BE49-F238E27FC236}">
                <a16:creationId xmlns:a16="http://schemas.microsoft.com/office/drawing/2014/main" id="{6AB853F9-CE8D-B281-9817-28ADEBA0B7AA}"/>
              </a:ext>
            </a:extLst>
          </p:cNvPr>
          <p:cNvGrpSpPr/>
          <p:nvPr/>
        </p:nvGrpSpPr>
        <p:grpSpPr>
          <a:xfrm>
            <a:off x="5007234" y="2437909"/>
            <a:ext cx="653651" cy="748200"/>
            <a:chOff x="1109756" y="3090803"/>
            <a:chExt cx="590677" cy="676392"/>
          </a:xfrm>
        </p:grpSpPr>
        <p:sp>
          <p:nvSpPr>
            <p:cNvPr id="44" name="六边形 8">
              <a:extLst>
                <a:ext uri="{FF2B5EF4-FFF2-40B4-BE49-F238E27FC236}">
                  <a16:creationId xmlns:a16="http://schemas.microsoft.com/office/drawing/2014/main" id="{BE3BBC25-40DD-4C0E-EA99-101937B004B8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5" name="文本框 64">
              <a:extLst>
                <a:ext uri="{FF2B5EF4-FFF2-40B4-BE49-F238E27FC236}">
                  <a16:creationId xmlns:a16="http://schemas.microsoft.com/office/drawing/2014/main" id="{765934B1-9FAB-E038-3883-68E24318150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三</a:t>
              </a:r>
            </a:p>
          </p:txBody>
        </p:sp>
      </p:grpSp>
      <p:grpSp>
        <p:nvGrpSpPr>
          <p:cNvPr id="5126" name="组合 29">
            <a:extLst>
              <a:ext uri="{FF2B5EF4-FFF2-40B4-BE49-F238E27FC236}">
                <a16:creationId xmlns:a16="http://schemas.microsoft.com/office/drawing/2014/main" id="{A0E177E5-A049-3C5C-DBE2-87A04E5DD91B}"/>
              </a:ext>
            </a:extLst>
          </p:cNvPr>
          <p:cNvGrpSpPr/>
          <p:nvPr/>
        </p:nvGrpSpPr>
        <p:grpSpPr>
          <a:xfrm>
            <a:off x="5666691" y="4236570"/>
            <a:ext cx="5490222" cy="1011001"/>
            <a:chOff x="5656" y="178"/>
            <a:chExt cx="7794" cy="1770"/>
          </a:xfrm>
        </p:grpSpPr>
        <p:sp>
          <p:nvSpPr>
            <p:cNvPr id="5130" name="矩形 10">
              <a:extLst>
                <a:ext uri="{FF2B5EF4-FFF2-40B4-BE49-F238E27FC236}">
                  <a16:creationId xmlns:a16="http://schemas.microsoft.com/office/drawing/2014/main" id="{FF83F8C2-DEC9-7321-D971-C6EFF8D1939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已发表论文列表</a:t>
              </a:r>
            </a:p>
          </p:txBody>
        </p:sp>
        <p:sp>
          <p:nvSpPr>
            <p:cNvPr id="5131" name="文本框 7">
              <a:extLst>
                <a:ext uri="{FF2B5EF4-FFF2-40B4-BE49-F238E27FC236}">
                  <a16:creationId xmlns:a16="http://schemas.microsoft.com/office/drawing/2014/main" id="{0FECEB68-FCF5-EE7D-2BD3-1A167DF99623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27" name="组合 7">
            <a:extLst>
              <a:ext uri="{FF2B5EF4-FFF2-40B4-BE49-F238E27FC236}">
                <a16:creationId xmlns:a16="http://schemas.microsoft.com/office/drawing/2014/main" id="{14AED640-8C5A-FC78-EA29-CE13134AC636}"/>
              </a:ext>
            </a:extLst>
          </p:cNvPr>
          <p:cNvGrpSpPr/>
          <p:nvPr/>
        </p:nvGrpSpPr>
        <p:grpSpPr>
          <a:xfrm>
            <a:off x="5021429" y="4661667"/>
            <a:ext cx="653651" cy="748200"/>
            <a:chOff x="1109756" y="3090803"/>
            <a:chExt cx="590677" cy="676392"/>
          </a:xfrm>
        </p:grpSpPr>
        <p:sp>
          <p:nvSpPr>
            <p:cNvPr id="5128" name="六边形 8">
              <a:extLst>
                <a:ext uri="{FF2B5EF4-FFF2-40B4-BE49-F238E27FC236}">
                  <a16:creationId xmlns:a16="http://schemas.microsoft.com/office/drawing/2014/main" id="{2A28B2E5-4F08-BE10-7993-1E50594E19F5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29" name="文本框 64">
              <a:extLst>
                <a:ext uri="{FF2B5EF4-FFF2-40B4-BE49-F238E27FC236}">
                  <a16:creationId xmlns:a16="http://schemas.microsoft.com/office/drawing/2014/main" id="{1382CF0C-BFB4-C4D4-5F07-F7F295C91DDA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四</a:t>
              </a:r>
            </a:p>
          </p:txBody>
        </p:sp>
      </p:grpSp>
      <p:sp>
        <p:nvSpPr>
          <p:cNvPr id="5140" name="Slide Number Placeholder 5139">
            <a:extLst>
              <a:ext uri="{FF2B5EF4-FFF2-40B4-BE49-F238E27FC236}">
                <a16:creationId xmlns:a16="http://schemas.microsoft.com/office/drawing/2014/main" id="{8AC0140B-CD45-37AE-3958-82879EFE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11</a:t>
            </a:fld>
            <a:endParaRPr lang="zh-CN" altLang="en-US"/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C85286B4-90BC-F5B9-8A25-101AC3C1B8B8}"/>
              </a:ext>
            </a:extLst>
          </p:cNvPr>
          <p:cNvGrpSpPr/>
          <p:nvPr/>
        </p:nvGrpSpPr>
        <p:grpSpPr>
          <a:xfrm>
            <a:off x="5652492" y="1185332"/>
            <a:ext cx="5490222" cy="1011001"/>
            <a:chOff x="5656" y="178"/>
            <a:chExt cx="7794" cy="1770"/>
          </a:xfrm>
        </p:grpSpPr>
        <p:sp>
          <p:nvSpPr>
            <p:cNvPr id="3" name="矩形 10">
              <a:extLst>
                <a:ext uri="{FF2B5EF4-FFF2-40B4-BE49-F238E27FC236}">
                  <a16:creationId xmlns:a16="http://schemas.microsoft.com/office/drawing/2014/main" id="{8E9E21FC-1FFD-80A8-DC4B-04F55B8791D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国内外研究现状分析</a:t>
              </a: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1E21349-6198-D562-1769-7ED23D337789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79D02E49-B919-F76B-8792-FF80B2E881AE}"/>
              </a:ext>
            </a:extLst>
          </p:cNvPr>
          <p:cNvGrpSpPr/>
          <p:nvPr/>
        </p:nvGrpSpPr>
        <p:grpSpPr>
          <a:xfrm>
            <a:off x="5007230" y="1610429"/>
            <a:ext cx="653651" cy="748200"/>
            <a:chOff x="1109756" y="3090803"/>
            <a:chExt cx="590677" cy="676392"/>
          </a:xfrm>
        </p:grpSpPr>
        <p:sp>
          <p:nvSpPr>
            <p:cNvPr id="15" name="六边形 8">
              <a:extLst>
                <a:ext uri="{FF2B5EF4-FFF2-40B4-BE49-F238E27FC236}">
                  <a16:creationId xmlns:a16="http://schemas.microsoft.com/office/drawing/2014/main" id="{6847B8B8-6180-27D8-96E9-058E80C002DF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0E3B5C1A-3A3F-AB80-5155-6322EB641D5F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二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0E501-1698-0D28-0A5F-1C87F6E60880}"/>
              </a:ext>
            </a:extLst>
          </p:cNvPr>
          <p:cNvSpPr txBox="1"/>
          <p:nvPr/>
        </p:nvSpPr>
        <p:spPr>
          <a:xfrm>
            <a:off x="6011115" y="3023813"/>
            <a:ext cx="4474302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神经网络时间预测模型研究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分布式训练自动并行策略研究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故障场景下的弹性训练研究</a:t>
            </a:r>
          </a:p>
        </p:txBody>
      </p: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9521A93-4728-2783-6F6E-1DB3C28990A5}"/>
              </a:ext>
            </a:extLst>
          </p:cNvPr>
          <p:cNvGrpSpPr/>
          <p:nvPr/>
        </p:nvGrpSpPr>
        <p:grpSpPr>
          <a:xfrm>
            <a:off x="5652492" y="5060443"/>
            <a:ext cx="5490222" cy="1011001"/>
            <a:chOff x="5656" y="178"/>
            <a:chExt cx="7794" cy="1770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33D22EE-D039-3BDD-BEBD-0EB04C925582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评阅后修改情况</a:t>
              </a: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9D2E824D-5486-F8A6-C727-A2D6E3D443C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7">
            <a:extLst>
              <a:ext uri="{FF2B5EF4-FFF2-40B4-BE49-F238E27FC236}">
                <a16:creationId xmlns:a16="http://schemas.microsoft.com/office/drawing/2014/main" id="{52E4006C-5553-A23D-381D-F3319DB878BD}"/>
              </a:ext>
            </a:extLst>
          </p:cNvPr>
          <p:cNvGrpSpPr/>
          <p:nvPr/>
        </p:nvGrpSpPr>
        <p:grpSpPr>
          <a:xfrm>
            <a:off x="5007230" y="5485540"/>
            <a:ext cx="653651" cy="748200"/>
            <a:chOff x="1109756" y="3090803"/>
            <a:chExt cx="590677" cy="676392"/>
          </a:xfrm>
        </p:grpSpPr>
        <p:sp>
          <p:nvSpPr>
            <p:cNvPr id="19" name="六边形 8">
              <a:extLst>
                <a:ext uri="{FF2B5EF4-FFF2-40B4-BE49-F238E27FC236}">
                  <a16:creationId xmlns:a16="http://schemas.microsoft.com/office/drawing/2014/main" id="{3B10208D-B462-07CF-39AD-C4E91CE4DE4E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0" name="文本框 64">
              <a:extLst>
                <a:ext uri="{FF2B5EF4-FFF2-40B4-BE49-F238E27FC236}">
                  <a16:creationId xmlns:a16="http://schemas.microsoft.com/office/drawing/2014/main" id="{99BEE8C7-1684-8A70-4160-61296CEF9FC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3171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18" name="矩形 20">
            <a:extLst>
              <a:ext uri="{FF2B5EF4-FFF2-40B4-BE49-F238E27FC236}">
                <a16:creationId xmlns:a16="http://schemas.microsoft.com/office/drawing/2014/main" id="{BC0904D9-390D-4B8B-E0E7-E876F238CBD5}"/>
              </a:ext>
            </a:extLst>
          </p:cNvPr>
          <p:cNvSpPr/>
          <p:nvPr/>
        </p:nvSpPr>
        <p:spPr>
          <a:xfrm>
            <a:off x="215169" y="76593"/>
            <a:ext cx="11592817" cy="95410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学位论文进展情况</a:t>
            </a:r>
            <a:b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研究内容概览</a:t>
            </a:r>
          </a:p>
        </p:txBody>
      </p:sp>
      <p:sp>
        <p:nvSpPr>
          <p:cNvPr id="37" name="Rounded Rectangle 88">
            <a:extLst>
              <a:ext uri="{FF2B5EF4-FFF2-40B4-BE49-F238E27FC236}">
                <a16:creationId xmlns:a16="http://schemas.microsoft.com/office/drawing/2014/main" id="{78D1B8E9-FAB4-D0F1-9D67-21AF39C437DA}"/>
              </a:ext>
            </a:extLst>
          </p:cNvPr>
          <p:cNvSpPr/>
          <p:nvPr/>
        </p:nvSpPr>
        <p:spPr>
          <a:xfrm>
            <a:off x="3115724" y="2126401"/>
            <a:ext cx="5845397" cy="3480637"/>
          </a:xfrm>
          <a:prstGeom prst="roundRect">
            <a:avLst>
              <a:gd name="adj" fmla="val 3619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38" name="Picture 39" descr="A blue and white logo&#10;&#10;Description automatically generated">
            <a:extLst>
              <a:ext uri="{FF2B5EF4-FFF2-40B4-BE49-F238E27FC236}">
                <a16:creationId xmlns:a16="http://schemas.microsoft.com/office/drawing/2014/main" id="{F76A4592-E6A2-B2EC-2D6F-190549781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27" y="2121735"/>
            <a:ext cx="1407101" cy="1055326"/>
          </a:xfrm>
          <a:prstGeom prst="roundRect">
            <a:avLst/>
          </a:prstGeom>
        </p:spPr>
      </p:pic>
      <p:grpSp>
        <p:nvGrpSpPr>
          <p:cNvPr id="39" name="Group 1">
            <a:extLst>
              <a:ext uri="{FF2B5EF4-FFF2-40B4-BE49-F238E27FC236}">
                <a16:creationId xmlns:a16="http://schemas.microsoft.com/office/drawing/2014/main" id="{1A745AD9-C6FF-B12B-527B-D95D00F506D6}"/>
              </a:ext>
            </a:extLst>
          </p:cNvPr>
          <p:cNvGrpSpPr/>
          <p:nvPr/>
        </p:nvGrpSpPr>
        <p:grpSpPr>
          <a:xfrm>
            <a:off x="9454806" y="4090263"/>
            <a:ext cx="2337474" cy="1521203"/>
            <a:chOff x="7330911" y="2606175"/>
            <a:chExt cx="3921053" cy="2644778"/>
          </a:xfrm>
        </p:grpSpPr>
        <p:pic>
          <p:nvPicPr>
            <p:cNvPr id="40" name="Picture 40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35333628-A085-B41D-CDE1-DB186E646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7435978" y="2606175"/>
              <a:ext cx="1407101" cy="1481159"/>
            </a:xfrm>
            <a:prstGeom prst="rect">
              <a:avLst/>
            </a:prstGeom>
          </p:spPr>
        </p:pic>
        <p:pic>
          <p:nvPicPr>
            <p:cNvPr id="41" name="Picture 41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072968F4-7BF4-1EDF-F7C2-CBD126DC5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8244595" y="2606175"/>
              <a:ext cx="1407101" cy="1481159"/>
            </a:xfrm>
            <a:prstGeom prst="rect">
              <a:avLst/>
            </a:prstGeom>
          </p:spPr>
        </p:pic>
        <p:pic>
          <p:nvPicPr>
            <p:cNvPr id="42" name="Picture 42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5ED5189C-CEB3-67E7-529B-A23997FB4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9036246" y="2606175"/>
              <a:ext cx="1407101" cy="1481159"/>
            </a:xfrm>
            <a:prstGeom prst="rect">
              <a:avLst/>
            </a:prstGeom>
          </p:spPr>
        </p:pic>
        <p:pic>
          <p:nvPicPr>
            <p:cNvPr id="43" name="Picture 43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19053FB7-1E45-1C7E-AEB0-2D74A4A25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9844863" y="2606175"/>
              <a:ext cx="1407101" cy="1481159"/>
            </a:xfrm>
            <a:prstGeom prst="rect">
              <a:avLst/>
            </a:prstGeom>
          </p:spPr>
        </p:pic>
        <p:pic>
          <p:nvPicPr>
            <p:cNvPr id="44" name="Picture 44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3AF57570-FAB6-6B16-19EC-E9941EEFF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7330911" y="3769794"/>
              <a:ext cx="1407101" cy="1481159"/>
            </a:xfrm>
            <a:prstGeom prst="rect">
              <a:avLst/>
            </a:prstGeom>
          </p:spPr>
        </p:pic>
        <p:pic>
          <p:nvPicPr>
            <p:cNvPr id="45" name="Picture 45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70C10DD1-8E3C-A4AE-869E-AF215FF7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8139528" y="3769794"/>
              <a:ext cx="1407101" cy="1481159"/>
            </a:xfrm>
            <a:prstGeom prst="rect">
              <a:avLst/>
            </a:prstGeom>
          </p:spPr>
        </p:pic>
        <p:pic>
          <p:nvPicPr>
            <p:cNvPr id="46" name="Picture 46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91425B7A-61A3-BED3-617C-C94658A46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8931179" y="3769794"/>
              <a:ext cx="1407101" cy="1481159"/>
            </a:xfrm>
            <a:prstGeom prst="rect">
              <a:avLst/>
            </a:prstGeom>
          </p:spPr>
        </p:pic>
        <p:pic>
          <p:nvPicPr>
            <p:cNvPr id="47" name="Picture 47" descr="A picture containing lighter&#10;&#10;Description automatically generated">
              <a:extLst>
                <a:ext uri="{FF2B5EF4-FFF2-40B4-BE49-F238E27FC236}">
                  <a16:creationId xmlns:a16="http://schemas.microsoft.com/office/drawing/2014/main" id="{6D9B80F0-3969-6B80-2B39-552FDBEE3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8"/>
                </a:ext>
              </a:extLst>
            </a:blip>
            <a:stretch>
              <a:fillRect/>
            </a:stretch>
          </p:blipFill>
          <p:spPr>
            <a:xfrm>
              <a:off x="9739796" y="3769794"/>
              <a:ext cx="1407101" cy="1481159"/>
            </a:xfrm>
            <a:prstGeom prst="rect">
              <a:avLst/>
            </a:prstGeom>
          </p:spPr>
        </p:pic>
      </p:grpSp>
      <p:sp>
        <p:nvSpPr>
          <p:cNvPr id="48" name="TextBox 13">
            <a:extLst>
              <a:ext uri="{FF2B5EF4-FFF2-40B4-BE49-F238E27FC236}">
                <a16:creationId xmlns:a16="http://schemas.microsoft.com/office/drawing/2014/main" id="{7AEDCF0C-DEBE-C8E4-FC0A-04F3204A55CD}"/>
              </a:ext>
            </a:extLst>
          </p:cNvPr>
          <p:cNvSpPr txBox="1"/>
          <p:nvPr/>
        </p:nvSpPr>
        <p:spPr>
          <a:xfrm>
            <a:off x="250613" y="3229441"/>
            <a:ext cx="2811888" cy="742117"/>
          </a:xfrm>
          <a:prstGeom prst="roundRect">
            <a:avLst>
              <a:gd name="adj" fmla="val 8239"/>
            </a:avLst>
          </a:prstGeom>
          <a:noFill/>
          <a:ln w="28575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CN" sz="2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问题</a:t>
            </a:r>
            <a:r>
              <a:rPr lang="en-US" altLang="zh-CN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：如何预测</a:t>
            </a:r>
            <a:r>
              <a:rPr lang="zh-CN" altLang="en-US" sz="20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模型训练时间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9" name="TextBox 16">
            <a:extLst>
              <a:ext uri="{FF2B5EF4-FFF2-40B4-BE49-F238E27FC236}">
                <a16:creationId xmlns:a16="http://schemas.microsoft.com/office/drawing/2014/main" id="{3E31515D-B6F4-9549-0BD2-8E0D043E2A15}"/>
              </a:ext>
            </a:extLst>
          </p:cNvPr>
          <p:cNvSpPr txBox="1"/>
          <p:nvPr/>
        </p:nvSpPr>
        <p:spPr>
          <a:xfrm>
            <a:off x="9020944" y="2668363"/>
            <a:ext cx="3007354" cy="735270"/>
          </a:xfrm>
          <a:prstGeom prst="roundRect">
            <a:avLst>
              <a:gd name="adj" fmla="val 7331"/>
            </a:avLst>
          </a:prstGeom>
          <a:noFill/>
          <a:ln w="28575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CN" sz="2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问题</a:t>
            </a:r>
            <a:r>
              <a:rPr lang="en-US" altLang="zh-CN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：如何快速找到高效的分布式</a:t>
            </a:r>
            <a:r>
              <a:rPr lang="zh-CN" altLang="en-US" sz="20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训练方案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0" name="TextBox 18">
            <a:extLst>
              <a:ext uri="{FF2B5EF4-FFF2-40B4-BE49-F238E27FC236}">
                <a16:creationId xmlns:a16="http://schemas.microsoft.com/office/drawing/2014/main" id="{C68EE3CA-E526-0180-639B-ED8352218972}"/>
              </a:ext>
            </a:extLst>
          </p:cNvPr>
          <p:cNvSpPr txBox="1"/>
          <p:nvPr/>
        </p:nvSpPr>
        <p:spPr>
          <a:xfrm>
            <a:off x="250613" y="4385769"/>
            <a:ext cx="2811887" cy="735270"/>
          </a:xfrm>
          <a:prstGeom prst="roundRect">
            <a:avLst>
              <a:gd name="adj" fmla="val 7331"/>
            </a:avLst>
          </a:prstGeom>
          <a:noFill/>
          <a:ln w="28575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CN" sz="2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问题</a:t>
            </a:r>
            <a:r>
              <a:rPr lang="en-US" altLang="zh-CN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：如何降低分布式训练的</a:t>
            </a:r>
            <a:r>
              <a:rPr lang="zh-CN" altLang="en-US" sz="20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故障恢复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开销？</a:t>
            </a:r>
            <a:endParaRPr lang="en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1" name="Graphic 123" descr="Close with solid fill">
            <a:extLst>
              <a:ext uri="{FF2B5EF4-FFF2-40B4-BE49-F238E27FC236}">
                <a16:creationId xmlns:a16="http://schemas.microsoft.com/office/drawing/2014/main" id="{22F7F64C-401E-9839-BCFC-6526915F3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38805" y="4826007"/>
            <a:ext cx="701599" cy="701599"/>
          </a:xfrm>
          <a:prstGeom prst="rect">
            <a:avLst/>
          </a:prstGeom>
        </p:spPr>
      </p:pic>
      <p:sp>
        <p:nvSpPr>
          <p:cNvPr id="52" name="Rounded Rectangle 138">
            <a:extLst>
              <a:ext uri="{FF2B5EF4-FFF2-40B4-BE49-F238E27FC236}">
                <a16:creationId xmlns:a16="http://schemas.microsoft.com/office/drawing/2014/main" id="{DD376E7F-9AB8-09B2-DD32-6BADB66ECC1B}"/>
              </a:ext>
            </a:extLst>
          </p:cNvPr>
          <p:cNvSpPr/>
          <p:nvPr/>
        </p:nvSpPr>
        <p:spPr>
          <a:xfrm>
            <a:off x="3277376" y="3997052"/>
            <a:ext cx="5537178" cy="1446885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73">
            <a:extLst>
              <a:ext uri="{FF2B5EF4-FFF2-40B4-BE49-F238E27FC236}">
                <a16:creationId xmlns:a16="http://schemas.microsoft.com/office/drawing/2014/main" id="{5B9E6CDB-3EDE-D723-DCB1-798D4D0772A8}"/>
              </a:ext>
            </a:extLst>
          </p:cNvPr>
          <p:cNvSpPr txBox="1"/>
          <p:nvPr/>
        </p:nvSpPr>
        <p:spPr>
          <a:xfrm>
            <a:off x="3623166" y="5055307"/>
            <a:ext cx="5030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研究工作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③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：</a:t>
            </a:r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LivePipe</a:t>
            </a: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 分布式弹性训练系统</a:t>
            </a:r>
            <a:endParaRPr lang="en-CN" b="1" dirty="0"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54" name="Group 110">
            <a:extLst>
              <a:ext uri="{FF2B5EF4-FFF2-40B4-BE49-F238E27FC236}">
                <a16:creationId xmlns:a16="http://schemas.microsoft.com/office/drawing/2014/main" id="{3B977106-CC7C-DCE8-E7D3-E73C5996C9A4}"/>
              </a:ext>
            </a:extLst>
          </p:cNvPr>
          <p:cNvGrpSpPr/>
          <p:nvPr/>
        </p:nvGrpSpPr>
        <p:grpSpPr>
          <a:xfrm>
            <a:off x="3666541" y="4136959"/>
            <a:ext cx="4775323" cy="879457"/>
            <a:chOff x="3454474" y="4176166"/>
            <a:chExt cx="4775323" cy="879457"/>
          </a:xfrm>
        </p:grpSpPr>
        <p:sp>
          <p:nvSpPr>
            <p:cNvPr id="55" name="Rounded Rectangle 105">
              <a:extLst>
                <a:ext uri="{FF2B5EF4-FFF2-40B4-BE49-F238E27FC236}">
                  <a16:creationId xmlns:a16="http://schemas.microsoft.com/office/drawing/2014/main" id="{2BB92E83-BFD9-CB98-477F-52B7FE2574FB}"/>
                </a:ext>
              </a:extLst>
            </p:cNvPr>
            <p:cNvSpPr/>
            <p:nvPr/>
          </p:nvSpPr>
          <p:spPr>
            <a:xfrm>
              <a:off x="3454474" y="4176166"/>
              <a:ext cx="4775323" cy="879457"/>
            </a:xfrm>
            <a:prstGeom prst="roundRect">
              <a:avLst>
                <a:gd name="adj" fmla="val 1038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4659E21-00CA-C6A3-E12A-0D54F83C83AB}"/>
                </a:ext>
              </a:extLst>
            </p:cNvPr>
            <p:cNvGrpSpPr/>
            <p:nvPr/>
          </p:nvGrpSpPr>
          <p:grpSpPr>
            <a:xfrm>
              <a:off x="5836665" y="4253086"/>
              <a:ext cx="2217784" cy="707886"/>
              <a:chOff x="7490085" y="4924036"/>
              <a:chExt cx="2217784" cy="707886"/>
            </a:xfrm>
          </p:grpSpPr>
          <p:pic>
            <p:nvPicPr>
              <p:cNvPr id="57" name="Graphic 28" descr="Network with solid fill">
                <a:extLst>
                  <a:ext uri="{FF2B5EF4-FFF2-40B4-BE49-F238E27FC236}">
                    <a16:creationId xmlns:a16="http://schemas.microsoft.com/office/drawing/2014/main" id="{36B52EDA-43CC-E480-1452-ADB539D29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490085" y="4930678"/>
                <a:ext cx="685461" cy="685461"/>
              </a:xfrm>
              <a:prstGeom prst="rect">
                <a:avLst/>
              </a:prstGeom>
            </p:spPr>
          </p:pic>
          <p:sp>
            <p:nvSpPr>
              <p:cNvPr id="58" name="TextBox 54">
                <a:extLst>
                  <a:ext uri="{FF2B5EF4-FFF2-40B4-BE49-F238E27FC236}">
                    <a16:creationId xmlns:a16="http://schemas.microsoft.com/office/drawing/2014/main" id="{3A3F6E89-00A5-ACEC-1D1B-D2F22CAD21C3}"/>
                  </a:ext>
                </a:extLst>
              </p:cNvPr>
              <p:cNvSpPr txBox="1"/>
              <p:nvPr/>
            </p:nvSpPr>
            <p:spPr>
              <a:xfrm>
                <a:off x="8141992" y="4924036"/>
                <a:ext cx="156587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CN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分布式</a:t>
                </a:r>
                <a:r>
                  <a:rPr lang="zh-CN" altLang="en-US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训练</a:t>
                </a:r>
                <a:endParaRPr lang="en-US" altLang="zh-CN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endParaRPr>
              </a:p>
              <a:p>
                <a:pPr algn="ctr"/>
                <a:r>
                  <a:rPr lang="zh-CN" altLang="en-US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运行时系统</a:t>
                </a:r>
                <a:endParaRPr lang="en-CN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59" name="Group 111">
            <a:extLst>
              <a:ext uri="{FF2B5EF4-FFF2-40B4-BE49-F238E27FC236}">
                <a16:creationId xmlns:a16="http://schemas.microsoft.com/office/drawing/2014/main" id="{35478CB3-3BDA-E899-F75B-7428AB505A77}"/>
              </a:ext>
            </a:extLst>
          </p:cNvPr>
          <p:cNvGrpSpPr/>
          <p:nvPr/>
        </p:nvGrpSpPr>
        <p:grpSpPr>
          <a:xfrm>
            <a:off x="3804714" y="4172233"/>
            <a:ext cx="1937664" cy="786746"/>
            <a:chOff x="3771987" y="5065686"/>
            <a:chExt cx="1937664" cy="786746"/>
          </a:xfrm>
        </p:grpSpPr>
        <p:grpSp>
          <p:nvGrpSpPr>
            <p:cNvPr id="60" name="Group 82">
              <a:extLst>
                <a:ext uri="{FF2B5EF4-FFF2-40B4-BE49-F238E27FC236}">
                  <a16:creationId xmlns:a16="http://schemas.microsoft.com/office/drawing/2014/main" id="{AA5BD86A-2CBA-FD76-A1FA-3C09AD9F3D68}"/>
                </a:ext>
              </a:extLst>
            </p:cNvPr>
            <p:cNvGrpSpPr/>
            <p:nvPr/>
          </p:nvGrpSpPr>
          <p:grpSpPr>
            <a:xfrm>
              <a:off x="3800857" y="5111858"/>
              <a:ext cx="1908794" cy="740574"/>
              <a:chOff x="5959263" y="4904627"/>
              <a:chExt cx="1908794" cy="740574"/>
            </a:xfrm>
          </p:grpSpPr>
          <p:sp>
            <p:nvSpPr>
              <p:cNvPr id="62" name="Rounded Rectangle 81">
                <a:extLst>
                  <a:ext uri="{FF2B5EF4-FFF2-40B4-BE49-F238E27FC236}">
                    <a16:creationId xmlns:a16="http://schemas.microsoft.com/office/drawing/2014/main" id="{F8132B19-E04F-ED04-6BC1-0759C53BF148}"/>
                  </a:ext>
                </a:extLst>
              </p:cNvPr>
              <p:cNvSpPr/>
              <p:nvPr/>
            </p:nvSpPr>
            <p:spPr>
              <a:xfrm>
                <a:off x="5959263" y="4904627"/>
                <a:ext cx="1908794" cy="716588"/>
              </a:xfrm>
              <a:prstGeom prst="roundRect">
                <a:avLst>
                  <a:gd name="adj" fmla="val 1038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63" name="TextBox 70">
                <a:extLst>
                  <a:ext uri="{FF2B5EF4-FFF2-40B4-BE49-F238E27FC236}">
                    <a16:creationId xmlns:a16="http://schemas.microsoft.com/office/drawing/2014/main" id="{8CB39E31-D43C-ED8D-281E-735CED1A2C23}"/>
                  </a:ext>
                </a:extLst>
              </p:cNvPr>
              <p:cNvSpPr txBox="1"/>
              <p:nvPr/>
            </p:nvSpPr>
            <p:spPr>
              <a:xfrm>
                <a:off x="6548110" y="4937315"/>
                <a:ext cx="131994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CN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自动</a:t>
                </a:r>
                <a:r>
                  <a:rPr lang="zh-CN" altLang="en-US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伸缩</a:t>
                </a:r>
                <a:endParaRPr lang="en-US" altLang="zh-CN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endParaRPr>
              </a:p>
              <a:p>
                <a:pPr algn="ctr"/>
                <a:r>
                  <a:rPr lang="zh-CN" altLang="en-US" sz="2000" b="1" dirty="0"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Calibri" panose="020F0502020204030204" pitchFamily="34" charset="0"/>
                  </a:rPr>
                  <a:t>机制</a:t>
                </a:r>
                <a:endParaRPr lang="en-CN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endParaRPr>
              </a:p>
            </p:txBody>
          </p:sp>
          <p:pic>
            <p:nvPicPr>
              <p:cNvPr id="64" name="Graphic 71" descr="Tools with solid fill">
                <a:extLst>
                  <a:ext uri="{FF2B5EF4-FFF2-40B4-BE49-F238E27FC236}">
                    <a16:creationId xmlns:a16="http://schemas.microsoft.com/office/drawing/2014/main" id="{DD91EE34-C67B-FBF5-33D1-7A8906F8B7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085243" y="4985128"/>
                <a:ext cx="551959" cy="551959"/>
              </a:xfrm>
              <a:prstGeom prst="rect">
                <a:avLst/>
              </a:prstGeom>
            </p:spPr>
          </p:pic>
        </p:grpSp>
        <p:sp>
          <p:nvSpPr>
            <p:cNvPr id="61" name="TextBox 98">
              <a:extLst>
                <a:ext uri="{FF2B5EF4-FFF2-40B4-BE49-F238E27FC236}">
                  <a16:creationId xmlns:a16="http://schemas.microsoft.com/office/drawing/2014/main" id="{C26A7EDB-1E71-6DBF-2E06-A639971F7A4E}"/>
                </a:ext>
              </a:extLst>
            </p:cNvPr>
            <p:cNvSpPr txBox="1"/>
            <p:nvPr/>
          </p:nvSpPr>
          <p:spPr>
            <a:xfrm>
              <a:off x="3771987" y="506568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  </a:t>
              </a:r>
              <a:endParaRPr lang="en-CN" dirty="0"/>
            </a:p>
          </p:txBody>
        </p:sp>
      </p:grpSp>
      <p:sp>
        <p:nvSpPr>
          <p:cNvPr id="65" name="Rounded Rectangle 139">
            <a:extLst>
              <a:ext uri="{FF2B5EF4-FFF2-40B4-BE49-F238E27FC236}">
                <a16:creationId xmlns:a16="http://schemas.microsoft.com/office/drawing/2014/main" id="{8F5F87B7-9CC4-260A-A0E3-8F6FAD83496F}"/>
              </a:ext>
            </a:extLst>
          </p:cNvPr>
          <p:cNvSpPr/>
          <p:nvPr/>
        </p:nvSpPr>
        <p:spPr>
          <a:xfrm>
            <a:off x="6117972" y="2322810"/>
            <a:ext cx="2696582" cy="1559252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6" name="TextBox 38">
            <a:extLst>
              <a:ext uri="{FF2B5EF4-FFF2-40B4-BE49-F238E27FC236}">
                <a16:creationId xmlns:a16="http://schemas.microsoft.com/office/drawing/2014/main" id="{DA811678-CBEF-A5C6-A267-F48849E485D4}"/>
              </a:ext>
            </a:extLst>
          </p:cNvPr>
          <p:cNvSpPr txBox="1"/>
          <p:nvPr/>
        </p:nvSpPr>
        <p:spPr>
          <a:xfrm>
            <a:off x="6086555" y="2378146"/>
            <a:ext cx="2740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研究工作</a:t>
            </a:r>
            <a:r>
              <a:rPr lang="en-US" altLang="zh-CN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②</a:t>
            </a:r>
            <a:r>
              <a:rPr lang="zh-CN" altLang="en-US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Aceso</a:t>
            </a:r>
          </a:p>
          <a:p>
            <a:pPr algn="ctr"/>
            <a:r>
              <a:rPr lang="zh-CN" altLang="en-US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分布式训练自动并行系统</a:t>
            </a:r>
            <a:endParaRPr lang="en-CN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67" name="Group 109">
            <a:extLst>
              <a:ext uri="{FF2B5EF4-FFF2-40B4-BE49-F238E27FC236}">
                <a16:creationId xmlns:a16="http://schemas.microsoft.com/office/drawing/2014/main" id="{617AF4AF-9F8D-3008-5AB6-CFD2147FDD0C}"/>
              </a:ext>
            </a:extLst>
          </p:cNvPr>
          <p:cNvGrpSpPr/>
          <p:nvPr/>
        </p:nvGrpSpPr>
        <p:grpSpPr>
          <a:xfrm>
            <a:off x="6517280" y="3050757"/>
            <a:ext cx="1924403" cy="717878"/>
            <a:chOff x="3797948" y="3245159"/>
            <a:chExt cx="1924403" cy="717878"/>
          </a:xfrm>
        </p:grpSpPr>
        <p:sp>
          <p:nvSpPr>
            <p:cNvPr id="68" name="TextBox 96">
              <a:extLst>
                <a:ext uri="{FF2B5EF4-FFF2-40B4-BE49-F238E27FC236}">
                  <a16:creationId xmlns:a16="http://schemas.microsoft.com/office/drawing/2014/main" id="{1DB5871D-4883-68C8-109C-1A68830E6454}"/>
                </a:ext>
              </a:extLst>
            </p:cNvPr>
            <p:cNvSpPr txBox="1"/>
            <p:nvPr/>
          </p:nvSpPr>
          <p:spPr>
            <a:xfrm>
              <a:off x="3797948" y="3581481"/>
              <a:ext cx="3722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   </a:t>
              </a:r>
              <a:endParaRPr lang="en-CN" dirty="0"/>
            </a:p>
          </p:txBody>
        </p:sp>
        <p:sp>
          <p:nvSpPr>
            <p:cNvPr id="69" name="Rounded Rectangle 106">
              <a:extLst>
                <a:ext uri="{FF2B5EF4-FFF2-40B4-BE49-F238E27FC236}">
                  <a16:creationId xmlns:a16="http://schemas.microsoft.com/office/drawing/2014/main" id="{DB93426A-162B-FD25-313E-BD8C0665DF31}"/>
                </a:ext>
              </a:extLst>
            </p:cNvPr>
            <p:cNvSpPr/>
            <p:nvPr/>
          </p:nvSpPr>
          <p:spPr>
            <a:xfrm>
              <a:off x="3813557" y="3246449"/>
              <a:ext cx="1908794" cy="716588"/>
            </a:xfrm>
            <a:prstGeom prst="roundRect">
              <a:avLst>
                <a:gd name="adj" fmla="val 1038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0" name="Graphic 21" descr="Left Brain with solid fill">
              <a:extLst>
                <a:ext uri="{FF2B5EF4-FFF2-40B4-BE49-F238E27FC236}">
                  <a16:creationId xmlns:a16="http://schemas.microsoft.com/office/drawing/2014/main" id="{A53B51B6-C63C-485D-28EF-D273EADEB3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87609" y="3269076"/>
              <a:ext cx="671334" cy="671334"/>
            </a:xfrm>
            <a:prstGeom prst="rect">
              <a:avLst/>
            </a:prstGeom>
          </p:spPr>
        </p:pic>
        <p:sp>
          <p:nvSpPr>
            <p:cNvPr id="71" name="TextBox 64">
              <a:extLst>
                <a:ext uri="{FF2B5EF4-FFF2-40B4-BE49-F238E27FC236}">
                  <a16:creationId xmlns:a16="http://schemas.microsoft.com/office/drawing/2014/main" id="{8545A806-E2D8-218F-27E4-641B7968809C}"/>
                </a:ext>
              </a:extLst>
            </p:cNvPr>
            <p:cNvSpPr txBox="1"/>
            <p:nvPr/>
          </p:nvSpPr>
          <p:spPr>
            <a:xfrm>
              <a:off x="4389704" y="3245159"/>
              <a:ext cx="1319947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rPr>
                <a:t>并行方案搜索算法</a:t>
              </a:r>
              <a:endParaRPr lang="en-CN" sz="20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72" name="Right Arrow 137">
            <a:extLst>
              <a:ext uri="{FF2B5EF4-FFF2-40B4-BE49-F238E27FC236}">
                <a16:creationId xmlns:a16="http://schemas.microsoft.com/office/drawing/2014/main" id="{2C02C5C8-5CC7-6E26-38CF-5FD56DDEFCBC}"/>
              </a:ext>
            </a:extLst>
          </p:cNvPr>
          <p:cNvSpPr/>
          <p:nvPr/>
        </p:nvSpPr>
        <p:spPr>
          <a:xfrm rot="5400000">
            <a:off x="7321970" y="3771844"/>
            <a:ext cx="379603" cy="373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73" name="Elbow Connector 124">
            <a:extLst>
              <a:ext uri="{FF2B5EF4-FFF2-40B4-BE49-F238E27FC236}">
                <a16:creationId xmlns:a16="http://schemas.microsoft.com/office/drawing/2014/main" id="{3B96FE59-3CEC-4FA6-C00D-800A039ED502}"/>
              </a:ext>
            </a:extLst>
          </p:cNvPr>
          <p:cNvCxnSpPr>
            <a:cxnSpLocks/>
            <a:stCxn id="62" idx="1"/>
            <a:endCxn id="51" idx="2"/>
          </p:cNvCxnSpPr>
          <p:nvPr/>
        </p:nvCxnSpPr>
        <p:spPr>
          <a:xfrm rot="10800000" flipH="1" flipV="1">
            <a:off x="3833583" y="4576698"/>
            <a:ext cx="6056021" cy="950907"/>
          </a:xfrm>
          <a:prstGeom prst="bentConnector4">
            <a:avLst>
              <a:gd name="adj1" fmla="val -8325"/>
              <a:gd name="adj2" fmla="val 143799"/>
            </a:avLst>
          </a:prstGeom>
          <a:ln w="57150"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ight Arrow 62">
            <a:extLst>
              <a:ext uri="{FF2B5EF4-FFF2-40B4-BE49-F238E27FC236}">
                <a16:creationId xmlns:a16="http://schemas.microsoft.com/office/drawing/2014/main" id="{ED2D27C4-ECC4-258E-F6C2-44957E1191F7}"/>
              </a:ext>
            </a:extLst>
          </p:cNvPr>
          <p:cNvSpPr/>
          <p:nvPr/>
        </p:nvSpPr>
        <p:spPr>
          <a:xfrm rot="8274341">
            <a:off x="5708826" y="3820791"/>
            <a:ext cx="803944" cy="357498"/>
          </a:xfrm>
          <a:prstGeom prst="rightArrow">
            <a:avLst>
              <a:gd name="adj1" fmla="val 4084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5" name="TextBox 144">
            <a:extLst>
              <a:ext uri="{FF2B5EF4-FFF2-40B4-BE49-F238E27FC236}">
                <a16:creationId xmlns:a16="http://schemas.microsoft.com/office/drawing/2014/main" id="{B44F5498-F649-E2F2-84FE-E32EC2BCBF6D}"/>
              </a:ext>
            </a:extLst>
          </p:cNvPr>
          <p:cNvSpPr txBox="1"/>
          <p:nvPr/>
        </p:nvSpPr>
        <p:spPr>
          <a:xfrm>
            <a:off x="3644877" y="1703159"/>
            <a:ext cx="5376067" cy="419457"/>
          </a:xfrm>
          <a:prstGeom prst="roundRect">
            <a:avLst>
              <a:gd name="adj" fmla="val 8239"/>
            </a:avLst>
          </a:prstGeom>
          <a:noFill/>
          <a:ln w="28575">
            <a:noFill/>
            <a:prstDash val="sysDash"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研究目标：</a:t>
            </a:r>
            <a:r>
              <a:rPr lang="en-CN" sz="2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高性能分布式</a:t>
            </a:r>
            <a:r>
              <a:rPr lang="zh-CN" altLang="en-US" sz="2000" b="1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大模型训练</a:t>
            </a:r>
            <a:r>
              <a:rPr lang="en-CN" sz="2000" b="1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系统</a:t>
            </a:r>
            <a:endParaRPr lang="en-CN" sz="2000" b="1" dirty="0">
              <a:solidFill>
                <a:schemeClr val="accent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6" name="Right Arrow 148">
            <a:extLst>
              <a:ext uri="{FF2B5EF4-FFF2-40B4-BE49-F238E27FC236}">
                <a16:creationId xmlns:a16="http://schemas.microsoft.com/office/drawing/2014/main" id="{479F5780-5706-52BB-70ED-3F0FAB49F059}"/>
              </a:ext>
            </a:extLst>
          </p:cNvPr>
          <p:cNvSpPr/>
          <p:nvPr/>
        </p:nvSpPr>
        <p:spPr>
          <a:xfrm>
            <a:off x="8567844" y="4578797"/>
            <a:ext cx="963271" cy="371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7" name="Rounded Rectangle 152">
            <a:extLst>
              <a:ext uri="{FF2B5EF4-FFF2-40B4-BE49-F238E27FC236}">
                <a16:creationId xmlns:a16="http://schemas.microsoft.com/office/drawing/2014/main" id="{7C92C980-1487-7C01-19F7-A45A01A1A4D8}"/>
              </a:ext>
            </a:extLst>
          </p:cNvPr>
          <p:cNvSpPr/>
          <p:nvPr/>
        </p:nvSpPr>
        <p:spPr>
          <a:xfrm>
            <a:off x="3287893" y="2324378"/>
            <a:ext cx="2696582" cy="1559252"/>
          </a:xfrm>
          <a:prstGeom prst="roundRect">
            <a:avLst>
              <a:gd name="adj" fmla="val 5900"/>
            </a:avLst>
          </a:prstGeom>
          <a:solidFill>
            <a:schemeClr val="bg1"/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8" name="TextBox 36">
            <a:extLst>
              <a:ext uri="{FF2B5EF4-FFF2-40B4-BE49-F238E27FC236}">
                <a16:creationId xmlns:a16="http://schemas.microsoft.com/office/drawing/2014/main" id="{3ECB3732-98D2-6E1B-7483-C35C3D560D7A}"/>
              </a:ext>
            </a:extLst>
          </p:cNvPr>
          <p:cNvSpPr txBox="1"/>
          <p:nvPr/>
        </p:nvSpPr>
        <p:spPr>
          <a:xfrm>
            <a:off x="3399640" y="2370804"/>
            <a:ext cx="2512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研究工作</a:t>
            </a:r>
            <a:r>
              <a:rPr lang="en-US" altLang="zh-CN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①</a:t>
            </a:r>
            <a:r>
              <a:rPr lang="zh-CN" altLang="en-US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SEER</a:t>
            </a:r>
          </a:p>
          <a:p>
            <a:pPr algn="ctr"/>
            <a:r>
              <a:rPr lang="en-CN" b="1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rPr>
              <a:t>神经网络时间预测模型</a:t>
            </a:r>
            <a:endParaRPr lang="en-CN" b="1" dirty="0">
              <a:solidFill>
                <a:schemeClr val="tx1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79" name="Group 108">
            <a:extLst>
              <a:ext uri="{FF2B5EF4-FFF2-40B4-BE49-F238E27FC236}">
                <a16:creationId xmlns:a16="http://schemas.microsoft.com/office/drawing/2014/main" id="{F7936085-F476-E7A2-420D-0080AFDE2A5F}"/>
              </a:ext>
            </a:extLst>
          </p:cNvPr>
          <p:cNvGrpSpPr/>
          <p:nvPr/>
        </p:nvGrpSpPr>
        <p:grpSpPr>
          <a:xfrm>
            <a:off x="3666541" y="3045339"/>
            <a:ext cx="1908794" cy="716588"/>
            <a:chOff x="3800857" y="2111053"/>
            <a:chExt cx="1908794" cy="716588"/>
          </a:xfrm>
        </p:grpSpPr>
        <p:sp>
          <p:nvSpPr>
            <p:cNvPr id="80" name="Rounded Rectangle 107">
              <a:extLst>
                <a:ext uri="{FF2B5EF4-FFF2-40B4-BE49-F238E27FC236}">
                  <a16:creationId xmlns:a16="http://schemas.microsoft.com/office/drawing/2014/main" id="{3D1C5E29-1741-DF3B-0E06-3EC8897AEA19}"/>
                </a:ext>
              </a:extLst>
            </p:cNvPr>
            <p:cNvSpPr/>
            <p:nvPr/>
          </p:nvSpPr>
          <p:spPr>
            <a:xfrm>
              <a:off x="3800857" y="2111053"/>
              <a:ext cx="1908794" cy="716588"/>
            </a:xfrm>
            <a:prstGeom prst="roundRect">
              <a:avLst>
                <a:gd name="adj" fmla="val 1038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81" name="Graphic 11" descr="Calculator with solid fill">
              <a:extLst>
                <a:ext uri="{FF2B5EF4-FFF2-40B4-BE49-F238E27FC236}">
                  <a16:creationId xmlns:a16="http://schemas.microsoft.com/office/drawing/2014/main" id="{31C48E6A-1476-C839-0A27-5ABC1AAC49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04951" y="2184463"/>
              <a:ext cx="552698" cy="552698"/>
            </a:xfrm>
            <a:prstGeom prst="rect">
              <a:avLst/>
            </a:prstGeom>
          </p:spPr>
        </p:pic>
        <p:sp>
          <p:nvSpPr>
            <p:cNvPr id="82" name="TextBox 80">
              <a:extLst>
                <a:ext uri="{FF2B5EF4-FFF2-40B4-BE49-F238E27FC236}">
                  <a16:creationId xmlns:a16="http://schemas.microsoft.com/office/drawing/2014/main" id="{C3B958A5-E8D9-18EF-1052-41D609433537}"/>
                </a:ext>
              </a:extLst>
            </p:cNvPr>
            <p:cNvSpPr txBox="1"/>
            <p:nvPr/>
          </p:nvSpPr>
          <p:spPr>
            <a:xfrm>
              <a:off x="4376594" y="2249878"/>
              <a:ext cx="131994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CN" sz="2000" b="1" dirty="0">
                  <a:latin typeface="Microsoft YaHei UI" panose="020B0503020204020204" pitchFamily="34" charset="-122"/>
                  <a:ea typeface="Microsoft YaHei UI" panose="020B0503020204020204" pitchFamily="34" charset="-122"/>
                  <a:cs typeface="Calibri" panose="020F0502020204030204" pitchFamily="34" charset="0"/>
                </a:rPr>
                <a:t>性能模型</a:t>
              </a:r>
              <a:endParaRPr lang="en-CN" sz="2000" b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Calibri" panose="020F0502020204030204" pitchFamily="34" charset="0"/>
              </a:endParaRPr>
            </a:p>
          </p:txBody>
        </p:sp>
      </p:grpSp>
      <p:sp>
        <p:nvSpPr>
          <p:cNvPr id="83" name="Right Arrow 61">
            <a:extLst>
              <a:ext uri="{FF2B5EF4-FFF2-40B4-BE49-F238E27FC236}">
                <a16:creationId xmlns:a16="http://schemas.microsoft.com/office/drawing/2014/main" id="{F82070E8-C001-46FC-0912-551A1BDD7198}"/>
              </a:ext>
            </a:extLst>
          </p:cNvPr>
          <p:cNvSpPr/>
          <p:nvPr/>
        </p:nvSpPr>
        <p:spPr>
          <a:xfrm>
            <a:off x="5661913" y="3207330"/>
            <a:ext cx="725900" cy="373190"/>
          </a:xfrm>
          <a:prstGeom prst="rightArrow">
            <a:avLst>
              <a:gd name="adj1" fmla="val 44234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4" name="Right Arrow 25">
            <a:extLst>
              <a:ext uri="{FF2B5EF4-FFF2-40B4-BE49-F238E27FC236}">
                <a16:creationId xmlns:a16="http://schemas.microsoft.com/office/drawing/2014/main" id="{7601DB39-14C6-0A8E-8097-4404FBAABE85}"/>
              </a:ext>
            </a:extLst>
          </p:cNvPr>
          <p:cNvSpPr/>
          <p:nvPr/>
        </p:nvSpPr>
        <p:spPr>
          <a:xfrm>
            <a:off x="2268754" y="2419145"/>
            <a:ext cx="1028806" cy="3714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0835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2" grpId="0" animBg="1"/>
      <p:bldP spid="53" grpId="0"/>
      <p:bldP spid="65" grpId="0" animBg="1"/>
      <p:bldP spid="65" grpId="1" animBg="1"/>
      <p:bldP spid="66" grpId="0"/>
      <p:bldP spid="72" grpId="0" animBg="1"/>
      <p:bldP spid="74" grpId="0" animBg="1"/>
      <p:bldP spid="77" grpId="0" animBg="1"/>
      <p:bldP spid="78" grpId="0"/>
      <p:bldP spid="8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" y="848"/>
            <a:ext cx="36957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8" name="Rectangle 3"/>
          <p:cNvSpPr txBox="1"/>
          <p:nvPr/>
        </p:nvSpPr>
        <p:spPr>
          <a:xfrm>
            <a:off x="793328" y="2755903"/>
            <a:ext cx="2108201" cy="7493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733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37" name="六边形 36"/>
          <p:cNvSpPr/>
          <p:nvPr/>
        </p:nvSpPr>
        <p:spPr>
          <a:xfrm rot="5400000">
            <a:off x="1092202" y="2478193"/>
            <a:ext cx="1511300" cy="1303867"/>
          </a:xfrm>
          <a:prstGeom prst="hexagon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50012"/>
                </a:solidFill>
              </a14:hiddenFill>
            </a:ext>
          </a:extLst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1400" kern="0" dirty="0">
              <a:solidFill>
                <a:sysClr val="window" lastClr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B28DF9BE-C194-43EA-A62E-15A49F963DF9}"/>
              </a:ext>
            </a:extLst>
          </p:cNvPr>
          <p:cNvGrpSpPr/>
          <p:nvPr/>
        </p:nvGrpSpPr>
        <p:grpSpPr>
          <a:xfrm>
            <a:off x="5652493" y="351940"/>
            <a:ext cx="5490221" cy="1011002"/>
            <a:chOff x="5656" y="178"/>
            <a:chExt cx="7794" cy="1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561AB59-E006-4216-8ABB-DEFEEC01D424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选题背景及意义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B7F5AD37-1A46-44AE-845E-9D41FA8D782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23FAD5-8037-429A-B8E7-A0EA1AA1E78F}"/>
              </a:ext>
            </a:extLst>
          </p:cNvPr>
          <p:cNvGrpSpPr/>
          <p:nvPr/>
        </p:nvGrpSpPr>
        <p:grpSpPr>
          <a:xfrm>
            <a:off x="5007232" y="777037"/>
            <a:ext cx="653651" cy="748201"/>
            <a:chOff x="1111669" y="3089259"/>
            <a:chExt cx="591868" cy="676010"/>
          </a:xfrm>
        </p:grpSpPr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B59A5391-F1C8-4A06-AA76-178528B20878}"/>
                </a:ext>
              </a:extLst>
            </p:cNvPr>
            <p:cNvSpPr/>
            <p:nvPr/>
          </p:nvSpPr>
          <p:spPr>
            <a:xfrm rot="5400000">
              <a:off x="1065801" y="3135127"/>
              <a:ext cx="676010" cy="584273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CA954729-CD26-48F8-91AC-BC64D00E06E3}"/>
                </a:ext>
              </a:extLst>
            </p:cNvPr>
            <p:cNvSpPr txBox="1"/>
            <p:nvPr/>
          </p:nvSpPr>
          <p:spPr>
            <a:xfrm>
              <a:off x="1124476" y="3192846"/>
              <a:ext cx="579061" cy="45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rgbClr val="FFFFFF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2403960-E819-8BEA-09B3-08583F5A2231}"/>
              </a:ext>
            </a:extLst>
          </p:cNvPr>
          <p:cNvGrpSpPr/>
          <p:nvPr/>
        </p:nvGrpSpPr>
        <p:grpSpPr>
          <a:xfrm>
            <a:off x="5652496" y="2012812"/>
            <a:ext cx="5490222" cy="1011001"/>
            <a:chOff x="5656" y="178"/>
            <a:chExt cx="7794" cy="1770"/>
          </a:xfrm>
        </p:grpSpPr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8DD15D-E1CB-FFA9-C380-38A3394B444C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研究目标与研究内容</a:t>
              </a:r>
            </a:p>
          </p:txBody>
        </p:sp>
        <p:sp>
          <p:nvSpPr>
            <p:cNvPr id="47" name="文本框 7">
              <a:extLst>
                <a:ext uri="{FF2B5EF4-FFF2-40B4-BE49-F238E27FC236}">
                  <a16:creationId xmlns:a16="http://schemas.microsoft.com/office/drawing/2014/main" id="{2754986B-5E74-2384-03FC-C8A218444ADD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7">
            <a:extLst>
              <a:ext uri="{FF2B5EF4-FFF2-40B4-BE49-F238E27FC236}">
                <a16:creationId xmlns:a16="http://schemas.microsoft.com/office/drawing/2014/main" id="{6AB853F9-CE8D-B281-9817-28ADEBA0B7AA}"/>
              </a:ext>
            </a:extLst>
          </p:cNvPr>
          <p:cNvGrpSpPr/>
          <p:nvPr/>
        </p:nvGrpSpPr>
        <p:grpSpPr>
          <a:xfrm>
            <a:off x="5007234" y="2437909"/>
            <a:ext cx="653651" cy="748200"/>
            <a:chOff x="1109756" y="3090803"/>
            <a:chExt cx="590677" cy="676392"/>
          </a:xfrm>
        </p:grpSpPr>
        <p:sp>
          <p:nvSpPr>
            <p:cNvPr id="44" name="六边形 8">
              <a:extLst>
                <a:ext uri="{FF2B5EF4-FFF2-40B4-BE49-F238E27FC236}">
                  <a16:creationId xmlns:a16="http://schemas.microsoft.com/office/drawing/2014/main" id="{BE3BBC25-40DD-4C0E-EA99-101937B004B8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5" name="文本框 64">
              <a:extLst>
                <a:ext uri="{FF2B5EF4-FFF2-40B4-BE49-F238E27FC236}">
                  <a16:creationId xmlns:a16="http://schemas.microsoft.com/office/drawing/2014/main" id="{765934B1-9FAB-E038-3883-68E24318150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三</a:t>
              </a:r>
            </a:p>
          </p:txBody>
        </p:sp>
      </p:grpSp>
      <p:grpSp>
        <p:nvGrpSpPr>
          <p:cNvPr id="5126" name="组合 29">
            <a:extLst>
              <a:ext uri="{FF2B5EF4-FFF2-40B4-BE49-F238E27FC236}">
                <a16:creationId xmlns:a16="http://schemas.microsoft.com/office/drawing/2014/main" id="{A0E177E5-A049-3C5C-DBE2-87A04E5DD91B}"/>
              </a:ext>
            </a:extLst>
          </p:cNvPr>
          <p:cNvGrpSpPr/>
          <p:nvPr/>
        </p:nvGrpSpPr>
        <p:grpSpPr>
          <a:xfrm>
            <a:off x="5666691" y="4236570"/>
            <a:ext cx="5490222" cy="1011001"/>
            <a:chOff x="5656" y="178"/>
            <a:chExt cx="7794" cy="1770"/>
          </a:xfrm>
        </p:grpSpPr>
        <p:sp>
          <p:nvSpPr>
            <p:cNvPr id="5130" name="矩形 10">
              <a:extLst>
                <a:ext uri="{FF2B5EF4-FFF2-40B4-BE49-F238E27FC236}">
                  <a16:creationId xmlns:a16="http://schemas.microsoft.com/office/drawing/2014/main" id="{FF83F8C2-DEC9-7321-D971-C6EFF8D1939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已发表论文列表</a:t>
              </a:r>
            </a:p>
          </p:txBody>
        </p:sp>
        <p:sp>
          <p:nvSpPr>
            <p:cNvPr id="5131" name="文本框 7">
              <a:extLst>
                <a:ext uri="{FF2B5EF4-FFF2-40B4-BE49-F238E27FC236}">
                  <a16:creationId xmlns:a16="http://schemas.microsoft.com/office/drawing/2014/main" id="{0FECEB68-FCF5-EE7D-2BD3-1A167DF99623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27" name="组合 7">
            <a:extLst>
              <a:ext uri="{FF2B5EF4-FFF2-40B4-BE49-F238E27FC236}">
                <a16:creationId xmlns:a16="http://schemas.microsoft.com/office/drawing/2014/main" id="{14AED640-8C5A-FC78-EA29-CE13134AC636}"/>
              </a:ext>
            </a:extLst>
          </p:cNvPr>
          <p:cNvGrpSpPr/>
          <p:nvPr/>
        </p:nvGrpSpPr>
        <p:grpSpPr>
          <a:xfrm>
            <a:off x="5021429" y="4661667"/>
            <a:ext cx="653651" cy="748200"/>
            <a:chOff x="1109756" y="3090803"/>
            <a:chExt cx="590677" cy="676392"/>
          </a:xfrm>
        </p:grpSpPr>
        <p:sp>
          <p:nvSpPr>
            <p:cNvPr id="5128" name="六边形 8">
              <a:extLst>
                <a:ext uri="{FF2B5EF4-FFF2-40B4-BE49-F238E27FC236}">
                  <a16:creationId xmlns:a16="http://schemas.microsoft.com/office/drawing/2014/main" id="{2A28B2E5-4F08-BE10-7993-1E50594E19F5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29" name="文本框 64">
              <a:extLst>
                <a:ext uri="{FF2B5EF4-FFF2-40B4-BE49-F238E27FC236}">
                  <a16:creationId xmlns:a16="http://schemas.microsoft.com/office/drawing/2014/main" id="{1382CF0C-BFB4-C4D4-5F07-F7F295C91DDA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四</a:t>
              </a:r>
            </a:p>
          </p:txBody>
        </p:sp>
      </p:grpSp>
      <p:sp>
        <p:nvSpPr>
          <p:cNvPr id="5140" name="Slide Number Placeholder 5139">
            <a:extLst>
              <a:ext uri="{FF2B5EF4-FFF2-40B4-BE49-F238E27FC236}">
                <a16:creationId xmlns:a16="http://schemas.microsoft.com/office/drawing/2014/main" id="{8AC0140B-CD45-37AE-3958-82879EFE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13</a:t>
            </a:fld>
            <a:endParaRPr lang="zh-CN" altLang="en-US"/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C85286B4-90BC-F5B9-8A25-101AC3C1B8B8}"/>
              </a:ext>
            </a:extLst>
          </p:cNvPr>
          <p:cNvGrpSpPr/>
          <p:nvPr/>
        </p:nvGrpSpPr>
        <p:grpSpPr>
          <a:xfrm>
            <a:off x="5652492" y="1185332"/>
            <a:ext cx="5490222" cy="1011001"/>
            <a:chOff x="5656" y="178"/>
            <a:chExt cx="7794" cy="1770"/>
          </a:xfrm>
        </p:grpSpPr>
        <p:sp>
          <p:nvSpPr>
            <p:cNvPr id="3" name="矩形 10">
              <a:extLst>
                <a:ext uri="{FF2B5EF4-FFF2-40B4-BE49-F238E27FC236}">
                  <a16:creationId xmlns:a16="http://schemas.microsoft.com/office/drawing/2014/main" id="{8E9E21FC-1FFD-80A8-DC4B-04F55B8791D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国内外研究现状分析</a:t>
              </a: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1E21349-6198-D562-1769-7ED23D337789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79D02E49-B919-F76B-8792-FF80B2E881AE}"/>
              </a:ext>
            </a:extLst>
          </p:cNvPr>
          <p:cNvGrpSpPr/>
          <p:nvPr/>
        </p:nvGrpSpPr>
        <p:grpSpPr>
          <a:xfrm>
            <a:off x="5007230" y="1610429"/>
            <a:ext cx="653651" cy="748200"/>
            <a:chOff x="1109756" y="3090803"/>
            <a:chExt cx="590677" cy="676392"/>
          </a:xfrm>
        </p:grpSpPr>
        <p:sp>
          <p:nvSpPr>
            <p:cNvPr id="15" name="六边形 8">
              <a:extLst>
                <a:ext uri="{FF2B5EF4-FFF2-40B4-BE49-F238E27FC236}">
                  <a16:creationId xmlns:a16="http://schemas.microsoft.com/office/drawing/2014/main" id="{6847B8B8-6180-27D8-96E9-058E80C002DF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0E3B5C1A-3A3F-AB80-5155-6322EB641D5F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二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0E501-1698-0D28-0A5F-1C87F6E60880}"/>
              </a:ext>
            </a:extLst>
          </p:cNvPr>
          <p:cNvSpPr txBox="1"/>
          <p:nvPr/>
        </p:nvSpPr>
        <p:spPr>
          <a:xfrm>
            <a:off x="6011115" y="3023813"/>
            <a:ext cx="4474302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神经网络时间预测模型研究</a:t>
            </a:r>
            <a:endParaRPr kumimoji="1" lang="en-US" altLang="zh-CN" sz="2400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分布式训练自动并行策略研究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故障场景下的弹性训练研究</a:t>
            </a:r>
          </a:p>
        </p:txBody>
      </p: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9521A93-4728-2783-6F6E-1DB3C28990A5}"/>
              </a:ext>
            </a:extLst>
          </p:cNvPr>
          <p:cNvGrpSpPr/>
          <p:nvPr/>
        </p:nvGrpSpPr>
        <p:grpSpPr>
          <a:xfrm>
            <a:off x="5652492" y="5060443"/>
            <a:ext cx="5490222" cy="1011001"/>
            <a:chOff x="5656" y="178"/>
            <a:chExt cx="7794" cy="1770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33D22EE-D039-3BDD-BEBD-0EB04C925582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评阅后修改情况</a:t>
              </a: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9D2E824D-5486-F8A6-C727-A2D6E3D443C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7">
            <a:extLst>
              <a:ext uri="{FF2B5EF4-FFF2-40B4-BE49-F238E27FC236}">
                <a16:creationId xmlns:a16="http://schemas.microsoft.com/office/drawing/2014/main" id="{52E4006C-5553-A23D-381D-F3319DB878BD}"/>
              </a:ext>
            </a:extLst>
          </p:cNvPr>
          <p:cNvGrpSpPr/>
          <p:nvPr/>
        </p:nvGrpSpPr>
        <p:grpSpPr>
          <a:xfrm>
            <a:off x="5007230" y="5485540"/>
            <a:ext cx="653651" cy="748200"/>
            <a:chOff x="1109756" y="3090803"/>
            <a:chExt cx="590677" cy="676392"/>
          </a:xfrm>
        </p:grpSpPr>
        <p:sp>
          <p:nvSpPr>
            <p:cNvPr id="19" name="六边形 8">
              <a:extLst>
                <a:ext uri="{FF2B5EF4-FFF2-40B4-BE49-F238E27FC236}">
                  <a16:creationId xmlns:a16="http://schemas.microsoft.com/office/drawing/2014/main" id="{3B10208D-B462-07CF-39AD-C4E91CE4DE4E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0" name="文本框 64">
              <a:extLst>
                <a:ext uri="{FF2B5EF4-FFF2-40B4-BE49-F238E27FC236}">
                  <a16:creationId xmlns:a16="http://schemas.microsoft.com/office/drawing/2014/main" id="{99BEE8C7-1684-8A70-4160-61296CEF9FC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683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74D1CEA-CAF1-4035-1599-4DC0342BD886}"/>
              </a:ext>
            </a:extLst>
          </p:cNvPr>
          <p:cNvSpPr txBox="1">
            <a:spLocks/>
          </p:cNvSpPr>
          <p:nvPr/>
        </p:nvSpPr>
        <p:spPr>
          <a:xfrm>
            <a:off x="548280" y="1423710"/>
            <a:ext cx="10515600" cy="1215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核心思想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：算子分类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GPU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算子分为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计算密集型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访存密集型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低利用率型</a:t>
            </a:r>
            <a:endParaRPr lang="en-US" altLang="zh-CN" sz="2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7" descr="图表&#10;&#10;描述已自动生成">
            <a:extLst>
              <a:ext uri="{FF2B5EF4-FFF2-40B4-BE49-F238E27FC236}">
                <a16:creationId xmlns:a16="http://schemas.microsoft.com/office/drawing/2014/main" id="{DDC3E5D8-BF7D-DB8D-A4A5-1B10ADEC3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2742" y="2817714"/>
            <a:ext cx="6770204" cy="2729660"/>
          </a:xfrm>
          <a:prstGeom prst="rect">
            <a:avLst/>
          </a:prstGeom>
        </p:spPr>
      </p:pic>
      <p:cxnSp>
        <p:nvCxnSpPr>
          <p:cNvPr id="10" name="直线连接符 16">
            <a:extLst>
              <a:ext uri="{FF2B5EF4-FFF2-40B4-BE49-F238E27FC236}">
                <a16:creationId xmlns:a16="http://schemas.microsoft.com/office/drawing/2014/main" id="{D5AE12A2-2FC6-C0A2-1F8B-0D13DFC69963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3165032" y="4718998"/>
            <a:ext cx="854811" cy="91773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21">
            <a:extLst>
              <a:ext uri="{FF2B5EF4-FFF2-40B4-BE49-F238E27FC236}">
                <a16:creationId xmlns:a16="http://schemas.microsoft.com/office/drawing/2014/main" id="{ABBE243E-99D1-2B67-A8E5-8774BF92F410}"/>
              </a:ext>
            </a:extLst>
          </p:cNvPr>
          <p:cNvSpPr txBox="1"/>
          <p:nvPr/>
        </p:nvSpPr>
        <p:spPr>
          <a:xfrm>
            <a:off x="2087926" y="5636731"/>
            <a:ext cx="2154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访存密集型</a:t>
            </a:r>
          </a:p>
        </p:txBody>
      </p:sp>
      <p:cxnSp>
        <p:nvCxnSpPr>
          <p:cNvPr id="12" name="直线连接符 23">
            <a:extLst>
              <a:ext uri="{FF2B5EF4-FFF2-40B4-BE49-F238E27FC236}">
                <a16:creationId xmlns:a16="http://schemas.microsoft.com/office/drawing/2014/main" id="{EBE0AA94-F574-4E9E-4653-FACAA8739B5F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7727254" y="4707109"/>
            <a:ext cx="632748" cy="92962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24">
            <a:extLst>
              <a:ext uri="{FF2B5EF4-FFF2-40B4-BE49-F238E27FC236}">
                <a16:creationId xmlns:a16="http://schemas.microsoft.com/office/drawing/2014/main" id="{786909F1-2ACD-BFD3-41FC-D43637EC2E4D}"/>
              </a:ext>
            </a:extLst>
          </p:cNvPr>
          <p:cNvSpPr txBox="1"/>
          <p:nvPr/>
        </p:nvSpPr>
        <p:spPr>
          <a:xfrm>
            <a:off x="7438429" y="5636731"/>
            <a:ext cx="1843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计算密集型</a:t>
            </a:r>
          </a:p>
        </p:txBody>
      </p:sp>
      <p:cxnSp>
        <p:nvCxnSpPr>
          <p:cNvPr id="14" name="直线连接符 31">
            <a:extLst>
              <a:ext uri="{FF2B5EF4-FFF2-40B4-BE49-F238E27FC236}">
                <a16:creationId xmlns:a16="http://schemas.microsoft.com/office/drawing/2014/main" id="{3A1509BE-73DA-BC4F-877E-BCF45C8CDE57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4958304" y="4718998"/>
            <a:ext cx="360939" cy="91773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35">
            <a:extLst>
              <a:ext uri="{FF2B5EF4-FFF2-40B4-BE49-F238E27FC236}">
                <a16:creationId xmlns:a16="http://schemas.microsoft.com/office/drawing/2014/main" id="{4A54924B-74CD-6E93-D4BD-56C408200D9B}"/>
              </a:ext>
            </a:extLst>
          </p:cNvPr>
          <p:cNvSpPr txBox="1"/>
          <p:nvPr/>
        </p:nvSpPr>
        <p:spPr>
          <a:xfrm>
            <a:off x="4138841" y="5636731"/>
            <a:ext cx="2360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低利用率型</a:t>
            </a:r>
            <a:endParaRPr kumimoji="1" lang="en-US" altLang="zh-CN" sz="2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文本框 13">
            <a:extLst>
              <a:ext uri="{FF2B5EF4-FFF2-40B4-BE49-F238E27FC236}">
                <a16:creationId xmlns:a16="http://schemas.microsoft.com/office/drawing/2014/main" id="{27D8CBB5-5B75-A720-C9E7-E02686EF376D}"/>
              </a:ext>
            </a:extLst>
          </p:cNvPr>
          <p:cNvSpPr txBox="1"/>
          <p:nvPr/>
        </p:nvSpPr>
        <p:spPr>
          <a:xfrm>
            <a:off x="4287284" y="2651319"/>
            <a:ext cx="4432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Calibri" panose="020F0502020204030204" pitchFamily="34" charset="0"/>
                <a:cs typeface="Calibri" panose="020F0502020204030204" pitchFamily="34" charset="0"/>
              </a:rPr>
              <a:t>FLOP and DRAM utilization rate and arithmetic Intensity</a:t>
            </a:r>
            <a:endParaRPr kumimoji="1" lang="zh-CN" alt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 20">
            <a:extLst>
              <a:ext uri="{FF2B5EF4-FFF2-40B4-BE49-F238E27FC236}">
                <a16:creationId xmlns:a16="http://schemas.microsoft.com/office/drawing/2014/main" id="{6ED76357-AA3E-D62A-4F40-16B6833A7EDE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神经网络时间预测模型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63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74D1CEA-CAF1-4035-1599-4DC0342BD886}"/>
              </a:ext>
            </a:extLst>
          </p:cNvPr>
          <p:cNvSpPr txBox="1">
            <a:spLocks/>
          </p:cNvSpPr>
          <p:nvPr/>
        </p:nvSpPr>
        <p:spPr>
          <a:xfrm>
            <a:off x="548280" y="1423710"/>
            <a:ext cx="10515600" cy="1215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核心思想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：算子分类</a:t>
            </a:r>
            <a:endParaRPr lang="en-US" altLang="zh-CN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根据每一类算子的程序执行模式，按类别构建性能模型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20">
            <a:extLst>
              <a:ext uri="{FF2B5EF4-FFF2-40B4-BE49-F238E27FC236}">
                <a16:creationId xmlns:a16="http://schemas.microsoft.com/office/drawing/2014/main" id="{6ED76357-AA3E-D62A-4F40-16B6833A7EDE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神经网络时间预测模型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C3B116A-2BE8-5769-B8C7-830FA8195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381" y="2267986"/>
            <a:ext cx="8294478" cy="408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0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26683DB-4144-E02A-4F7B-4D671C688766}"/>
              </a:ext>
            </a:extLst>
          </p:cNvPr>
          <p:cNvSpPr txBox="1">
            <a:spLocks/>
          </p:cNvSpPr>
          <p:nvPr/>
        </p:nvSpPr>
        <p:spPr>
          <a:xfrm>
            <a:off x="647696" y="1582701"/>
            <a:ext cx="10515600" cy="1215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核心思想</a:t>
            </a:r>
            <a:r>
              <a:rPr lang="en-US" altLang="zh-CN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sz="24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：“黑盒”模型与“白盒”模型相结合</a:t>
            </a:r>
            <a:endParaRPr lang="en-US" sz="24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en-US" sz="2000" b="1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分析型模型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基于对神经网络功能的分析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，构建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静态指标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的模型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学习型模型：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基于历史数据学习</a:t>
            </a:r>
            <a:r>
              <a:rPr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动态指标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的模型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矩形 3" descr="White Box">
            <a:extLst>
              <a:ext uri="{FF2B5EF4-FFF2-40B4-BE49-F238E27FC236}">
                <a16:creationId xmlns:a16="http://schemas.microsoft.com/office/drawing/2014/main" id="{E1F1AD28-38A2-FED4-4EFF-1D76C18DE3F2}"/>
              </a:ext>
            </a:extLst>
          </p:cNvPr>
          <p:cNvSpPr/>
          <p:nvPr/>
        </p:nvSpPr>
        <p:spPr>
          <a:xfrm>
            <a:off x="3077268" y="2953514"/>
            <a:ext cx="2416628" cy="1325563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White Box</a:t>
            </a:r>
          </a:p>
          <a:p>
            <a:pPr algn="ctr"/>
            <a:r>
              <a:rPr kumimoji="1" lang="zh-CN" altLang="en-US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通过分析算子功能</a:t>
            </a:r>
            <a:endParaRPr kumimoji="1" lang="en-US" altLang="zh-CN" dirty="0">
              <a:solidFill>
                <a:srgbClr val="4472C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kumimoji="1" lang="zh-CN" altLang="en-US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建模的</a:t>
            </a:r>
            <a:r>
              <a:rPr kumimoji="1" lang="zh-CN" altLang="en-US" b="1" dirty="0">
                <a:solidFill>
                  <a:srgbClr val="4472C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静态指标</a:t>
            </a:r>
          </a:p>
        </p:txBody>
      </p:sp>
      <p:sp>
        <p:nvSpPr>
          <p:cNvPr id="21" name="矩形 4">
            <a:extLst>
              <a:ext uri="{FF2B5EF4-FFF2-40B4-BE49-F238E27FC236}">
                <a16:creationId xmlns:a16="http://schemas.microsoft.com/office/drawing/2014/main" id="{1CCED373-66DF-E28D-BA08-BD75F186923E}"/>
              </a:ext>
            </a:extLst>
          </p:cNvPr>
          <p:cNvSpPr/>
          <p:nvPr/>
        </p:nvSpPr>
        <p:spPr>
          <a:xfrm>
            <a:off x="3065654" y="4667577"/>
            <a:ext cx="2416628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Black Box</a:t>
            </a:r>
          </a:p>
          <a:p>
            <a:pPr algn="ctr"/>
            <a:r>
              <a:rPr kumimoji="1"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难以通过分析建模的</a:t>
            </a:r>
            <a:r>
              <a:rPr kumimoji="1"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动态指标</a:t>
            </a:r>
          </a:p>
        </p:txBody>
      </p:sp>
      <p:sp>
        <p:nvSpPr>
          <p:cNvPr id="22" name="矩形 6" descr="White Box">
            <a:extLst>
              <a:ext uri="{FF2B5EF4-FFF2-40B4-BE49-F238E27FC236}">
                <a16:creationId xmlns:a16="http://schemas.microsoft.com/office/drawing/2014/main" id="{A4F6922A-F4C0-3C34-D7F6-287062EAC602}"/>
              </a:ext>
            </a:extLst>
          </p:cNvPr>
          <p:cNvSpPr/>
          <p:nvPr/>
        </p:nvSpPr>
        <p:spPr>
          <a:xfrm>
            <a:off x="6588727" y="3578218"/>
            <a:ext cx="2416628" cy="1815737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b="1" dirty="0">
              <a:solidFill>
                <a:srgbClr val="4472C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7">
            <a:extLst>
              <a:ext uri="{FF2B5EF4-FFF2-40B4-BE49-F238E27FC236}">
                <a16:creationId xmlns:a16="http://schemas.microsoft.com/office/drawing/2014/main" id="{E7A25D35-BE73-F95B-E4CE-395A4C3DDBA7}"/>
              </a:ext>
            </a:extLst>
          </p:cNvPr>
          <p:cNvSpPr txBox="1"/>
          <p:nvPr/>
        </p:nvSpPr>
        <p:spPr>
          <a:xfrm>
            <a:off x="1242743" y="3455359"/>
            <a:ext cx="1671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分析型模型</a:t>
            </a:r>
          </a:p>
        </p:txBody>
      </p:sp>
      <p:sp>
        <p:nvSpPr>
          <p:cNvPr id="25" name="矩形 12">
            <a:extLst>
              <a:ext uri="{FF2B5EF4-FFF2-40B4-BE49-F238E27FC236}">
                <a16:creationId xmlns:a16="http://schemas.microsoft.com/office/drawing/2014/main" id="{82948A42-3DC6-A8DA-981B-4AB29016EDBD}"/>
              </a:ext>
            </a:extLst>
          </p:cNvPr>
          <p:cNvSpPr/>
          <p:nvPr/>
        </p:nvSpPr>
        <p:spPr>
          <a:xfrm>
            <a:off x="7797041" y="3578217"/>
            <a:ext cx="1217022" cy="10472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矩形 13" descr="White Box">
            <a:extLst>
              <a:ext uri="{FF2B5EF4-FFF2-40B4-BE49-F238E27FC236}">
                <a16:creationId xmlns:a16="http://schemas.microsoft.com/office/drawing/2014/main" id="{099993EC-7D0B-FE69-9014-FC57326A5ED2}"/>
              </a:ext>
            </a:extLst>
          </p:cNvPr>
          <p:cNvSpPr/>
          <p:nvPr/>
        </p:nvSpPr>
        <p:spPr>
          <a:xfrm>
            <a:off x="6592719" y="3578218"/>
            <a:ext cx="1217022" cy="1325563"/>
          </a:xfrm>
          <a:prstGeom prst="rect">
            <a:avLst/>
          </a:prstGeom>
          <a:noFill/>
          <a:ln w="38100"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b="1" dirty="0">
              <a:solidFill>
                <a:srgbClr val="4472C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矩形 14">
            <a:extLst>
              <a:ext uri="{FF2B5EF4-FFF2-40B4-BE49-F238E27FC236}">
                <a16:creationId xmlns:a16="http://schemas.microsoft.com/office/drawing/2014/main" id="{F702D338-18FF-3935-0AD9-BA81D3393206}"/>
              </a:ext>
            </a:extLst>
          </p:cNvPr>
          <p:cNvSpPr/>
          <p:nvPr/>
        </p:nvSpPr>
        <p:spPr>
          <a:xfrm>
            <a:off x="6605419" y="4903781"/>
            <a:ext cx="1217022" cy="483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CD0CF8A1-D4F7-A6E8-5F42-32677A076CBE}"/>
              </a:ext>
            </a:extLst>
          </p:cNvPr>
          <p:cNvSpPr txBox="1"/>
          <p:nvPr/>
        </p:nvSpPr>
        <p:spPr>
          <a:xfrm>
            <a:off x="9069016" y="4024421"/>
            <a:ext cx="2416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分析型模型</a:t>
            </a:r>
            <a:endParaRPr kumimoji="1" lang="en-US" altLang="zh-CN" sz="20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kumimoji="1" lang="en-US" altLang="zh-CN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</a:p>
          <a:p>
            <a:pPr algn="ctr"/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学习型模型</a:t>
            </a:r>
          </a:p>
        </p:txBody>
      </p:sp>
      <p:sp>
        <p:nvSpPr>
          <p:cNvPr id="29" name="右箭头 16">
            <a:extLst>
              <a:ext uri="{FF2B5EF4-FFF2-40B4-BE49-F238E27FC236}">
                <a16:creationId xmlns:a16="http://schemas.microsoft.com/office/drawing/2014/main" id="{12A023C0-1FA8-2746-A374-9C70118268FB}"/>
              </a:ext>
            </a:extLst>
          </p:cNvPr>
          <p:cNvSpPr/>
          <p:nvPr/>
        </p:nvSpPr>
        <p:spPr>
          <a:xfrm>
            <a:off x="5657184" y="4279077"/>
            <a:ext cx="702365" cy="417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文本框 19">
            <a:extLst>
              <a:ext uri="{FF2B5EF4-FFF2-40B4-BE49-F238E27FC236}">
                <a16:creationId xmlns:a16="http://schemas.microsoft.com/office/drawing/2014/main" id="{CA5B19CD-EB8A-57A2-1DB6-16A95442287D}"/>
              </a:ext>
            </a:extLst>
          </p:cNvPr>
          <p:cNvSpPr txBox="1"/>
          <p:nvPr/>
        </p:nvSpPr>
        <p:spPr>
          <a:xfrm>
            <a:off x="6580019" y="4044958"/>
            <a:ext cx="1174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 Box</a:t>
            </a:r>
            <a:endParaRPr kumimoji="1" lang="zh-CN" altLang="en-US" b="1" dirty="0">
              <a:solidFill>
                <a:srgbClr val="4472C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文本框 20">
            <a:extLst>
              <a:ext uri="{FF2B5EF4-FFF2-40B4-BE49-F238E27FC236}">
                <a16:creationId xmlns:a16="http://schemas.microsoft.com/office/drawing/2014/main" id="{19CD2DC4-DCC7-817A-E456-693BE6C4DAE4}"/>
              </a:ext>
            </a:extLst>
          </p:cNvPr>
          <p:cNvSpPr txBox="1"/>
          <p:nvPr/>
        </p:nvSpPr>
        <p:spPr>
          <a:xfrm>
            <a:off x="7802323" y="4855418"/>
            <a:ext cx="1174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4472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 Box</a:t>
            </a:r>
            <a:endParaRPr kumimoji="1" lang="zh-CN" altLang="en-US" b="1" dirty="0">
              <a:solidFill>
                <a:srgbClr val="4472C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21">
            <a:extLst>
              <a:ext uri="{FF2B5EF4-FFF2-40B4-BE49-F238E27FC236}">
                <a16:creationId xmlns:a16="http://schemas.microsoft.com/office/drawing/2014/main" id="{C882161F-AE67-933C-09BE-93894137AFC5}"/>
              </a:ext>
            </a:extLst>
          </p:cNvPr>
          <p:cNvSpPr txBox="1"/>
          <p:nvPr/>
        </p:nvSpPr>
        <p:spPr>
          <a:xfrm>
            <a:off x="6600660" y="4961027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Black Box</a:t>
            </a:r>
            <a:endParaRPr kumimoji="1" lang="zh-CN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文本框 22">
            <a:extLst>
              <a:ext uri="{FF2B5EF4-FFF2-40B4-BE49-F238E27FC236}">
                <a16:creationId xmlns:a16="http://schemas.microsoft.com/office/drawing/2014/main" id="{CB7B70ED-5015-F04B-15B1-AB5BFB733976}"/>
              </a:ext>
            </a:extLst>
          </p:cNvPr>
          <p:cNvSpPr txBox="1"/>
          <p:nvPr/>
        </p:nvSpPr>
        <p:spPr>
          <a:xfrm>
            <a:off x="7813710" y="3917176"/>
            <a:ext cx="1098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Black Box</a:t>
            </a:r>
            <a:endParaRPr kumimoji="1" lang="zh-CN" altLang="en-US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矩形 20">
            <a:extLst>
              <a:ext uri="{FF2B5EF4-FFF2-40B4-BE49-F238E27FC236}">
                <a16:creationId xmlns:a16="http://schemas.microsoft.com/office/drawing/2014/main" id="{578F0795-E84A-4DF3-359E-086ADF4DBA9E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神经网络时间预测模型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7">
            <a:extLst>
              <a:ext uri="{FF2B5EF4-FFF2-40B4-BE49-F238E27FC236}">
                <a16:creationId xmlns:a16="http://schemas.microsoft.com/office/drawing/2014/main" id="{563F5EA4-2BC7-8BDB-AB88-1F829E9FAE3C}"/>
              </a:ext>
            </a:extLst>
          </p:cNvPr>
          <p:cNvSpPr txBox="1"/>
          <p:nvPr/>
        </p:nvSpPr>
        <p:spPr>
          <a:xfrm>
            <a:off x="1242742" y="5075244"/>
            <a:ext cx="1671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学习型模型</a:t>
            </a:r>
          </a:p>
        </p:txBody>
      </p:sp>
    </p:spTree>
    <p:extLst>
      <p:ext uri="{BB962C8B-B14F-4D97-AF65-F5344CB8AC3E}">
        <p14:creationId xmlns:p14="http://schemas.microsoft.com/office/powerpoint/2010/main" val="2634769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" name="矩形 20">
            <a:extLst>
              <a:ext uri="{FF2B5EF4-FFF2-40B4-BE49-F238E27FC236}">
                <a16:creationId xmlns:a16="http://schemas.microsoft.com/office/drawing/2014/main" id="{578F0795-E84A-4DF3-359E-086ADF4DBA9E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研究内容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神经网络时间预测模型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07ED80-EB22-EE10-C881-216335148E6D}"/>
              </a:ext>
            </a:extLst>
          </p:cNvPr>
          <p:cNvSpPr txBox="1"/>
          <p:nvPr/>
        </p:nvSpPr>
        <p:spPr>
          <a:xfrm>
            <a:off x="1677537" y="10966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建模流程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4C591A4-A01F-DB37-46C3-4B001B5BB4ED}"/>
              </a:ext>
            </a:extLst>
          </p:cNvPr>
          <p:cNvGrpSpPr/>
          <p:nvPr/>
        </p:nvGrpSpPr>
        <p:grpSpPr>
          <a:xfrm>
            <a:off x="548998" y="1473496"/>
            <a:ext cx="3298570" cy="2133909"/>
            <a:chOff x="548998" y="1473496"/>
            <a:chExt cx="3298570" cy="2133909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17E400D9-ABE6-09DA-19DD-F0CB909B1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998" y="1473496"/>
              <a:ext cx="3298570" cy="2133909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FB547A6-4B9B-10BB-76DD-A832F80732EC}"/>
                </a:ext>
              </a:extLst>
            </p:cNvPr>
            <p:cNvSpPr/>
            <p:nvPr/>
          </p:nvSpPr>
          <p:spPr>
            <a:xfrm>
              <a:off x="1043709" y="1587802"/>
              <a:ext cx="2377068" cy="208225"/>
            </a:xfrm>
            <a:prstGeom prst="rect">
              <a:avLst/>
            </a:prstGeom>
            <a:solidFill>
              <a:srgbClr val="FF98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7CA6D88-C2FD-8238-EDE6-83C0E0FBC467}"/>
                </a:ext>
              </a:extLst>
            </p:cNvPr>
            <p:cNvSpPr txBox="1"/>
            <p:nvPr/>
          </p:nvSpPr>
          <p:spPr>
            <a:xfrm>
              <a:off x="1521137" y="1559052"/>
              <a:ext cx="14782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步骤</a:t>
              </a:r>
              <a:r>
                <a:rPr kumimoji="1" lang="en-US" altLang="zh-CN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 算子分类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3C9498D-F503-DBEA-3A02-7B77F251711C}"/>
                </a:ext>
              </a:extLst>
            </p:cNvPr>
            <p:cNvSpPr/>
            <p:nvPr/>
          </p:nvSpPr>
          <p:spPr>
            <a:xfrm>
              <a:off x="1043001" y="2556160"/>
              <a:ext cx="2377068" cy="208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F2A68A-68E5-03D3-7602-12F78321A34F}"/>
                </a:ext>
              </a:extLst>
            </p:cNvPr>
            <p:cNvSpPr txBox="1"/>
            <p:nvPr/>
          </p:nvSpPr>
          <p:spPr>
            <a:xfrm>
              <a:off x="1875117" y="2531453"/>
              <a:ext cx="6463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分类器</a:t>
              </a:r>
              <a:endParaRPr kumimoji="1" lang="zh-CN" altLang="en-US" sz="1100" b="1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A26FA5A-1254-9749-E77D-D88DBD28594A}"/>
                </a:ext>
              </a:extLst>
            </p:cNvPr>
            <p:cNvSpPr/>
            <p:nvPr/>
          </p:nvSpPr>
          <p:spPr>
            <a:xfrm>
              <a:off x="1071748" y="2010173"/>
              <a:ext cx="2377068" cy="307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7B8B265-16BB-255F-A80E-DDF72A956407}"/>
                </a:ext>
              </a:extLst>
            </p:cNvPr>
            <p:cNvSpPr txBox="1"/>
            <p:nvPr/>
          </p:nvSpPr>
          <p:spPr>
            <a:xfrm>
              <a:off x="985040" y="1932401"/>
              <a:ext cx="24929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超参数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  <a:p>
              <a:pPr algn="ctr"/>
              <a:r>
                <a:rPr kumimoji="1" lang="zh-CN" altLang="en-US" sz="10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（例如，输入图片宽度，输入通道数等）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FCD4384-AF11-A1A0-F149-E12E57C2CCA1}"/>
                </a:ext>
              </a:extLst>
            </p:cNvPr>
            <p:cNvSpPr/>
            <p:nvPr/>
          </p:nvSpPr>
          <p:spPr>
            <a:xfrm>
              <a:off x="784275" y="3125256"/>
              <a:ext cx="736862" cy="35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87A1D87-5BEC-2B85-E603-E1CDD3CDEE22}"/>
                </a:ext>
              </a:extLst>
            </p:cNvPr>
            <p:cNvSpPr/>
            <p:nvPr/>
          </p:nvSpPr>
          <p:spPr>
            <a:xfrm>
              <a:off x="1784585" y="3079209"/>
              <a:ext cx="824143" cy="35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EA95E27-06DE-CEE9-EA9B-3DB31D69B940}"/>
                </a:ext>
              </a:extLst>
            </p:cNvPr>
            <p:cNvSpPr/>
            <p:nvPr/>
          </p:nvSpPr>
          <p:spPr>
            <a:xfrm>
              <a:off x="2861916" y="3111006"/>
              <a:ext cx="824143" cy="35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048B767D-8EA0-8505-DF2C-7682AB164067}"/>
                </a:ext>
              </a:extLst>
            </p:cNvPr>
            <p:cNvSpPr txBox="1"/>
            <p:nvPr/>
          </p:nvSpPr>
          <p:spPr>
            <a:xfrm>
              <a:off x="689738" y="3155808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计算密集型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F81DDF6-11AB-118D-6110-7B7480017232}"/>
                </a:ext>
              </a:extLst>
            </p:cNvPr>
            <p:cNvSpPr txBox="1"/>
            <p:nvPr/>
          </p:nvSpPr>
          <p:spPr>
            <a:xfrm>
              <a:off x="1738382" y="3161251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访存密集型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D1744C9-94E9-906C-AFDD-BA75DC4EE3B3}"/>
                </a:ext>
              </a:extLst>
            </p:cNvPr>
            <p:cNvSpPr txBox="1"/>
            <p:nvPr/>
          </p:nvSpPr>
          <p:spPr>
            <a:xfrm>
              <a:off x="2778038" y="3155808"/>
              <a:ext cx="9541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低利用率型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BF32401-EA08-1B4B-88B7-6DABACF70FED}"/>
              </a:ext>
            </a:extLst>
          </p:cNvPr>
          <p:cNvGrpSpPr/>
          <p:nvPr/>
        </p:nvGrpSpPr>
        <p:grpSpPr>
          <a:xfrm>
            <a:off x="547371" y="3521588"/>
            <a:ext cx="3298570" cy="3196956"/>
            <a:chOff x="548998" y="3524519"/>
            <a:chExt cx="3298570" cy="319695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D1B7E531-0E51-F480-4882-1B4689820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998" y="3524519"/>
              <a:ext cx="3298570" cy="3196956"/>
            </a:xfrm>
            <a:prstGeom prst="rect">
              <a:avLst/>
            </a:prstGeom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0D4A813-DD7A-2F32-3A22-983011B9090A}"/>
                </a:ext>
              </a:extLst>
            </p:cNvPr>
            <p:cNvSpPr/>
            <p:nvPr/>
          </p:nvSpPr>
          <p:spPr>
            <a:xfrm>
              <a:off x="716220" y="5475700"/>
              <a:ext cx="1158897" cy="209187"/>
            </a:xfrm>
            <a:prstGeom prst="rect">
              <a:avLst/>
            </a:prstGeom>
            <a:solidFill>
              <a:srgbClr val="8195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AD0B1235-B772-F109-805B-42A8DC0AC77F}"/>
                </a:ext>
              </a:extLst>
            </p:cNvPr>
            <p:cNvSpPr txBox="1"/>
            <p:nvPr/>
          </p:nvSpPr>
          <p:spPr>
            <a:xfrm>
              <a:off x="878488" y="5422071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性能模型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C12B718F-3580-F765-E025-4BFEF0850F37}"/>
              </a:ext>
            </a:extLst>
          </p:cNvPr>
          <p:cNvGrpSpPr/>
          <p:nvPr/>
        </p:nvGrpSpPr>
        <p:grpSpPr>
          <a:xfrm>
            <a:off x="633399" y="3943734"/>
            <a:ext cx="2050473" cy="1566654"/>
            <a:chOff x="633399" y="3943734"/>
            <a:chExt cx="2050473" cy="156665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3F4DCFB-A80F-A1F4-852A-F353944F3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3399" y="3943734"/>
              <a:ext cx="2050473" cy="1566654"/>
            </a:xfrm>
            <a:prstGeom prst="rect">
              <a:avLst/>
            </a:prstGeom>
          </p:spPr>
        </p:pic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6FC10C4-CEB7-F545-2547-B267CA7D2846}"/>
                </a:ext>
              </a:extLst>
            </p:cNvPr>
            <p:cNvSpPr/>
            <p:nvPr/>
          </p:nvSpPr>
          <p:spPr>
            <a:xfrm>
              <a:off x="787887" y="4015822"/>
              <a:ext cx="1164620" cy="398489"/>
            </a:xfrm>
            <a:prstGeom prst="rect">
              <a:avLst/>
            </a:prstGeom>
            <a:solidFill>
              <a:srgbClr val="73A9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FD3419C-35C3-7E33-FB8C-B4F96C50737A}"/>
                </a:ext>
              </a:extLst>
            </p:cNvPr>
            <p:cNvSpPr txBox="1"/>
            <p:nvPr/>
          </p:nvSpPr>
          <p:spPr>
            <a:xfrm>
              <a:off x="771109" y="3973525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步骤</a:t>
              </a:r>
              <a:r>
                <a:rPr kumimoji="1" lang="en-US" altLang="zh-CN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</a:p>
            <a:p>
              <a:pPr algn="ctr"/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建模静态指标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4F3C80AF-8A37-FC4A-D736-DF6A9D1097AC}"/>
                </a:ext>
              </a:extLst>
            </p:cNvPr>
            <p:cNvSpPr/>
            <p:nvPr/>
          </p:nvSpPr>
          <p:spPr>
            <a:xfrm>
              <a:off x="763416" y="4554595"/>
              <a:ext cx="1269577" cy="173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C459267-F218-4474-8136-7A94CBE44F8E}"/>
                </a:ext>
              </a:extLst>
            </p:cNvPr>
            <p:cNvSpPr txBox="1"/>
            <p:nvPr/>
          </p:nvSpPr>
          <p:spPr>
            <a:xfrm>
              <a:off x="773728" y="4495387"/>
              <a:ext cx="12238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超参数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67B7CE1-6D20-BEC9-B54B-65708CB4736E}"/>
                </a:ext>
              </a:extLst>
            </p:cNvPr>
            <p:cNvSpPr/>
            <p:nvPr/>
          </p:nvSpPr>
          <p:spPr>
            <a:xfrm>
              <a:off x="763417" y="4902754"/>
              <a:ext cx="1234186" cy="227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D2B7A32-3963-2D12-3B70-05BF1EF8DFF5}"/>
                </a:ext>
              </a:extLst>
            </p:cNvPr>
            <p:cNvSpPr txBox="1"/>
            <p:nvPr/>
          </p:nvSpPr>
          <p:spPr>
            <a:xfrm>
              <a:off x="798625" y="4884494"/>
              <a:ext cx="12238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静态指标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A4F842C-9419-F3C7-6997-14F77C3D3829}"/>
              </a:ext>
            </a:extLst>
          </p:cNvPr>
          <p:cNvGrpSpPr/>
          <p:nvPr/>
        </p:nvGrpSpPr>
        <p:grpSpPr>
          <a:xfrm>
            <a:off x="633399" y="5632256"/>
            <a:ext cx="3133920" cy="987613"/>
            <a:chOff x="633399" y="5632256"/>
            <a:chExt cx="3133920" cy="987613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0E336F3-0ABC-CBA3-14BD-3F9EE20A9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3399" y="5632256"/>
              <a:ext cx="3133920" cy="987613"/>
            </a:xfrm>
            <a:prstGeom prst="rect">
              <a:avLst/>
            </a:prstGeom>
          </p:spPr>
        </p:pic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59B9818-B05C-CD9F-609C-2A8E267B56C9}"/>
                </a:ext>
              </a:extLst>
            </p:cNvPr>
            <p:cNvSpPr/>
            <p:nvPr/>
          </p:nvSpPr>
          <p:spPr>
            <a:xfrm>
              <a:off x="741222" y="6107147"/>
              <a:ext cx="1291772" cy="325185"/>
            </a:xfrm>
            <a:prstGeom prst="rect">
              <a:avLst/>
            </a:prstGeom>
            <a:solidFill>
              <a:srgbClr val="75C1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89407CB-3B96-E890-5E83-7E5D25842EA6}"/>
                </a:ext>
              </a:extLst>
            </p:cNvPr>
            <p:cNvSpPr txBox="1"/>
            <p:nvPr/>
          </p:nvSpPr>
          <p:spPr>
            <a:xfrm>
              <a:off x="723394" y="6011736"/>
              <a:ext cx="135165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3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步骤</a:t>
              </a:r>
              <a:r>
                <a:rPr kumimoji="1" lang="en-US" altLang="zh-CN" sz="13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</a:p>
            <a:p>
              <a:pPr algn="ctr"/>
              <a:r>
                <a:rPr kumimoji="1" lang="zh-CN" altLang="en-US" sz="13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拟合硬件级指标</a:t>
              </a: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286C9B8-6A1B-8199-08C2-55E58345DD5A}"/>
                </a:ext>
              </a:extLst>
            </p:cNvPr>
            <p:cNvSpPr/>
            <p:nvPr/>
          </p:nvSpPr>
          <p:spPr>
            <a:xfrm>
              <a:off x="2329695" y="6011736"/>
              <a:ext cx="1320886" cy="183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C96CB2-709D-98AE-EFD0-CD8DA978721F}"/>
                </a:ext>
              </a:extLst>
            </p:cNvPr>
            <p:cNvSpPr txBox="1"/>
            <p:nvPr/>
          </p:nvSpPr>
          <p:spPr>
            <a:xfrm>
              <a:off x="2393213" y="5964822"/>
              <a:ext cx="12238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硬件级指标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C342156-79E0-6087-34C3-335A752EB39E}"/>
                </a:ext>
              </a:extLst>
            </p:cNvPr>
            <p:cNvSpPr/>
            <p:nvPr/>
          </p:nvSpPr>
          <p:spPr>
            <a:xfrm>
              <a:off x="2393214" y="6356350"/>
              <a:ext cx="1223874" cy="1478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1F62694-28A6-0B9A-78AE-F6B983289BD5}"/>
                </a:ext>
              </a:extLst>
            </p:cNvPr>
            <p:cNvSpPr txBox="1"/>
            <p:nvPr/>
          </p:nvSpPr>
          <p:spPr>
            <a:xfrm>
              <a:off x="2304331" y="6305977"/>
              <a:ext cx="13901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基准测试数据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5C8337B-B74E-FB24-8DF5-3ED4ADC652F2}"/>
              </a:ext>
            </a:extLst>
          </p:cNvPr>
          <p:cNvGrpSpPr/>
          <p:nvPr/>
        </p:nvGrpSpPr>
        <p:grpSpPr>
          <a:xfrm>
            <a:off x="2231535" y="3943735"/>
            <a:ext cx="1535784" cy="1566654"/>
            <a:chOff x="2231535" y="3943735"/>
            <a:chExt cx="1535784" cy="1566654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39DD072-DDE8-B84A-0B36-5140261E5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31535" y="3943735"/>
              <a:ext cx="1535784" cy="1566654"/>
            </a:xfrm>
            <a:prstGeom prst="rect">
              <a:avLst/>
            </a:prstGeom>
          </p:spPr>
        </p:pic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BC14F4E-074D-5DB4-304D-FED4ED30F719}"/>
                </a:ext>
              </a:extLst>
            </p:cNvPr>
            <p:cNvSpPr/>
            <p:nvPr/>
          </p:nvSpPr>
          <p:spPr>
            <a:xfrm>
              <a:off x="2367380" y="4042495"/>
              <a:ext cx="1249707" cy="403467"/>
            </a:xfrm>
            <a:prstGeom prst="rect">
              <a:avLst/>
            </a:prstGeom>
            <a:solidFill>
              <a:srgbClr val="73A9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B4D0E168-9BA0-56BC-20FF-D96D244C82D8}"/>
                </a:ext>
              </a:extLst>
            </p:cNvPr>
            <p:cNvSpPr txBox="1"/>
            <p:nvPr/>
          </p:nvSpPr>
          <p:spPr>
            <a:xfrm>
              <a:off x="2365356" y="3973525"/>
              <a:ext cx="126188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步骤</a:t>
              </a:r>
              <a:r>
                <a:rPr kumimoji="1" lang="en-US" altLang="zh-CN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</a:p>
            <a:p>
              <a:pPr algn="ctr"/>
              <a:r>
                <a:rPr kumimoji="1" lang="zh-CN" altLang="en-US" sz="1400" b="1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建模动态指标</a:t>
              </a: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31AE8E3-4A14-B00E-C3B2-E6E33A1BA317}"/>
                </a:ext>
              </a:extLst>
            </p:cNvPr>
            <p:cNvSpPr/>
            <p:nvPr/>
          </p:nvSpPr>
          <p:spPr>
            <a:xfrm>
              <a:off x="2358315" y="4914756"/>
              <a:ext cx="1292266" cy="227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4D44E84-8C29-0D8F-6EB9-7F6CD9E5B9A3}"/>
                </a:ext>
              </a:extLst>
            </p:cNvPr>
            <p:cNvSpPr txBox="1"/>
            <p:nvPr/>
          </p:nvSpPr>
          <p:spPr>
            <a:xfrm>
              <a:off x="2397418" y="4887440"/>
              <a:ext cx="12238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动态指标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A8DB7B3-0B30-A90C-90CB-44F6AEE2E234}"/>
                </a:ext>
              </a:extLst>
            </p:cNvPr>
            <p:cNvSpPr/>
            <p:nvPr/>
          </p:nvSpPr>
          <p:spPr>
            <a:xfrm>
              <a:off x="2381003" y="4553225"/>
              <a:ext cx="1269577" cy="173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3B7AE4C-DE32-1C6A-7FBA-6D7C8779BE5A}"/>
                </a:ext>
              </a:extLst>
            </p:cNvPr>
            <p:cNvSpPr txBox="1"/>
            <p:nvPr/>
          </p:nvSpPr>
          <p:spPr>
            <a:xfrm>
              <a:off x="2325339" y="4500559"/>
              <a:ext cx="13901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12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基准测试数据</a:t>
              </a:r>
              <a:endParaRPr kumimoji="1" lang="en-US" altLang="zh-CN" sz="12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61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3" y="848"/>
            <a:ext cx="36957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38" name="Rectangle 3"/>
          <p:cNvSpPr txBox="1"/>
          <p:nvPr/>
        </p:nvSpPr>
        <p:spPr>
          <a:xfrm>
            <a:off x="793328" y="2755903"/>
            <a:ext cx="2108201" cy="7493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733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sp>
        <p:nvSpPr>
          <p:cNvPr id="37" name="六边形 36"/>
          <p:cNvSpPr/>
          <p:nvPr/>
        </p:nvSpPr>
        <p:spPr>
          <a:xfrm rot="5400000">
            <a:off x="1092202" y="2478193"/>
            <a:ext cx="1511300" cy="1303867"/>
          </a:xfrm>
          <a:prstGeom prst="hexagon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50012"/>
                </a:solidFill>
              </a14:hiddenFill>
            </a:ext>
          </a:extLst>
        </p:spPr>
        <p:txBody>
          <a:bodyPr rtlCol="0" anchor="ctr"/>
          <a:lstStyle/>
          <a:p>
            <a:pPr algn="ctr" defTabSz="1219170">
              <a:defRPr/>
            </a:pPr>
            <a:endParaRPr lang="zh-CN" altLang="en-US" sz="1400" kern="0" dirty="0">
              <a:solidFill>
                <a:sysClr val="window" lastClr="FFFF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29">
            <a:extLst>
              <a:ext uri="{FF2B5EF4-FFF2-40B4-BE49-F238E27FC236}">
                <a16:creationId xmlns:a16="http://schemas.microsoft.com/office/drawing/2014/main" id="{B28DF9BE-C194-43EA-A62E-15A49F963DF9}"/>
              </a:ext>
            </a:extLst>
          </p:cNvPr>
          <p:cNvGrpSpPr/>
          <p:nvPr/>
        </p:nvGrpSpPr>
        <p:grpSpPr>
          <a:xfrm>
            <a:off x="5652493" y="351940"/>
            <a:ext cx="5490221" cy="1011002"/>
            <a:chOff x="5656" y="178"/>
            <a:chExt cx="7794" cy="177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561AB59-E006-4216-8ABB-DEFEEC01D424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选题背景及意义</a:t>
              </a:r>
            </a:p>
          </p:txBody>
        </p:sp>
        <p:sp>
          <p:nvSpPr>
            <p:cNvPr id="12" name="文本框 7">
              <a:extLst>
                <a:ext uri="{FF2B5EF4-FFF2-40B4-BE49-F238E27FC236}">
                  <a16:creationId xmlns:a16="http://schemas.microsoft.com/office/drawing/2014/main" id="{B7F5AD37-1A46-44AE-845E-9D41FA8D782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523FAD5-8037-429A-B8E7-A0EA1AA1E78F}"/>
              </a:ext>
            </a:extLst>
          </p:cNvPr>
          <p:cNvGrpSpPr/>
          <p:nvPr/>
        </p:nvGrpSpPr>
        <p:grpSpPr>
          <a:xfrm>
            <a:off x="5007232" y="777037"/>
            <a:ext cx="653651" cy="748201"/>
            <a:chOff x="1111669" y="3089259"/>
            <a:chExt cx="591868" cy="676010"/>
          </a:xfrm>
        </p:grpSpPr>
        <p:sp>
          <p:nvSpPr>
            <p:cNvPr id="9" name="六边形 8">
              <a:extLst>
                <a:ext uri="{FF2B5EF4-FFF2-40B4-BE49-F238E27FC236}">
                  <a16:creationId xmlns:a16="http://schemas.microsoft.com/office/drawing/2014/main" id="{B59A5391-F1C8-4A06-AA76-178528B20878}"/>
                </a:ext>
              </a:extLst>
            </p:cNvPr>
            <p:cNvSpPr/>
            <p:nvPr/>
          </p:nvSpPr>
          <p:spPr>
            <a:xfrm rot="5400000">
              <a:off x="1065801" y="3135127"/>
              <a:ext cx="676010" cy="584273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0" name="文本框 64">
              <a:extLst>
                <a:ext uri="{FF2B5EF4-FFF2-40B4-BE49-F238E27FC236}">
                  <a16:creationId xmlns:a16="http://schemas.microsoft.com/office/drawing/2014/main" id="{CA954729-CD26-48F8-91AC-BC64D00E06E3}"/>
                </a:ext>
              </a:extLst>
            </p:cNvPr>
            <p:cNvSpPr txBox="1"/>
            <p:nvPr/>
          </p:nvSpPr>
          <p:spPr>
            <a:xfrm>
              <a:off x="1124476" y="3192846"/>
              <a:ext cx="579061" cy="454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rgbClr val="FFFFFF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</a:t>
              </a:r>
            </a:p>
          </p:txBody>
        </p:sp>
      </p:grpSp>
      <p:grpSp>
        <p:nvGrpSpPr>
          <p:cNvPr id="5" name="组合 29">
            <a:extLst>
              <a:ext uri="{FF2B5EF4-FFF2-40B4-BE49-F238E27FC236}">
                <a16:creationId xmlns:a16="http://schemas.microsoft.com/office/drawing/2014/main" id="{F2403960-E819-8BEA-09B3-08583F5A2231}"/>
              </a:ext>
            </a:extLst>
          </p:cNvPr>
          <p:cNvGrpSpPr/>
          <p:nvPr/>
        </p:nvGrpSpPr>
        <p:grpSpPr>
          <a:xfrm>
            <a:off x="5652496" y="2012812"/>
            <a:ext cx="5490222" cy="1011001"/>
            <a:chOff x="5656" y="178"/>
            <a:chExt cx="7794" cy="1770"/>
          </a:xfrm>
        </p:grpSpPr>
        <p:sp>
          <p:nvSpPr>
            <p:cNvPr id="46" name="矩形 10">
              <a:extLst>
                <a:ext uri="{FF2B5EF4-FFF2-40B4-BE49-F238E27FC236}">
                  <a16:creationId xmlns:a16="http://schemas.microsoft.com/office/drawing/2014/main" id="{C88DD15D-E1CB-FFA9-C380-38A3394B444C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研究目标与研究内容</a:t>
              </a:r>
            </a:p>
          </p:txBody>
        </p:sp>
        <p:sp>
          <p:nvSpPr>
            <p:cNvPr id="47" name="文本框 7">
              <a:extLst>
                <a:ext uri="{FF2B5EF4-FFF2-40B4-BE49-F238E27FC236}">
                  <a16:creationId xmlns:a16="http://schemas.microsoft.com/office/drawing/2014/main" id="{2754986B-5E74-2384-03FC-C8A218444ADD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7">
            <a:extLst>
              <a:ext uri="{FF2B5EF4-FFF2-40B4-BE49-F238E27FC236}">
                <a16:creationId xmlns:a16="http://schemas.microsoft.com/office/drawing/2014/main" id="{6AB853F9-CE8D-B281-9817-28ADEBA0B7AA}"/>
              </a:ext>
            </a:extLst>
          </p:cNvPr>
          <p:cNvGrpSpPr/>
          <p:nvPr/>
        </p:nvGrpSpPr>
        <p:grpSpPr>
          <a:xfrm>
            <a:off x="5007234" y="2437909"/>
            <a:ext cx="653651" cy="748200"/>
            <a:chOff x="1109756" y="3090803"/>
            <a:chExt cx="590677" cy="676392"/>
          </a:xfrm>
        </p:grpSpPr>
        <p:sp>
          <p:nvSpPr>
            <p:cNvPr id="44" name="六边形 8">
              <a:extLst>
                <a:ext uri="{FF2B5EF4-FFF2-40B4-BE49-F238E27FC236}">
                  <a16:creationId xmlns:a16="http://schemas.microsoft.com/office/drawing/2014/main" id="{BE3BBC25-40DD-4C0E-EA99-101937B004B8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45" name="文本框 64">
              <a:extLst>
                <a:ext uri="{FF2B5EF4-FFF2-40B4-BE49-F238E27FC236}">
                  <a16:creationId xmlns:a16="http://schemas.microsoft.com/office/drawing/2014/main" id="{765934B1-9FAB-E038-3883-68E24318150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三</a:t>
              </a:r>
            </a:p>
          </p:txBody>
        </p:sp>
      </p:grpSp>
      <p:grpSp>
        <p:nvGrpSpPr>
          <p:cNvPr id="5126" name="组合 29">
            <a:extLst>
              <a:ext uri="{FF2B5EF4-FFF2-40B4-BE49-F238E27FC236}">
                <a16:creationId xmlns:a16="http://schemas.microsoft.com/office/drawing/2014/main" id="{A0E177E5-A049-3C5C-DBE2-87A04E5DD91B}"/>
              </a:ext>
            </a:extLst>
          </p:cNvPr>
          <p:cNvGrpSpPr/>
          <p:nvPr/>
        </p:nvGrpSpPr>
        <p:grpSpPr>
          <a:xfrm>
            <a:off x="5666691" y="4236570"/>
            <a:ext cx="5490222" cy="1011001"/>
            <a:chOff x="5656" y="178"/>
            <a:chExt cx="7794" cy="1770"/>
          </a:xfrm>
        </p:grpSpPr>
        <p:sp>
          <p:nvSpPr>
            <p:cNvPr id="5130" name="矩形 10">
              <a:extLst>
                <a:ext uri="{FF2B5EF4-FFF2-40B4-BE49-F238E27FC236}">
                  <a16:creationId xmlns:a16="http://schemas.microsoft.com/office/drawing/2014/main" id="{FF83F8C2-DEC9-7321-D971-C6EFF8D1939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已发表论文列表</a:t>
              </a:r>
            </a:p>
          </p:txBody>
        </p:sp>
        <p:sp>
          <p:nvSpPr>
            <p:cNvPr id="5131" name="文本框 7">
              <a:extLst>
                <a:ext uri="{FF2B5EF4-FFF2-40B4-BE49-F238E27FC236}">
                  <a16:creationId xmlns:a16="http://schemas.microsoft.com/office/drawing/2014/main" id="{0FECEB68-FCF5-EE7D-2BD3-1A167DF99623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127" name="组合 7">
            <a:extLst>
              <a:ext uri="{FF2B5EF4-FFF2-40B4-BE49-F238E27FC236}">
                <a16:creationId xmlns:a16="http://schemas.microsoft.com/office/drawing/2014/main" id="{14AED640-8C5A-FC78-EA29-CE13134AC636}"/>
              </a:ext>
            </a:extLst>
          </p:cNvPr>
          <p:cNvGrpSpPr/>
          <p:nvPr/>
        </p:nvGrpSpPr>
        <p:grpSpPr>
          <a:xfrm>
            <a:off x="5021429" y="4661667"/>
            <a:ext cx="653651" cy="748200"/>
            <a:chOff x="1109756" y="3090803"/>
            <a:chExt cx="590677" cy="676392"/>
          </a:xfrm>
        </p:grpSpPr>
        <p:sp>
          <p:nvSpPr>
            <p:cNvPr id="5128" name="六边形 8">
              <a:extLst>
                <a:ext uri="{FF2B5EF4-FFF2-40B4-BE49-F238E27FC236}">
                  <a16:creationId xmlns:a16="http://schemas.microsoft.com/office/drawing/2014/main" id="{2A28B2E5-4F08-BE10-7993-1E50594E19F5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5129" name="文本框 64">
              <a:extLst>
                <a:ext uri="{FF2B5EF4-FFF2-40B4-BE49-F238E27FC236}">
                  <a16:creationId xmlns:a16="http://schemas.microsoft.com/office/drawing/2014/main" id="{1382CF0C-BFB4-C4D4-5F07-F7F295C91DDA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四</a:t>
              </a:r>
            </a:p>
          </p:txBody>
        </p:sp>
      </p:grpSp>
      <p:sp>
        <p:nvSpPr>
          <p:cNvPr id="5140" name="Slide Number Placeholder 5139">
            <a:extLst>
              <a:ext uri="{FF2B5EF4-FFF2-40B4-BE49-F238E27FC236}">
                <a16:creationId xmlns:a16="http://schemas.microsoft.com/office/drawing/2014/main" id="{8AC0140B-CD45-37AE-3958-82879EFE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18</a:t>
            </a:fld>
            <a:endParaRPr lang="zh-CN" altLang="en-US"/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C85286B4-90BC-F5B9-8A25-101AC3C1B8B8}"/>
              </a:ext>
            </a:extLst>
          </p:cNvPr>
          <p:cNvGrpSpPr/>
          <p:nvPr/>
        </p:nvGrpSpPr>
        <p:grpSpPr>
          <a:xfrm>
            <a:off x="5652492" y="1185332"/>
            <a:ext cx="5490222" cy="1011001"/>
            <a:chOff x="5656" y="178"/>
            <a:chExt cx="7794" cy="1770"/>
          </a:xfrm>
        </p:grpSpPr>
        <p:sp>
          <p:nvSpPr>
            <p:cNvPr id="3" name="矩形 10">
              <a:extLst>
                <a:ext uri="{FF2B5EF4-FFF2-40B4-BE49-F238E27FC236}">
                  <a16:creationId xmlns:a16="http://schemas.microsoft.com/office/drawing/2014/main" id="{8E9E21FC-1FFD-80A8-DC4B-04F55B8791D0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chemeClr val="tx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国内外研究现状分析</a:t>
              </a:r>
            </a:p>
          </p:txBody>
        </p:sp>
        <p:sp>
          <p:nvSpPr>
            <p:cNvPr id="13" name="文本框 7">
              <a:extLst>
                <a:ext uri="{FF2B5EF4-FFF2-40B4-BE49-F238E27FC236}">
                  <a16:creationId xmlns:a16="http://schemas.microsoft.com/office/drawing/2014/main" id="{61E21349-6198-D562-1769-7ED23D337789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7">
            <a:extLst>
              <a:ext uri="{FF2B5EF4-FFF2-40B4-BE49-F238E27FC236}">
                <a16:creationId xmlns:a16="http://schemas.microsoft.com/office/drawing/2014/main" id="{79D02E49-B919-F76B-8792-FF80B2E881AE}"/>
              </a:ext>
            </a:extLst>
          </p:cNvPr>
          <p:cNvGrpSpPr/>
          <p:nvPr/>
        </p:nvGrpSpPr>
        <p:grpSpPr>
          <a:xfrm>
            <a:off x="5007230" y="1610429"/>
            <a:ext cx="653651" cy="748200"/>
            <a:chOff x="1109756" y="3090803"/>
            <a:chExt cx="590677" cy="676392"/>
          </a:xfrm>
        </p:grpSpPr>
        <p:sp>
          <p:nvSpPr>
            <p:cNvPr id="15" name="六边形 8">
              <a:extLst>
                <a:ext uri="{FF2B5EF4-FFF2-40B4-BE49-F238E27FC236}">
                  <a16:creationId xmlns:a16="http://schemas.microsoft.com/office/drawing/2014/main" id="{6847B8B8-6180-27D8-96E9-058E80C002DF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16" name="文本框 64">
              <a:extLst>
                <a:ext uri="{FF2B5EF4-FFF2-40B4-BE49-F238E27FC236}">
                  <a16:creationId xmlns:a16="http://schemas.microsoft.com/office/drawing/2014/main" id="{0E3B5C1A-3A3F-AB80-5155-6322EB641D5F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二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7AB0E501-1698-0D28-0A5F-1C87F6E60880}"/>
              </a:ext>
            </a:extLst>
          </p:cNvPr>
          <p:cNvSpPr txBox="1"/>
          <p:nvPr/>
        </p:nvSpPr>
        <p:spPr>
          <a:xfrm>
            <a:off x="6011115" y="3023813"/>
            <a:ext cx="4474302" cy="1689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神经网络时间预测模型研究</a:t>
            </a:r>
            <a:endParaRPr kumimoji="1"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分布式训练自动并行策略研究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故障场景下的弹性训练研究</a:t>
            </a:r>
          </a:p>
        </p:txBody>
      </p:sp>
      <p:grpSp>
        <p:nvGrpSpPr>
          <p:cNvPr id="4" name="组合 29">
            <a:extLst>
              <a:ext uri="{FF2B5EF4-FFF2-40B4-BE49-F238E27FC236}">
                <a16:creationId xmlns:a16="http://schemas.microsoft.com/office/drawing/2014/main" id="{99521A93-4728-2783-6F6E-1DB3C28990A5}"/>
              </a:ext>
            </a:extLst>
          </p:cNvPr>
          <p:cNvGrpSpPr/>
          <p:nvPr/>
        </p:nvGrpSpPr>
        <p:grpSpPr>
          <a:xfrm>
            <a:off x="5652492" y="5060443"/>
            <a:ext cx="5490222" cy="1011001"/>
            <a:chOff x="5656" y="178"/>
            <a:chExt cx="7794" cy="1770"/>
          </a:xfrm>
        </p:grpSpPr>
        <p:sp>
          <p:nvSpPr>
            <p:cNvPr id="6" name="矩形 10">
              <a:extLst>
                <a:ext uri="{FF2B5EF4-FFF2-40B4-BE49-F238E27FC236}">
                  <a16:creationId xmlns:a16="http://schemas.microsoft.com/office/drawing/2014/main" id="{533D22EE-D039-3BDD-BEBD-0EB04C925582}"/>
                </a:ext>
              </a:extLst>
            </p:cNvPr>
            <p:cNvSpPr/>
            <p:nvPr/>
          </p:nvSpPr>
          <p:spPr>
            <a:xfrm>
              <a:off x="5656" y="1218"/>
              <a:ext cx="7370" cy="73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r>
                <a:rPr lang="zh-CN" altLang="en-US" sz="2667" b="1" noProof="1">
                  <a:solidFill>
                    <a:srgbClr val="C00000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评阅后修改情况</a:t>
              </a:r>
            </a:p>
          </p:txBody>
        </p:sp>
        <p:sp>
          <p:nvSpPr>
            <p:cNvPr id="17" name="文本框 7">
              <a:extLst>
                <a:ext uri="{FF2B5EF4-FFF2-40B4-BE49-F238E27FC236}">
                  <a16:creationId xmlns:a16="http://schemas.microsoft.com/office/drawing/2014/main" id="{9D2E824D-5486-F8A6-C727-A2D6E3D443CE}"/>
                </a:ext>
              </a:extLst>
            </p:cNvPr>
            <p:cNvSpPr txBox="1"/>
            <p:nvPr/>
          </p:nvSpPr>
          <p:spPr>
            <a:xfrm>
              <a:off x="6010" y="178"/>
              <a:ext cx="7440" cy="7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defTabSz="914377">
                <a:defRPr/>
              </a:pPr>
              <a:endParaRPr lang="zh-CN" altLang="en-US" sz="2133" kern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7">
            <a:extLst>
              <a:ext uri="{FF2B5EF4-FFF2-40B4-BE49-F238E27FC236}">
                <a16:creationId xmlns:a16="http://schemas.microsoft.com/office/drawing/2014/main" id="{52E4006C-5553-A23D-381D-F3319DB878BD}"/>
              </a:ext>
            </a:extLst>
          </p:cNvPr>
          <p:cNvGrpSpPr/>
          <p:nvPr/>
        </p:nvGrpSpPr>
        <p:grpSpPr>
          <a:xfrm>
            <a:off x="5007230" y="5485540"/>
            <a:ext cx="653651" cy="748200"/>
            <a:chOff x="1109756" y="3090803"/>
            <a:chExt cx="590677" cy="676392"/>
          </a:xfrm>
        </p:grpSpPr>
        <p:sp>
          <p:nvSpPr>
            <p:cNvPr id="19" name="六边形 8">
              <a:extLst>
                <a:ext uri="{FF2B5EF4-FFF2-40B4-BE49-F238E27FC236}">
                  <a16:creationId xmlns:a16="http://schemas.microsoft.com/office/drawing/2014/main" id="{3B10208D-B462-07CF-39AD-C4E91CE4DE4E}"/>
                </a:ext>
              </a:extLst>
            </p:cNvPr>
            <p:cNvSpPr/>
            <p:nvPr/>
          </p:nvSpPr>
          <p:spPr>
            <a:xfrm rot="5400000">
              <a:off x="1063108" y="3137451"/>
              <a:ext cx="676392" cy="583096"/>
            </a:xfrm>
            <a:prstGeom prst="hexagon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defRPr/>
              </a:pPr>
              <a:endParaRPr lang="zh-CN" altLang="en-US" sz="1400" kern="0" dirty="0"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0" name="文本框 64">
              <a:extLst>
                <a:ext uri="{FF2B5EF4-FFF2-40B4-BE49-F238E27FC236}">
                  <a16:creationId xmlns:a16="http://schemas.microsoft.com/office/drawing/2014/main" id="{99BEE8C7-1684-8A70-4160-61296CEF9FC3}"/>
                </a:ext>
              </a:extLst>
            </p:cNvPr>
            <p:cNvSpPr txBox="1"/>
            <p:nvPr/>
          </p:nvSpPr>
          <p:spPr>
            <a:xfrm>
              <a:off x="1122583" y="3195051"/>
              <a:ext cx="577850" cy="454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>
                <a:defRPr/>
              </a:pPr>
              <a:r>
                <a:rPr lang="zh-CN" altLang="en-US" sz="2667" b="1" kern="0" dirty="0">
                  <a:solidFill>
                    <a:schemeClr val="bg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3424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2F8A667-4FFA-F5A2-24F9-7073D371E09E}"/>
              </a:ext>
            </a:extLst>
          </p:cNvPr>
          <p:cNvSpPr txBox="1"/>
          <p:nvPr/>
        </p:nvSpPr>
        <p:spPr>
          <a:xfrm>
            <a:off x="215170" y="1170014"/>
            <a:ext cx="1180396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专家</a:t>
            </a:r>
            <a:r>
              <a:rPr lang="en-US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评阅意见及修改情况</a:t>
            </a:r>
            <a:endParaRPr lang="en-US" altLang="zh-CN" sz="20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标题中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大模型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在英语标题中翻译为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“Large-Scale Models”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，可能会引起歧义。大模型通常特指大语言模型，英语翻译为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Large Language Models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700" b="1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en-US" altLang="zh-CN" sz="1700" kern="1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zh-CN" sz="1700" kern="1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大模型</a:t>
            </a:r>
            <a:r>
              <a:rPr lang="en-US" altLang="zh-CN" sz="1700" kern="1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”</a:t>
            </a:r>
            <a:r>
              <a:rPr lang="zh-CN" altLang="zh-CN" sz="1700" kern="1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一词确实会引起歧义，但本文并不是针对大语言模型而进行的相关研究，也包含了对视觉类模型的研究。因此，为了消除这一词语的歧义，我们在正文中第一次出现“大模型”一词时增加了注解</a:t>
            </a:r>
            <a:r>
              <a:rPr lang="zh-CN" altLang="en-US" sz="1700" kern="10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700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endParaRPr lang="en-US" altLang="zh-CN" sz="1700" kern="100" dirty="0">
              <a:solidFill>
                <a:srgbClr val="00000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章的性能模型研究主要针对卷积神经网络进行，该方法是否可以扩展支持其他种类的神经网络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如果希望在其他软硬件平台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例如，</a:t>
            </a:r>
            <a:r>
              <a:rPr lang="en-US" altLang="zh-CN" sz="1700" b="1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PyTorch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A100)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上进行建模，需要做哪些工程实现工作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建模过程本身需要多长的运行时间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章的性能模型也能扩展到其他类型的神经网络和其他软硬件平台，已在第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6.2.1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节新增了扩展到其他网络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平台所需要额外进行的修改。已在第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3.4.2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节新增了建模过程的时间开销。</a:t>
            </a:r>
          </a:p>
          <a:p>
            <a:pPr algn="just"/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7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4.2.5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节在自动并行研究中的性能模型与第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章的性能建模研究是什么关系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4.2.5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节增加了对两个性能模型之间的关系的描述，并解释了没有在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4.2.5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节使用第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章性能模型的原因。</a:t>
            </a:r>
          </a:p>
          <a:p>
            <a:pPr marL="228600" algn="just"/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5.3.5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节第二段的理论分析需要展开描述，说明各个符号的涵义，计算的过程等。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5.3.5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节第二段增加了对各个符号涵义的阐述，并展开描述了计算过程。</a:t>
            </a:r>
          </a:p>
          <a:p>
            <a:pPr marL="22860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5.4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节研究了自适应流水线并行机制，是否可以采用第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章提出的方式进行并行方案的搜索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5.4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节自适应流水线并行机制也可以采用第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章提出的方式搜索并行方案，但我们未直接应用该方案的原因是自适应流水线的搜索空间更小，并且弹性训练场景的搜索时间往往更短。已在第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5.4.3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节增加了进一步的阐释。</a:t>
            </a:r>
          </a:p>
        </p:txBody>
      </p:sp>
      <p:sp>
        <p:nvSpPr>
          <p:cNvPr id="26" name="矩形 20">
            <a:extLst>
              <a:ext uri="{FF2B5EF4-FFF2-40B4-BE49-F238E27FC236}">
                <a16:creationId xmlns:a16="http://schemas.microsoft.com/office/drawing/2014/main" id="{A6D3DCFA-B2D4-E1CA-C97D-67115DBF7AFD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评阅后修改情况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02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82F8A667-4FFA-F5A2-24F9-7073D371E09E}"/>
              </a:ext>
            </a:extLst>
          </p:cNvPr>
          <p:cNvSpPr txBox="1"/>
          <p:nvPr/>
        </p:nvSpPr>
        <p:spPr>
          <a:xfrm>
            <a:off x="215170" y="1170014"/>
            <a:ext cx="11803963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Ø"/>
            </a:pP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专家</a:t>
            </a:r>
            <a:r>
              <a:rPr lang="en-US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评阅意见及修改情况</a:t>
            </a:r>
            <a:endParaRPr lang="zh-CN" altLang="zh-CN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1.2.2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节中并行优化策略空间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10^140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是如何计算出来的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700" b="1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已在文章第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1.2.2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节增加了相应的阐释。</a:t>
            </a:r>
            <a:endParaRPr lang="en-US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endParaRPr lang="en-US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专家</a:t>
            </a:r>
            <a:r>
              <a:rPr lang="en-US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评阅意见及修改情况</a:t>
            </a:r>
            <a:endParaRPr lang="zh-CN" altLang="zh-CN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论文可以进一步探讨如何在异构硬件环境下应用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Aceso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算法，以及如何将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LivePipe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系统与其他弹性训练技术相结合。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6.2.2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节和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6.2.3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节增加了对异构环境下如何应用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Aceso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算法以及如何将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LivePipe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与其他弹性训练结束结合的思考。</a:t>
            </a:r>
            <a:endParaRPr lang="en-US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论文可以进一步分析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SEER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模型在不同类型神经网络上的适用性，以及如何将其扩展到其他硬件平台。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6.2.1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节增加了对如何将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SEER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应用到其他神经网络以及如何扩展到其他硬件平台的阐述。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</a:p>
          <a:p>
            <a:pPr lvl="0" algn="just"/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文中的一些图表，可以考虑把英文翻译成中文，例如图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4-1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等。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已将部分英文图表翻译成中文，包括图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3-4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，图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4-1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，图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4-2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，图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5-9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专家</a:t>
            </a:r>
            <a:r>
              <a:rPr lang="en-US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zh-CN" sz="2000" b="1" u="sng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评阅意见及修改情况</a:t>
            </a:r>
            <a:endParaRPr lang="zh-CN" altLang="zh-CN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论文中一些章节的内容有部分重复，比如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1.1.3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都介绍了数据并行、张量并行、流水线并行、混合并行</a:t>
            </a:r>
            <a:r>
              <a:rPr lang="en-US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机制组合。建议对重复部分进行简化。</a:t>
            </a:r>
            <a:endParaRPr lang="en-US" altLang="zh-CN" sz="17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lvl="0" algn="just"/>
            <a:r>
              <a:rPr lang="zh-CN" altLang="zh-CN" sz="17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修改情况：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已在</a:t>
            </a:r>
            <a:r>
              <a:rPr lang="en-US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4.1.1</a:t>
            </a:r>
            <a:r>
              <a:rPr lang="zh-CN" altLang="zh-CN" sz="17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节对重复内容进行了简化。</a:t>
            </a:r>
          </a:p>
          <a:p>
            <a:pPr lvl="0" algn="just"/>
            <a:endParaRPr lang="zh-CN" altLang="zh-CN" sz="17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0">
            <a:extLst>
              <a:ext uri="{FF2B5EF4-FFF2-40B4-BE49-F238E27FC236}">
                <a16:creationId xmlns:a16="http://schemas.microsoft.com/office/drawing/2014/main" id="{A6D3DCFA-B2D4-E1CA-C97D-67115DBF7AFD}"/>
              </a:ext>
            </a:extLst>
          </p:cNvPr>
          <p:cNvSpPr/>
          <p:nvPr/>
        </p:nvSpPr>
        <p:spPr>
          <a:xfrm>
            <a:off x="250614" y="222693"/>
            <a:ext cx="8196156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评阅后修改情况</a:t>
            </a:r>
            <a:endParaRPr lang="en-US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046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0"/>
          <p:cNvSpPr/>
          <p:nvPr/>
        </p:nvSpPr>
        <p:spPr>
          <a:xfrm>
            <a:off x="215170" y="212466"/>
            <a:ext cx="11592817" cy="66678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信息技术的</a:t>
            </a:r>
            <a:r>
              <a:rPr lang="en-US" altLang="zh-CN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IT3.0</a:t>
            </a:r>
            <a:r>
              <a:rPr lang="zh-CN" altLang="en-US" sz="3733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时代：人、机、物三元互联</a:t>
            </a:r>
          </a:p>
        </p:txBody>
      </p:sp>
      <p:pic>
        <p:nvPicPr>
          <p:cNvPr id="6" name="Picture 3" descr="C:\Users\nec\Desktop\ppt\图\IMG_6074.JPG"/>
          <p:cNvPicPr>
            <a:picLocks noChangeAspect="1"/>
          </p:cNvPicPr>
          <p:nvPr/>
        </p:nvPicPr>
        <p:blipFill>
          <a:blip r:embed="rId3" cstate="print"/>
          <a:srcRect t="69600"/>
          <a:stretch>
            <a:fillRect/>
          </a:stretch>
        </p:blipFill>
        <p:spPr>
          <a:xfrm>
            <a:off x="-20320" y="0"/>
            <a:ext cx="12247880" cy="1044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-20320" y="1"/>
            <a:ext cx="12247880" cy="1065953"/>
          </a:xfrm>
          <a:prstGeom prst="rect">
            <a:avLst/>
          </a:prstGeom>
          <a:solidFill>
            <a:srgbClr val="1169B3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400" noProof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KSO_Shape"/>
          <p:cNvSpPr/>
          <p:nvPr/>
        </p:nvSpPr>
        <p:spPr>
          <a:xfrm>
            <a:off x="-21166" y="307341"/>
            <a:ext cx="271780" cy="432647"/>
          </a:xfrm>
          <a:custGeom>
            <a:avLst/>
            <a:gdLst>
              <a:gd name="connsiteX0" fmla="*/ 0 w 432"/>
              <a:gd name="connsiteY0" fmla="*/ 0 h 631"/>
              <a:gd name="connsiteX1" fmla="*/ 120 w 432"/>
              <a:gd name="connsiteY1" fmla="*/ 36 h 631"/>
              <a:gd name="connsiteX2" fmla="*/ 432 w 432"/>
              <a:gd name="connsiteY2" fmla="*/ 318 h 631"/>
              <a:gd name="connsiteX3" fmla="*/ 50 w 432"/>
              <a:gd name="connsiteY3" fmla="*/ 631 h 631"/>
              <a:gd name="connsiteX4" fmla="*/ 0 w 432"/>
              <a:gd name="connsiteY4" fmla="*/ 630 h 631"/>
              <a:gd name="connsiteX5" fmla="*/ 0 w 432"/>
              <a:gd name="connsiteY5" fmla="*/ 0 h 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2" h="631">
                <a:moveTo>
                  <a:pt x="0" y="0"/>
                </a:moveTo>
                <a:lnTo>
                  <a:pt x="120" y="36"/>
                </a:lnTo>
                <a:lnTo>
                  <a:pt x="432" y="318"/>
                </a:lnTo>
                <a:lnTo>
                  <a:pt x="50" y="631"/>
                </a:lnTo>
                <a:lnTo>
                  <a:pt x="0" y="630"/>
                </a:lnTo>
                <a:lnTo>
                  <a:pt x="0" y="0"/>
                </a:lnTo>
                <a:close/>
              </a:path>
            </a:pathLst>
          </a:custGeom>
          <a:solidFill>
            <a:srgbClr val="E5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920" descr="D:\计算所\PPT的模板\logo－b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9592" y="94331"/>
            <a:ext cx="1129069" cy="934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8798AF-97C2-D3B1-2BE0-0E47500C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AFA4C-2B9D-4D18-AC20-7FED1E2F9B6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FA50A-6C5C-42D9-8B17-DAF5D761A306}"/>
              </a:ext>
            </a:extLst>
          </p:cNvPr>
          <p:cNvSpPr txBox="1"/>
          <p:nvPr/>
        </p:nvSpPr>
        <p:spPr>
          <a:xfrm>
            <a:off x="4203461" y="2644170"/>
            <a:ext cx="38003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CN" sz="4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谢谢</a:t>
            </a:r>
            <a:r>
              <a:rPr lang="zh-CN" altLang="en-US" sz="4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！</a:t>
            </a:r>
            <a:endParaRPr lang="en-US" altLang="zh-CN" sz="4800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lang="zh-CN" altLang="en-US" sz="4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请老师指正</a:t>
            </a:r>
            <a:endParaRPr lang="en-CN" sz="4800" b="1" dirty="0"/>
          </a:p>
        </p:txBody>
      </p:sp>
    </p:spTree>
    <p:extLst>
      <p:ext uri="{BB962C8B-B14F-4D97-AF65-F5344CB8AC3E}">
        <p14:creationId xmlns:p14="http://schemas.microsoft.com/office/powerpoint/2010/main" val="4046940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7366</TotalTime>
  <Words>2055</Words>
  <Application>Microsoft Office PowerPoint</Application>
  <PresentationFormat>宽屏</PresentationFormat>
  <Paragraphs>332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Microsoft YaHei UI</vt:lpstr>
      <vt:lpstr>等线 Light</vt:lpstr>
      <vt:lpstr>Arial</vt:lpstr>
      <vt:lpstr>Calibri</vt:lpstr>
      <vt:lpstr>Times New Roman</vt:lpstr>
      <vt:lpstr>Wingdings</vt:lpstr>
      <vt:lpstr>等线</vt:lpstr>
      <vt:lpstr>华文隶书</vt:lpstr>
      <vt:lpstr>微软雅黑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huining</dc:creator>
  <cp:lastModifiedBy>潇 陈</cp:lastModifiedBy>
  <cp:revision>195</cp:revision>
  <dcterms:created xsi:type="dcterms:W3CDTF">2022-01-05T02:50:25Z</dcterms:created>
  <dcterms:modified xsi:type="dcterms:W3CDTF">2026-06-14T16:08:21Z</dcterms:modified>
</cp:coreProperties>
</file>