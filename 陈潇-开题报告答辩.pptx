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8"/>
    <p:sldId id="269" r:id="rId7"/>
    <p:sldId id="270" r:id="rId6"/>
    <p:sldId id="271" r:id="rId5"/>
    <p:sldId id="272" r:id="rId4"/>
    <p:sldId id="273" r:id="rId3"/>
    <p:sldId id="274" r:id="rId2"/>
    <p:sldId id="275" r:id="rId28"/>
    <p:sldId id="276" r:id="rId29"/>
    <p:sldId id="277" r:id="rId30"/>
  </p:sldIdLst>
  <p:sldSz cx="12191999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95B0AF-BCEC-4E1D-B0E5-06EBE07B79E8}" v="1" dt="2026-06-14T14:16:58.8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902"/>
    <p:restoredTop sz="94714"/>
  </p:normalViewPr>
  <p:slideViewPr>
    <p:cSldViewPr snapToGrid="0">
      <p:cViewPr varScale="1">
        <p:scale>
          <a:sx n="152" d="100"/>
          <a:sy n="152" d="100"/>
        </p:scale>
        <p:origin x="1428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9.xml"/><Relationship Id="rId3" Type="http://schemas.openxmlformats.org/officeDocument/2006/relationships/slide" Target="slides/slide18.xml"/><Relationship Id="rId4" Type="http://schemas.openxmlformats.org/officeDocument/2006/relationships/slide" Target="slides/slide17.xml"/><Relationship Id="rId5" Type="http://schemas.openxmlformats.org/officeDocument/2006/relationships/slide" Target="slides/slide16.xml"/><Relationship Id="rId6" Type="http://schemas.openxmlformats.org/officeDocument/2006/relationships/slide" Target="slides/slide15.xml"/><Relationship Id="rId7" Type="http://schemas.openxmlformats.org/officeDocument/2006/relationships/slide" Target="slides/slide14.xml"/><Relationship Id="rId8" Type="http://schemas.openxmlformats.org/officeDocument/2006/relationships/slide" Target="slides/slide13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6/11/relationships/changesInfo" Target="changesInfos/changesInfo1.xml"/><Relationship Id="rId27" Type="http://schemas.microsoft.com/office/2015/10/relationships/revisionInfo" Target="revisionInfo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潇 陈" userId="14fc73876ea915df" providerId="LiveId" clId="{E2A3C2C3-8315-4A3E-9876-2FE35F167E81}"/>
    <pc:docChg chg="delSld">
      <pc:chgData name="潇 陈" userId="14fc73876ea915df" providerId="LiveId" clId="{E2A3C2C3-8315-4A3E-9876-2FE35F167E81}" dt="2026-06-06T08:52:57.927" v="2" actId="47"/>
      <pc:docMkLst>
        <pc:docMk/>
      </pc:docMkLst>
    </pc:docChg>
  </pc:docChgLst>
  <pc:docChgLst>
    <pc:chgData name="潇 陈" userId="14fc73876ea915df" providerId="LiveId" clId="{E27E2893-F55A-4E6A-AA18-061D11DD6DB9}"/>
    <pc:docChg chg="undo custSel modSld">
      <pc:chgData name="潇 陈" userId="14fc73876ea915df" providerId="LiveId" clId="{E27E2893-F55A-4E6A-AA18-061D11DD6DB9}" dt="2026-06-14T14:18:45.998" v="211" actId="20577"/>
      <pc:docMkLst>
        <pc:docMk/>
      </pc:docMkLst>
      <pc:sldChg chg="modSp mod">
        <pc:chgData name="潇 陈" userId="14fc73876ea915df" providerId="LiveId" clId="{E27E2893-F55A-4E6A-AA18-061D11DD6DB9}" dt="2026-06-14T14:14:32.779" v="104" actId="20577"/>
        <pc:sldMkLst>
          <pc:docMk/>
          <pc:sldMk cId="0" sldId="1567"/>
        </pc:sldMkLst>
        <pc:spChg chg="mod">
          <ac:chgData name="潇 陈" userId="14fc73876ea915df" providerId="LiveId" clId="{E27E2893-F55A-4E6A-AA18-061D11DD6DB9}" dt="2026-06-14T14:14:32.779" v="104" actId="20577"/>
          <ac:spMkLst>
            <pc:docMk/>
            <pc:sldMk cId="0" sldId="1567"/>
            <ac:spMk id="3" creationId="{F1237743-FA03-C776-30E3-3DE92A0E1158}"/>
          </ac:spMkLst>
        </pc:spChg>
        <pc:spChg chg="mod">
          <ac:chgData name="潇 陈" userId="14fc73876ea915df" providerId="LiveId" clId="{E27E2893-F55A-4E6A-AA18-061D11DD6DB9}" dt="2026-06-14T14:12:38.127" v="1"/>
          <ac:spMkLst>
            <pc:docMk/>
            <pc:sldMk cId="0" sldId="1567"/>
            <ac:spMk id="10" creationId="{00000000-0000-0000-0000-000000000000}"/>
          </ac:spMkLst>
        </pc:spChg>
        <pc:spChg chg="mod">
          <ac:chgData name="潇 陈" userId="14fc73876ea915df" providerId="LiveId" clId="{E27E2893-F55A-4E6A-AA18-061D11DD6DB9}" dt="2026-06-14T14:13:03.945" v="98" actId="20577"/>
          <ac:spMkLst>
            <pc:docMk/>
            <pc:sldMk cId="0" sldId="1567"/>
            <ac:spMk id="11" creationId="{00000000-0000-0000-0000-000000000000}"/>
          </ac:spMkLst>
        </pc:spChg>
      </pc:sldChg>
      <pc:sldChg chg="addSp delSp modSp mod">
        <pc:chgData name="潇 陈" userId="14fc73876ea915df" providerId="LiveId" clId="{E27E2893-F55A-4E6A-AA18-061D11DD6DB9}" dt="2026-06-14T14:18:45.998" v="211" actId="20577"/>
        <pc:sldMkLst>
          <pc:docMk/>
          <pc:sldMk cId="4130777904" sldId="1918"/>
        </pc:sldMkLst>
        <pc:spChg chg="mod">
          <ac:chgData name="潇 陈" userId="14fc73876ea915df" providerId="LiveId" clId="{E27E2893-F55A-4E6A-AA18-061D11DD6DB9}" dt="2026-06-14T14:17:56.729" v="174" actId="20577"/>
          <ac:spMkLst>
            <pc:docMk/>
            <pc:sldMk cId="4130777904" sldId="1918"/>
            <ac:spMk id="3" creationId="{8E9E21FC-1FFD-80A8-DC4B-04F55B8791D0}"/>
          </ac:spMkLst>
        </pc:spChg>
        <pc:spChg chg="mod">
          <ac:chgData name="潇 陈" userId="14fc73876ea915df" providerId="LiveId" clId="{E27E2893-F55A-4E6A-AA18-061D11DD6DB9}" dt="2026-06-14T14:17:04.683" v="140" actId="20577"/>
          <ac:spMkLst>
            <pc:docMk/>
            <pc:sldMk cId="4130777904" sldId="1918"/>
            <ac:spMk id="11" creationId="{7561AB59-E006-4216-8ABB-DEFEEC01D424}"/>
          </ac:spMkLst>
        </pc:spChg>
        <pc:spChg chg="mod">
          <ac:chgData name="潇 陈" userId="14fc73876ea915df" providerId="LiveId" clId="{E27E2893-F55A-4E6A-AA18-061D11DD6DB9}" dt="2026-06-14T14:18:29.467" v="175" actId="1076"/>
          <ac:spMkLst>
            <pc:docMk/>
            <pc:sldMk cId="4130777904" sldId="1918"/>
            <ac:spMk id="23" creationId="{7AB0E501-1698-0D28-0A5F-1C87F6E60880}"/>
          </ac:spMkLst>
        </pc:spChg>
        <pc:spChg chg="mod">
          <ac:chgData name="潇 陈" userId="14fc73876ea915df" providerId="LiveId" clId="{E27E2893-F55A-4E6A-AA18-061D11DD6DB9}" dt="2026-06-14T14:17:34.434" v="148" actId="1076"/>
          <ac:spMkLst>
            <pc:docMk/>
            <pc:sldMk cId="4130777904" sldId="1918"/>
            <ac:spMk id="44" creationId="{BE3BBC25-40DD-4C0E-EA99-101937B004B8}"/>
          </ac:spMkLst>
        </pc:spChg>
        <pc:spChg chg="mod">
          <ac:chgData name="潇 陈" userId="14fc73876ea915df" providerId="LiveId" clId="{E27E2893-F55A-4E6A-AA18-061D11DD6DB9}" dt="2026-06-14T14:17:36.847" v="149" actId="1076"/>
          <ac:spMkLst>
            <pc:docMk/>
            <pc:sldMk cId="4130777904" sldId="1918"/>
            <ac:spMk id="45" creationId="{765934B1-9FAB-E038-3883-68E243181503}"/>
          </ac:spMkLst>
        </pc:spChg>
        <pc:spChg chg="mod">
          <ac:chgData name="潇 陈" userId="14fc73876ea915df" providerId="LiveId" clId="{E27E2893-F55A-4E6A-AA18-061D11DD6DB9}" dt="2026-06-14T14:18:45.998" v="211" actId="20577"/>
          <ac:spMkLst>
            <pc:docMk/>
            <pc:sldMk cId="4130777904" sldId="1918"/>
            <ac:spMk id="46" creationId="{C88DD15D-E1CB-FFA9-C380-38A3394B444C}"/>
          </ac:spMkLst>
        </pc:spChg>
        <pc:spChg chg="del topLvl">
          <ac:chgData name="潇 陈" userId="14fc73876ea915df" providerId="LiveId" clId="{E27E2893-F55A-4E6A-AA18-061D11DD6DB9}" dt="2026-06-14T14:17:17.372" v="145" actId="478"/>
          <ac:spMkLst>
            <pc:docMk/>
            <pc:sldMk cId="4130777904" sldId="1918"/>
            <ac:spMk id="5130" creationId="{FF83F8C2-DEC9-7321-D971-C6EFF8D19390}"/>
          </ac:spMkLst>
        </pc:spChg>
        <pc:spChg chg="mod topLvl">
          <ac:chgData name="潇 陈" userId="14fc73876ea915df" providerId="LiveId" clId="{E27E2893-F55A-4E6A-AA18-061D11DD6DB9}" dt="2026-06-14T14:17:27.932" v="146" actId="1076"/>
          <ac:spMkLst>
            <pc:docMk/>
            <pc:sldMk cId="4130777904" sldId="1918"/>
            <ac:spMk id="5131" creationId="{0FECEB68-FCF5-EE7D-2BD3-1A167DF99623}"/>
          </ac:spMkLst>
        </pc:spChg>
        <pc:spChg chg="add del">
          <ac:chgData name="潇 陈" userId="14fc73876ea915df" providerId="LiveId" clId="{E27E2893-F55A-4E6A-AA18-061D11DD6DB9}" dt="2026-06-14T14:17:15.045" v="143" actId="478"/>
          <ac:spMkLst>
            <pc:docMk/>
            <pc:sldMk cId="4130777904" sldId="1918"/>
            <ac:spMk id="5140" creationId="{8AC0140B-CD45-37AE-3958-82879EFEAAAE}"/>
          </ac:spMkLst>
        </pc:spChg>
        <pc:grpChg chg="mod">
          <ac:chgData name="潇 陈" userId="14fc73876ea915df" providerId="LiveId" clId="{E27E2893-F55A-4E6A-AA18-061D11DD6DB9}" dt="2026-06-14T14:17:49.664" v="150" actId="1076"/>
          <ac:grpSpMkLst>
            <pc:docMk/>
            <pc:sldMk cId="4130777904" sldId="1918"/>
            <ac:grpSpMk id="2" creationId="{C85286B4-90BC-F5B9-8A25-101AC3C1B8B8}"/>
          </ac:grpSpMkLst>
        </pc:grpChg>
        <pc:grpChg chg="add del">
          <ac:chgData name="潇 陈" userId="14fc73876ea915df" providerId="LiveId" clId="{E27E2893-F55A-4E6A-AA18-061D11DD6DB9}" dt="2026-06-14T14:17:16.495" v="144" actId="478"/>
          <ac:grpSpMkLst>
            <pc:docMk/>
            <pc:sldMk cId="4130777904" sldId="1918"/>
            <ac:grpSpMk id="4" creationId="{99521A93-4728-2783-6F6E-1DB3C28990A5}"/>
          </ac:grpSpMkLst>
        </pc:grpChg>
        <pc:grpChg chg="mod">
          <ac:chgData name="潇 陈" userId="14fc73876ea915df" providerId="LiveId" clId="{E27E2893-F55A-4E6A-AA18-061D11DD6DB9}" dt="2026-06-14T14:18:37.347" v="176" actId="1076"/>
          <ac:grpSpMkLst>
            <pc:docMk/>
            <pc:sldMk cId="4130777904" sldId="1918"/>
            <ac:grpSpMk id="5" creationId="{F2403960-E819-8BEA-09B3-08583F5A2231}"/>
          </ac:grpSpMkLst>
        </pc:grpChg>
        <pc:grpChg chg="mod">
          <ac:chgData name="潇 陈" userId="14fc73876ea915df" providerId="LiveId" clId="{E27E2893-F55A-4E6A-AA18-061D11DD6DB9}" dt="2026-06-14T14:17:49.664" v="150" actId="1076"/>
          <ac:grpSpMkLst>
            <pc:docMk/>
            <pc:sldMk cId="4130777904" sldId="1918"/>
            <ac:grpSpMk id="14" creationId="{79D02E49-B919-F76B-8792-FF80B2E881AE}"/>
          </ac:grpSpMkLst>
        </pc:grpChg>
        <pc:grpChg chg="add del">
          <ac:chgData name="潇 陈" userId="14fc73876ea915df" providerId="LiveId" clId="{E27E2893-F55A-4E6A-AA18-061D11DD6DB9}" dt="2026-06-14T14:17:16.495" v="144" actId="478"/>
          <ac:grpSpMkLst>
            <pc:docMk/>
            <pc:sldMk cId="4130777904" sldId="1918"/>
            <ac:grpSpMk id="18" creationId="{52E4006C-5553-A23D-381D-F3319DB878BD}"/>
          </ac:grpSpMkLst>
        </pc:grpChg>
        <pc:grpChg chg="mod">
          <ac:chgData name="潇 陈" userId="14fc73876ea915df" providerId="LiveId" clId="{E27E2893-F55A-4E6A-AA18-061D11DD6DB9}" dt="2026-06-14T14:18:37.347" v="176" actId="1076"/>
          <ac:grpSpMkLst>
            <pc:docMk/>
            <pc:sldMk cId="4130777904" sldId="1918"/>
            <ac:grpSpMk id="42" creationId="{6AB853F9-CE8D-B281-9817-28ADEBA0B7AA}"/>
          </ac:grpSpMkLst>
        </pc:grpChg>
        <pc:grpChg chg="del">
          <ac:chgData name="潇 陈" userId="14fc73876ea915df" providerId="LiveId" clId="{E27E2893-F55A-4E6A-AA18-061D11DD6DB9}" dt="2026-06-14T14:17:17.372" v="145" actId="478"/>
          <ac:grpSpMkLst>
            <pc:docMk/>
            <pc:sldMk cId="4130777904" sldId="1918"/>
            <ac:grpSpMk id="5126" creationId="{A0E177E5-A049-3C5C-DBE2-87A04E5DD91B}"/>
          </ac:grpSpMkLst>
        </pc:grpChg>
        <pc:grpChg chg="add del">
          <ac:chgData name="潇 陈" userId="14fc73876ea915df" providerId="LiveId" clId="{E27E2893-F55A-4E6A-AA18-061D11DD6DB9}" dt="2026-06-14T14:17:16.495" v="144" actId="478"/>
          <ac:grpSpMkLst>
            <pc:docMk/>
            <pc:sldMk cId="4130777904" sldId="1918"/>
            <ac:grpSpMk id="5127" creationId="{14AED640-8C5A-FC78-EA29-CE13134AC636}"/>
          </ac:grpSpMkLst>
        </pc:gr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EF2D7F-44C1-470F-8EFA-B89AC86EDD2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48A008-9EBE-4984-B804-07A2F1EC02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3860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2273F5-D869-48B6-9E8D-5000814E6E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EA68F36-A654-4FC8-B844-E1D12B3AE2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F510F8-DE3D-4386-8C99-294B0A948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42A1E-8A2D-2F43-B7FC-72AE5266F0DA}" type="datetime1">
              <a:rPr lang="en-US" altLang="zh-CN" smtClean="0"/>
              <a:t>6/14/2026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68F1F6-9FBE-477D-B112-18DCC05AE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A82566-6301-43F9-8F92-F8A427206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FA4C-2B9D-4D18-AC20-7FED1E2F9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750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AC5AD7-7E18-460B-95C0-497A8D3B0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CDD01F-A695-49CF-9904-342268831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CB2E7F-800A-4A6D-9375-65383DA26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C82A4-8D11-3B40-B5CD-14257A4FA07E}" type="datetime1">
              <a:rPr lang="en-US" altLang="zh-CN" smtClean="0"/>
              <a:t>6/14/2026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73B17C-6C4C-4FC5-8A40-EE9B64E22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6944AA-E543-40DE-93D1-267E12F44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FA4C-2B9D-4D18-AC20-7FED1E2F9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696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DAFBFF-9A77-4545-8160-E10A3F2DA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0065E1-B2FF-45D0-ABE1-1E742E368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6F04D8-8784-410C-9D53-A0CCA818A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9059-8D09-4A49-BD32-9B02A70A7C8B}" type="datetime1">
              <a:rPr lang="en-US" altLang="zh-CN" smtClean="0"/>
              <a:t>6/14/2026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32AECE-B695-4BCF-A8AC-270D8B859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E4FD6B-3786-48A3-B360-23F530892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FA4C-2B9D-4D18-AC20-7FED1E2F9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1346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D2974B-98D9-45C6-9E13-43EA9C3A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58CDCD-0166-4B02-B27D-6666AF4ADA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351CA9F-20C5-4B02-BFC6-14E3266A2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16F47B-9C50-4205-BE88-CBEC915E4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DB53-E403-214F-9858-A976BBC6781C}" type="datetime1">
              <a:rPr lang="en-US" altLang="zh-CN" smtClean="0"/>
              <a:t>6/14/2026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82539B-0C4C-4992-BD67-ECF91986D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4208A4-F55A-4946-808E-AD1881377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FA4C-2B9D-4D18-AC20-7FED1E2F9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7280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FE28A3-9CD0-4DD8-ADF0-07559ACE0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BCCB69-8EEF-43EC-8624-5ACEFDB43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D6C02A3-A108-409E-A5C1-D4946DC7FA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FD21184-88F1-433D-BB81-F55C8F2210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A2B8758-32B1-4DF7-AC50-3C799D9F09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D7437BC-B5DA-4E63-9062-D95EBE55B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DF9D7-AA4A-7646-BE88-4980904E29E0}" type="datetime1">
              <a:rPr lang="en-US" altLang="zh-CN" smtClean="0"/>
              <a:t>6/14/2026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C1F2F1-058A-4D0A-945A-725219A06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A56C51C-380D-482E-998E-3819402B4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FA4C-2B9D-4D18-AC20-7FED1E2F9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406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7E0977-DF55-449F-803A-82F051F4A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AFD93C7-4CBB-4E36-9794-373A0EB57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165CA-5E68-BB40-A0E3-C8725EFB916D}" type="datetime1">
              <a:rPr lang="en-US" altLang="zh-CN" smtClean="0"/>
              <a:t>6/14/2026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557FB65-EEA7-489E-9A4D-E28228C2B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94A9E50-55C2-4ACB-BBF3-2C125F7E5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FA4C-2B9D-4D18-AC20-7FED1E2F9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3082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18C79F3-893C-4F3C-A9CA-792E72FBD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04B57-BBEC-CC45-8DDB-7E1304F51DA7}" type="datetime1">
              <a:rPr lang="en-US" altLang="zh-CN" smtClean="0"/>
              <a:t>6/14/2026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E620F30-02C4-4B3A-8EB3-2B05D1390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5247A9-542F-46E4-A2B6-12C62CC91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FA4C-2B9D-4D18-AC20-7FED1E2F9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6315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98F16D-11D5-43D2-B351-22FD81A0F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48136F-D49B-47EC-B653-03F944E67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CE415A-6636-4E58-A6ED-F4272F1F45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40E851-985B-4049-9134-72EF38F05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8308B-4AA3-A544-9A50-E4CF126D27DC}" type="datetime1">
              <a:rPr lang="en-US" altLang="zh-CN" smtClean="0"/>
              <a:t>6/14/2026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FEFF272-A2CA-4A34-AA4E-182E06491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578BFE-24D1-4984-B111-F2CD383B7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FA4C-2B9D-4D18-AC20-7FED1E2F9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285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B32006-3FC6-4A5B-80F2-DE4805551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DB3F3CE-5DCD-415B-914C-3E506C74BC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DE6D909-C372-437B-ABF0-C5459FFCA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6E896F-8785-420F-AF7F-B6AFF7FAB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CD96D-5659-6741-B387-C522ED22A656}" type="datetime1">
              <a:rPr lang="en-US" altLang="zh-CN" smtClean="0"/>
              <a:t>6/14/2026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938E06-9DC5-4A77-8171-D40946FE9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56E8DF-E699-4C70-A1B8-04BE23D48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FA4C-2B9D-4D18-AC20-7FED1E2F9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89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E95D80-7387-4E46-8344-3ACDCC378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93F051-CE19-41AA-B092-CB7992505F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06AD87-E0F2-4011-8317-9B0220539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6BC82-5222-3543-8615-2863C3A41959}" type="datetime1">
              <a:rPr lang="en-US" altLang="zh-CN" smtClean="0"/>
              <a:t>6/14/2026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871922-16AE-4A01-951E-1E832E2D5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C0720D-FFC2-4643-901E-7617E0A26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FA4C-2B9D-4D18-AC20-7FED1E2F9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1697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E22F178-6420-4A27-AE0A-2672D52B5D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0633C43-7ABF-4C4A-BD75-4E8164650F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B21413-F042-4CED-AB2E-577F090B7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F441D-2052-2649-BFA1-B3A83284B95B}" type="datetime1">
              <a:rPr lang="en-US" altLang="zh-CN" smtClean="0"/>
              <a:t>6/14/2026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9DD06A-6417-4CC4-8192-C978551A6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555030-E2B1-448F-BAA7-5EA3E283E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FA4C-2B9D-4D18-AC20-7FED1E2F9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317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8845A9E-1CD2-4D3D-928D-FFB7A4E78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197D57-EB65-4F47-A74A-1E4918880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99B9C2-1E65-40B8-9023-94952E1021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021ED9-3FAB-D34B-94BD-E46F408107C4}" type="datetime1">
              <a:rPr lang="en-US" altLang="zh-CN" smtClean="0"/>
              <a:t>6/14/2026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8369C8-ADBB-47B1-8BF7-AC3E01B4D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8CF11E-34F6-4B11-937B-EA9DACDDD8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EAFA4C-2B9D-4D18-AC20-7FED1E2F9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0724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1572768"/>
            <a:ext cx="82296" cy="19659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420624"/>
            <a:ext cx="530352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F4E79"/>
                </a:solidFill>
                <a:latin typeface="Microsoft YaHei"/>
              </a:rPr>
              <a:t>中国科学院计算技术研究所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7132320" cy="237744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66666"/>
                </a:solidFill>
                <a:latin typeface="Aptos"/>
              </a:rPr>
              <a:t>Institute of Computing Technology, Chinese Academy of Sciences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481328"/>
            <a:ext cx="8961120" cy="1417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1F1F1F"/>
                </a:solidFill>
                <a:latin typeface="Microsoft YaHei"/>
              </a:rPr>
              <a:t>面向昇腾显卡的
大模型长文本推理优化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035808"/>
            <a:ext cx="3017520" cy="4114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2F75B5"/>
                </a:solidFill>
                <a:latin typeface="Microsoft YaHei"/>
              </a:rPr>
              <a:t>开题报告答辩</a:t>
            </a:r>
          </a:p>
        </p:txBody>
      </p:sp>
      <p:sp>
        <p:nvSpPr>
          <p:cNvPr id="9" name="Rectangle 8"/>
          <p:cNvSpPr/>
          <p:nvPr/>
        </p:nvSpPr>
        <p:spPr>
          <a:xfrm>
            <a:off x="7845552" y="1115568"/>
            <a:ext cx="3401568" cy="3108960"/>
          </a:xfrm>
          <a:prstGeom prst="rect">
            <a:avLst/>
          </a:prstGeom>
          <a:solidFill>
            <a:srgbClr val="FFFFFF"/>
          </a:solidFill>
          <a:ln w="1524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417320"/>
            <a:ext cx="256032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F4E79"/>
                </a:solidFill>
                <a:latin typeface="Microsoft YaHei"/>
              </a:rPr>
              <a:t>研究方向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9872" y="1783080"/>
            <a:ext cx="2697480" cy="1554480"/>
          </a:xfrm>
          <a:prstGeom prst="rect">
            <a:avLst/>
          </a:prstGeom>
          <a:noFill/>
        </p:spPr>
        <p:txBody>
          <a:bodyPr wrap="square" lIns="76200" rIns="76200" tIns="50800" bIns="50800">
            <a:normAutofit/>
          </a:bodyPr>
          <a:lstStyle/>
          <a:p>
            <a:pPr algn="l" marL="342900" indent="-171450">
              <a:lnSpc>
                <a:spcPct val="105000"/>
              </a:lnSpc>
            </a:pPr>
            <a:r>
              <a:rPr sz="1600">
                <a:solidFill>
                  <a:srgbClr val="1F1F1F"/>
                </a:solidFill>
                <a:latin typeface="Microsoft YaHei"/>
              </a:rPr>
              <a:t>• </a:t>
            </a:r>
            <a:r>
              <a:rPr sz="1600" b="0">
                <a:solidFill>
                  <a:srgbClr val="1F1F1F"/>
                </a:solidFill>
                <a:latin typeface="Microsoft YaHei"/>
              </a:rPr>
              <a:t>大模型推理系统优化</a:t>
            </a:r>
          </a:p>
          <a:p>
            <a:pPr algn="l" marL="342900" indent="-171450">
              <a:lnSpc>
                <a:spcPct val="105000"/>
              </a:lnSpc>
            </a:pPr>
            <a:r>
              <a:rPr sz="1600">
                <a:solidFill>
                  <a:srgbClr val="1F1F1F"/>
                </a:solidFill>
                <a:latin typeface="Microsoft YaHei"/>
              </a:rPr>
              <a:t>• </a:t>
            </a:r>
            <a:r>
              <a:rPr sz="1600" b="0">
                <a:solidFill>
                  <a:srgbClr val="1F1F1F"/>
                </a:solidFill>
                <a:latin typeface="Microsoft YaHei"/>
              </a:rPr>
              <a:t>Prefill-Decode 分离</a:t>
            </a:r>
          </a:p>
          <a:p>
            <a:pPr algn="l" marL="342900" indent="-171450">
              <a:lnSpc>
                <a:spcPct val="105000"/>
              </a:lnSpc>
            </a:pPr>
            <a:r>
              <a:rPr sz="1600">
                <a:solidFill>
                  <a:srgbClr val="1F1F1F"/>
                </a:solidFill>
                <a:latin typeface="Microsoft YaHei"/>
              </a:rPr>
              <a:t>• </a:t>
            </a:r>
            <a:r>
              <a:rPr sz="1600" b="0">
                <a:solidFill>
                  <a:srgbClr val="1F1F1F"/>
                </a:solidFill>
                <a:latin typeface="Microsoft YaHei"/>
              </a:rPr>
              <a:t>KV Cache 传输与重排</a:t>
            </a:r>
          </a:p>
          <a:p>
            <a:pPr algn="l" marL="342900" indent="-171450">
              <a:lnSpc>
                <a:spcPct val="105000"/>
              </a:lnSpc>
            </a:pPr>
            <a:r>
              <a:rPr sz="1600">
                <a:solidFill>
                  <a:srgbClr val="1F1F1F"/>
                </a:solidFill>
                <a:latin typeface="Microsoft YaHei"/>
              </a:rPr>
              <a:t>• </a:t>
            </a:r>
            <a:r>
              <a:rPr sz="1600" b="0">
                <a:solidFill>
                  <a:srgbClr val="1F1F1F"/>
                </a:solidFill>
                <a:latin typeface="Microsoft YaHei"/>
              </a:rPr>
              <a:t>动态上下文并行调度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4983480"/>
            <a:ext cx="6949440" cy="5486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F1F1F"/>
                </a:solidFill>
                <a:latin typeface="Microsoft YaHei"/>
              </a:rPr>
              <a:t>汇报人：陈潇    导师：王卅 副研究员
中国科学院计算技术研究所  先进计算机系统研究中心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5715000"/>
            <a:ext cx="192024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r">
              <a:lnSpc>
                <a:spcPct val="105000"/>
              </a:lnSpc>
            </a:pPr>
            <a:r>
              <a:rPr sz="1400" b="0">
                <a:solidFill>
                  <a:srgbClr val="666666"/>
                </a:solidFill>
                <a:latin typeface="Microsoft YaHei"/>
              </a:rPr>
              <a:t>2026 年 6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60350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66666"/>
                </a:solidFill>
                <a:latin typeface="Microsoft YaHei"/>
              </a:rPr>
              <a:t>面向昇腾显卡的大模型长文本推理优化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118872"/>
            <a:ext cx="3200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438912"/>
            <a:ext cx="11539728" cy="2286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029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F4E79"/>
                </a:solidFill>
                <a:latin typeface="Microsoft YaHei"/>
              </a:rPr>
              <a:t>目 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1417320"/>
            <a:ext cx="731520" cy="34747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F75B5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47088" y="1399032"/>
            <a:ext cx="384048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F1F1F"/>
                </a:solidFill>
                <a:latin typeface="Microsoft YaHei"/>
              </a:rPr>
              <a:t>选题背景与研究问题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1453896"/>
            <a:ext cx="530352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66666"/>
                </a:solidFill>
                <a:latin typeface="Microsoft YaHei"/>
              </a:rPr>
              <a:t>长文本推理、昇腾平台瓶颈、三个核心问题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87552" y="1901952"/>
            <a:ext cx="10076688" cy="0"/>
          </a:xfrm>
          <a:prstGeom prst="line">
            <a:avLst/>
          </a:prstGeom>
          <a:ln w="12700">
            <a:solidFill>
              <a:srgbClr val="DDE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87552" y="2240280"/>
            <a:ext cx="731520" cy="34747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F75B5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088" y="2221992"/>
            <a:ext cx="384048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F1F1F"/>
                </a:solidFill>
                <a:latin typeface="Microsoft YaHei"/>
              </a:rPr>
              <a:t>国内外研究现状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276856"/>
            <a:ext cx="530352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66666"/>
                </a:solidFill>
                <a:latin typeface="Microsoft YaHei"/>
              </a:rPr>
              <a:t>长文本推理服务、PD 分离、上下文并行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87552" y="2724912"/>
            <a:ext cx="10076688" cy="0"/>
          </a:xfrm>
          <a:prstGeom prst="line">
            <a:avLst/>
          </a:prstGeom>
          <a:ln w="12700">
            <a:solidFill>
              <a:srgbClr val="DDE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87552" y="3063240"/>
            <a:ext cx="731520" cy="34747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F75B5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7088" y="3044952"/>
            <a:ext cx="384048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F1F1F"/>
                </a:solidFill>
                <a:latin typeface="Microsoft YaHei"/>
              </a:rPr>
              <a:t>研究内容与关键技术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3099816"/>
            <a:ext cx="530352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66666"/>
                </a:solidFill>
                <a:latin typeface="Microsoft YaHei"/>
              </a:rPr>
              <a:t>PD Connector、中心化 DPLB、动态 CP 调度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87552" y="3547872"/>
            <a:ext cx="10076688" cy="0"/>
          </a:xfrm>
          <a:prstGeom prst="line">
            <a:avLst/>
          </a:prstGeom>
          <a:ln w="12700">
            <a:solidFill>
              <a:srgbClr val="DDE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87552" y="3886200"/>
            <a:ext cx="731520" cy="34747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F75B5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7088" y="3867912"/>
            <a:ext cx="384048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F1F1F"/>
                </a:solidFill>
                <a:latin typeface="Microsoft YaHei"/>
              </a:rPr>
              <a:t>技术路线与实验方案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3922776"/>
            <a:ext cx="530352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66666"/>
                </a:solidFill>
                <a:latin typeface="Microsoft YaHei"/>
              </a:rPr>
              <a:t>瓶颈量化、实验闭环、评价指标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87552" y="4370832"/>
            <a:ext cx="10076688" cy="0"/>
          </a:xfrm>
          <a:prstGeom prst="line">
            <a:avLst/>
          </a:prstGeom>
          <a:ln w="12700">
            <a:solidFill>
              <a:srgbClr val="DDE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87552" y="4709160"/>
            <a:ext cx="731520" cy="34747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F75B5"/>
                </a:solidFill>
                <a:latin typeface="Microsoft YaHe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47088" y="4690872"/>
            <a:ext cx="384048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F1F1F"/>
                </a:solidFill>
                <a:latin typeface="Microsoft YaHei"/>
              </a:rPr>
              <a:t>可行性与进度安排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4745736"/>
            <a:ext cx="530352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66666"/>
                </a:solidFill>
                <a:latin typeface="Microsoft YaHei"/>
              </a:rPr>
              <a:t>已有基础、风险分析、研究计划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87552" y="5193792"/>
            <a:ext cx="10076688" cy="0"/>
          </a:xfrm>
          <a:prstGeom prst="line">
            <a:avLst/>
          </a:prstGeom>
          <a:ln w="12700">
            <a:solidFill>
              <a:srgbClr val="DDE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89888"/>
            <a:ext cx="1005840" cy="5943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3500" b="1">
                <a:solidFill>
                  <a:srgbClr val="ED7D31"/>
                </a:solidFill>
                <a:latin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89888"/>
            <a:ext cx="7955279" cy="62179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F4E79"/>
                </a:solidFill>
                <a:latin typeface="Microsoft YaHei"/>
              </a:rPr>
              <a:t>选题背景与研究问题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93392" y="2176272"/>
            <a:ext cx="8046720" cy="43891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666666"/>
                </a:solidFill>
                <a:latin typeface="Microsoft YaHei"/>
              </a:rPr>
              <a:t>长文本推理从单点算子优化走向阶段级、请求级和序列级协同调度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1993392" y="2798064"/>
            <a:ext cx="7680960" cy="32004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93392" y="3072384"/>
            <a:ext cx="603504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面向昇腾显卡的大模型长文本推理优化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309360"/>
            <a:ext cx="3200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60350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66666"/>
                </a:solidFill>
                <a:latin typeface="Microsoft YaHei"/>
              </a:rPr>
              <a:t>面向昇腾显卡的大模型长文本推理优化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118872"/>
            <a:ext cx="3200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438912"/>
            <a:ext cx="11539728" cy="2286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029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F4E79"/>
                </a:solidFill>
                <a:latin typeface="Microsoft YaHei"/>
              </a:rPr>
              <a:t>长文本推理：Prefill 与 Decode 的瓶颈分化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8328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417320"/>
            <a:ext cx="73152" cy="18288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36192"/>
            <a:ext cx="3127248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F75B5"/>
                </a:solidFill>
                <a:latin typeface="Microsoft YaHei"/>
              </a:rPr>
              <a:t>应用侧需求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84248"/>
            <a:ext cx="3090672" cy="1143000"/>
          </a:xfrm>
          <a:prstGeom prst="rect">
            <a:avLst/>
          </a:prstGeom>
          <a:noFill/>
        </p:spPr>
        <p:txBody>
          <a:bodyPr wrap="square" lIns="76200" rIns="76200" tIns="50800" bIns="50800">
            <a:normAutofit/>
          </a:bodyPr>
          <a:lstStyle/>
          <a:p>
            <a:pPr algn="l" marL="342900" indent="-171450">
              <a:lnSpc>
                <a:spcPct val="105000"/>
              </a:lnSpc>
            </a:pPr>
            <a:r>
              <a:rPr sz="1300">
                <a:solidFill>
                  <a:srgbClr val="1F1F1F"/>
                </a:solidFill>
                <a:latin typeface="Microsoft YaHei"/>
              </a:rPr>
              <a:t>• </a:t>
            </a:r>
            <a:r>
              <a:rPr sz="1300" b="0">
                <a:solidFill>
                  <a:srgbClr val="1F1F1F"/>
                </a:solidFill>
                <a:latin typeface="Microsoft YaHei"/>
              </a:rPr>
              <a:t>知识库问答、长文档理解、代码仓库分析、智能体任务规划</a:t>
            </a:r>
          </a:p>
          <a:p>
            <a:pPr algn="l" marL="342900" indent="-171450">
              <a:lnSpc>
                <a:spcPct val="105000"/>
              </a:lnSpc>
            </a:pPr>
            <a:r>
              <a:rPr sz="1300">
                <a:solidFill>
                  <a:srgbClr val="1F1F1F"/>
                </a:solidFill>
                <a:latin typeface="Microsoft YaHei"/>
              </a:rPr>
              <a:t>• </a:t>
            </a:r>
            <a:r>
              <a:rPr sz="1300" b="0">
                <a:solidFill>
                  <a:srgbClr val="1F1F1F"/>
                </a:solidFill>
                <a:latin typeface="Microsoft YaHei"/>
              </a:rPr>
              <a:t>上下文长度从 4K 扩展到 128K、512K 乃至 1M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417320"/>
            <a:ext cx="338328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417320"/>
            <a:ext cx="73152" cy="1828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36192"/>
            <a:ext cx="3127248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ED7D31"/>
                </a:solidFill>
                <a:latin typeface="Microsoft YaHei"/>
              </a:rPr>
              <a:t>Prefill 阶段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84248"/>
            <a:ext cx="3090672" cy="1143000"/>
          </a:xfrm>
          <a:prstGeom prst="rect">
            <a:avLst/>
          </a:prstGeom>
          <a:noFill/>
        </p:spPr>
        <p:txBody>
          <a:bodyPr wrap="square" lIns="76200" rIns="76200" tIns="50800" bIns="50800">
            <a:normAutofit/>
          </a:bodyPr>
          <a:lstStyle/>
          <a:p>
            <a:pPr algn="l" marL="342900" indent="-171450">
              <a:lnSpc>
                <a:spcPct val="105000"/>
              </a:lnSpc>
            </a:pPr>
            <a:r>
              <a:rPr sz="1300">
                <a:solidFill>
                  <a:srgbClr val="1F1F1F"/>
                </a:solidFill>
                <a:latin typeface="Microsoft YaHei"/>
              </a:rPr>
              <a:t>• </a:t>
            </a:r>
            <a:r>
              <a:rPr sz="1300" b="0">
                <a:solidFill>
                  <a:srgbClr val="1F1F1F"/>
                </a:solidFill>
                <a:latin typeface="Microsoft YaHei"/>
              </a:rPr>
              <a:t>输入 token 并行计算，主要受矩阵乘法吞吐影响</a:t>
            </a:r>
          </a:p>
          <a:p>
            <a:pPr algn="l" marL="342900" indent="-171450">
              <a:lnSpc>
                <a:spcPct val="105000"/>
              </a:lnSpc>
            </a:pPr>
            <a:r>
              <a:rPr sz="1300">
                <a:solidFill>
                  <a:srgbClr val="1F1F1F"/>
                </a:solidFill>
                <a:latin typeface="Microsoft YaHei"/>
              </a:rPr>
              <a:t>• </a:t>
            </a:r>
            <a:r>
              <a:rPr sz="1300" b="0">
                <a:solidFill>
                  <a:srgbClr val="1F1F1F"/>
                </a:solidFill>
                <a:latin typeface="Microsoft YaHei"/>
              </a:rPr>
              <a:t>直接决定 TTFT，长 prompt 会显著拉高首字延迟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1417320"/>
            <a:ext cx="338328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6448" y="1417320"/>
            <a:ext cx="73152" cy="18288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536192"/>
            <a:ext cx="3127248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70AD47"/>
                </a:solidFill>
                <a:latin typeface="Microsoft YaHei"/>
              </a:rPr>
              <a:t>Decode 阶段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84248"/>
            <a:ext cx="3090672" cy="1143000"/>
          </a:xfrm>
          <a:prstGeom prst="rect">
            <a:avLst/>
          </a:prstGeom>
          <a:noFill/>
        </p:spPr>
        <p:txBody>
          <a:bodyPr wrap="square" lIns="76200" rIns="76200" tIns="50800" bIns="50800">
            <a:normAutofit/>
          </a:bodyPr>
          <a:lstStyle/>
          <a:p>
            <a:pPr algn="l" marL="342900" indent="-171450">
              <a:lnSpc>
                <a:spcPct val="105000"/>
              </a:lnSpc>
            </a:pPr>
            <a:r>
              <a:rPr sz="1300">
                <a:solidFill>
                  <a:srgbClr val="1F1F1F"/>
                </a:solidFill>
                <a:latin typeface="Microsoft YaHei"/>
              </a:rPr>
              <a:t>• </a:t>
            </a:r>
            <a:r>
              <a:rPr sz="1300" b="0">
                <a:solidFill>
                  <a:srgbClr val="1F1F1F"/>
                </a:solidFill>
                <a:latin typeface="Microsoft YaHei"/>
              </a:rPr>
              <a:t>逐 token 生成，需要反复读取历史 KV Cache</a:t>
            </a:r>
          </a:p>
          <a:p>
            <a:pPr algn="l" marL="342900" indent="-171450">
              <a:lnSpc>
                <a:spcPct val="105000"/>
              </a:lnSpc>
            </a:pPr>
            <a:r>
              <a:rPr sz="1300">
                <a:solidFill>
                  <a:srgbClr val="1F1F1F"/>
                </a:solidFill>
                <a:latin typeface="Microsoft YaHei"/>
              </a:rPr>
              <a:t>• </a:t>
            </a:r>
            <a:r>
              <a:rPr sz="1300" b="0">
                <a:solidFill>
                  <a:srgbClr val="1F1F1F"/>
                </a:solidFill>
                <a:latin typeface="Microsoft YaHei"/>
              </a:rPr>
              <a:t>上下文越长，HBM 访存越主导 TPOT/ITL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331720" y="3886200"/>
            <a:ext cx="7589520" cy="0"/>
          </a:xfrm>
          <a:prstGeom prst="line">
            <a:avLst/>
          </a:prstGeom>
          <a:ln w="25400">
            <a:solidFill>
              <a:srgbClr val="2F7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764792" y="3639312"/>
            <a:ext cx="1133856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74520" y="3758184"/>
            <a:ext cx="91440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666666"/>
                </a:solidFill>
                <a:latin typeface="Microsoft YaHei"/>
              </a:rPr>
              <a:t>混合部署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59552" y="3639312"/>
            <a:ext cx="1133856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3758184"/>
            <a:ext cx="91440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2F75B5"/>
                </a:solidFill>
                <a:latin typeface="Microsoft YaHei"/>
              </a:rPr>
              <a:t>PD 分离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54312" y="3639312"/>
            <a:ext cx="1133856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64040" y="3758184"/>
            <a:ext cx="91440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ED7D31"/>
                </a:solidFill>
                <a:latin typeface="Microsoft YaHei"/>
              </a:rPr>
              <a:t>动态 CP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663440"/>
            <a:ext cx="9875520" cy="47548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ctr">
              <a:lnSpc>
                <a:spcPct val="105000"/>
              </a:lnSpc>
            </a:pPr>
            <a:r>
              <a:rPr sz="2300" b="1">
                <a:solidFill>
                  <a:srgbClr val="1F4E79"/>
                </a:solidFill>
                <a:latin typeface="Microsoft YaHei"/>
              </a:rPr>
              <a:t>核心变化：从“同一批次内折中调参”转向“按阶段隔离、按请求调度、按序列切分”。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327648"/>
            <a:ext cx="1097280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TTFT: Time To First Token；TPOT: Time Per Output Token；ITL: Inter-token Latency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60350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66666"/>
                </a:solidFill>
                <a:latin typeface="Microsoft YaHei"/>
              </a:rPr>
              <a:t>面向昇腾显卡的大模型长文本推理优化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118872"/>
            <a:ext cx="3200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438912"/>
            <a:ext cx="11539728" cy="2286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029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F4E79"/>
                </a:solidFill>
                <a:latin typeface="Microsoft YaHei"/>
              </a:rPr>
              <a:t>昇腾平台上的关键矛盾：长上下文 Decode 访存放大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5029200" cy="4160520"/>
          </a:xfrm>
          <a:prstGeom prst="rect">
            <a:avLst/>
          </a:prstGeom>
          <a:solidFill>
            <a:srgbClr val="FAFCFF"/>
          </a:solidFill>
          <a:ln w="1524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64208"/>
            <a:ext cx="438912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1F4E79"/>
                </a:solidFill>
                <a:latin typeface="Microsoft YaHei"/>
              </a:rPr>
              <a:t>Decode 每生成一个 token 需要读取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176272"/>
            <a:ext cx="4297680" cy="1417320"/>
          </a:xfrm>
          <a:prstGeom prst="rect">
            <a:avLst/>
          </a:prstGeom>
          <a:noFill/>
        </p:spPr>
        <p:txBody>
          <a:bodyPr wrap="square" lIns="76200" rIns="76200" tIns="50800" bIns="50800">
            <a:normAutofit/>
          </a:bodyPr>
          <a:lstStyle/>
          <a:p>
            <a:pPr algn="l" marL="342900" indent="-171450">
              <a:lnSpc>
                <a:spcPct val="105000"/>
              </a:lnSpc>
            </a:pPr>
            <a:r>
              <a:rPr sz="1600">
                <a:solidFill>
                  <a:srgbClr val="1F1F1F"/>
                </a:solidFill>
                <a:latin typeface="Microsoft YaHei"/>
              </a:rPr>
              <a:t>• </a:t>
            </a:r>
            <a:r>
              <a:rPr sz="1600" b="0">
                <a:solidFill>
                  <a:srgbClr val="1F1F1F"/>
                </a:solidFill>
                <a:latin typeface="Microsoft YaHei"/>
              </a:rPr>
              <a:t>模型权重：约 2 × 参数量字节</a:t>
            </a:r>
          </a:p>
          <a:p>
            <a:pPr algn="l" marL="342900" indent="-171450">
              <a:lnSpc>
                <a:spcPct val="105000"/>
              </a:lnSpc>
            </a:pPr>
            <a:r>
              <a:rPr sz="1600">
                <a:solidFill>
                  <a:srgbClr val="1F1F1F"/>
                </a:solidFill>
                <a:latin typeface="Microsoft YaHei"/>
              </a:rPr>
              <a:t>• </a:t>
            </a:r>
            <a:r>
              <a:rPr sz="1600" b="0">
                <a:solidFill>
                  <a:srgbClr val="1F1F1F"/>
                </a:solidFill>
                <a:latin typeface="Microsoft YaHei"/>
              </a:rPr>
              <a:t>历史 KV Cache：2 × layers × L × kv_heads × head_dim</a:t>
            </a:r>
          </a:p>
          <a:p>
            <a:pPr algn="l" marL="342900" indent="-171450">
              <a:lnSpc>
                <a:spcPct val="105000"/>
              </a:lnSpc>
            </a:pPr>
            <a:r>
              <a:rPr sz="1600">
                <a:solidFill>
                  <a:srgbClr val="ED7D31"/>
                </a:solidFill>
                <a:latin typeface="Microsoft YaHei"/>
              </a:rPr>
              <a:t>• </a:t>
            </a:r>
            <a:r>
              <a:rPr sz="1600" b="1">
                <a:solidFill>
                  <a:srgbClr val="ED7D31"/>
                </a:solidFill>
                <a:latin typeface="Microsoft YaHei"/>
              </a:rPr>
              <a:t>当 L 增长到 128K/512K/1M，KV 读取量成为 HBM 主导流量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069080"/>
            <a:ext cx="4389120" cy="80467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F1F1F"/>
                </a:solidFill>
                <a:latin typeface="Microsoft YaHei"/>
              </a:rPr>
              <a:t>昇腾 910 系列计算/访存比约为同代 NVIDIA GPU 的 1.5–2 倍，
意味着更容易在长上下文 Decode 中出现 AI Core 等待 HBM 数据。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417320"/>
            <a:ext cx="4800600" cy="4160520"/>
          </a:xfrm>
          <a:prstGeom prst="rect">
            <a:avLst/>
          </a:prstGeom>
          <a:solidFill>
            <a:srgbClr val="FFFFFF"/>
          </a:solidFill>
          <a:ln w="1524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664208"/>
            <a:ext cx="228600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1F4E79"/>
                </a:solidFill>
                <a:latin typeface="Microsoft YaHei"/>
              </a:rPr>
              <a:t>优化方向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48272" y="2148840"/>
            <a:ext cx="91440" cy="420624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67728" y="2130552"/>
            <a:ext cx="141732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F75B5"/>
                </a:solidFill>
                <a:latin typeface="Microsoft YaHei"/>
              </a:rPr>
              <a:t>PD 分离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148840"/>
            <a:ext cx="260604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F1F1F"/>
                </a:solidFill>
                <a:latin typeface="Microsoft YaHei"/>
              </a:rPr>
              <a:t>隔离计算密集 Prefill 与访存密集 Decode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48272" y="3017520"/>
            <a:ext cx="91440" cy="42062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2999232"/>
            <a:ext cx="141732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70AD47"/>
                </a:solidFill>
                <a:latin typeface="Microsoft YaHei"/>
              </a:rPr>
              <a:t>KV 传输适配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017520"/>
            <a:ext cx="260604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F1F1F"/>
                </a:solidFill>
                <a:latin typeface="Microsoft YaHei"/>
              </a:rPr>
              <a:t>确保 P/D 异构 TP、PP、MTP 下正确且高效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48272" y="3886200"/>
            <a:ext cx="91440" cy="42062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867912"/>
            <a:ext cx="141732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ED7D31"/>
                </a:solidFill>
                <a:latin typeface="Microsoft YaHei"/>
              </a:rPr>
              <a:t>动态 CP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886200"/>
            <a:ext cx="260604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F1F1F"/>
                </a:solidFill>
                <a:latin typeface="Microsoft YaHei"/>
              </a:rPr>
              <a:t>只让长请求跨 DP 分片，短请求保持低开销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4617720"/>
            <a:ext cx="4206240" cy="4114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F4E79"/>
                </a:solidFill>
                <a:latin typeface="Microsoft YaHei"/>
              </a:rPr>
              <a:t>目标：降低 TTFT / TPOT / ITL，提升长文本负载下的吞吐、显存利用率和服务稳定性。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60350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66666"/>
                </a:solidFill>
                <a:latin typeface="Microsoft YaHei"/>
              </a:rPr>
              <a:t>面向昇腾显卡的大模型长文本推理优化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118872"/>
            <a:ext cx="3200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6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438912"/>
            <a:ext cx="11539728" cy="2286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029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F4E79"/>
                </a:solidFill>
                <a:latin typeface="Microsoft YaHei"/>
              </a:rPr>
              <a:t>研究问题：从“能传”到“选副本”再到“跨几个副本”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520440" cy="3520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352044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536192"/>
            <a:ext cx="3264408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2F75B5"/>
                </a:solidFill>
                <a:latin typeface="Microsoft YaHei"/>
              </a:rPr>
              <a:t>问题一：传输正确性与效率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984248"/>
            <a:ext cx="3227832" cy="2834640"/>
          </a:xfrm>
          <a:prstGeom prst="rect">
            <a:avLst/>
          </a:prstGeom>
          <a:noFill/>
        </p:spPr>
        <p:txBody>
          <a:bodyPr wrap="square" lIns="76200" rIns="76200" tIns="50800" bIns="50800">
            <a:normAutofit/>
          </a:bodyPr>
          <a:lstStyle/>
          <a:p>
            <a:pPr algn="l" marL="342900" indent="-171450">
              <a:lnSpc>
                <a:spcPct val="105000"/>
              </a:lnSpc>
            </a:pPr>
            <a:r>
              <a:rPr sz="1300">
                <a:solidFill>
                  <a:srgbClr val="1F1F1F"/>
                </a:solidFill>
                <a:latin typeface="Microsoft YaHei"/>
              </a:rPr>
              <a:t>• </a:t>
            </a:r>
            <a:r>
              <a:rPr sz="1300" b="0">
                <a:solidFill>
                  <a:srgbClr val="1F1F1F"/>
                </a:solidFill>
                <a:latin typeface="Microsoft YaHei"/>
              </a:rPr>
              <a:t>PD 分离下 P/D 两侧 TP、PP 配置常常异构</a:t>
            </a:r>
          </a:p>
          <a:p>
            <a:pPr algn="l" marL="342900" indent="-171450">
              <a:lnSpc>
                <a:spcPct val="105000"/>
              </a:lnSpc>
            </a:pPr>
            <a:r>
              <a:rPr sz="1300">
                <a:solidFill>
                  <a:srgbClr val="1F1F1F"/>
                </a:solidFill>
                <a:latin typeface="Microsoft YaHei"/>
              </a:rPr>
              <a:t>• </a:t>
            </a:r>
            <a:r>
              <a:rPr sz="1300" b="0">
                <a:solidFill>
                  <a:srgbClr val="1F1F1F"/>
                </a:solidFill>
                <a:latin typeface="Microsoft YaHei"/>
              </a:rPr>
              <a:t>KV head、layer partition、MTP 额外层需要精确映射</a:t>
            </a:r>
          </a:p>
          <a:p>
            <a:pPr algn="l" marL="342900" indent="-171450">
              <a:lnSpc>
                <a:spcPct val="105000"/>
              </a:lnSpc>
            </a:pPr>
            <a:r>
              <a:rPr sz="1300">
                <a:solidFill>
                  <a:srgbClr val="1F1F1F"/>
                </a:solidFill>
                <a:latin typeface="Microsoft YaHei"/>
              </a:rPr>
              <a:t>• </a:t>
            </a:r>
            <a:r>
              <a:rPr sz="1300" b="0">
                <a:solidFill>
                  <a:srgbClr val="1F1F1F"/>
                </a:solidFill>
                <a:latin typeface="Microsoft YaHei"/>
              </a:rPr>
              <a:t>目标：布局转换开销压缩到端到端延迟的可忽略水平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17320"/>
            <a:ext cx="3520440" cy="3520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417320"/>
            <a:ext cx="73152" cy="35204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536192"/>
            <a:ext cx="3264408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70AD47"/>
                </a:solidFill>
                <a:latin typeface="Microsoft YaHei"/>
              </a:rPr>
              <a:t>问题二：单副本负载均衡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1984248"/>
            <a:ext cx="3227832" cy="2834640"/>
          </a:xfrm>
          <a:prstGeom prst="rect">
            <a:avLst/>
          </a:prstGeom>
          <a:noFill/>
        </p:spPr>
        <p:txBody>
          <a:bodyPr wrap="square" lIns="76200" rIns="76200" tIns="50800" bIns="50800">
            <a:normAutofit/>
          </a:bodyPr>
          <a:lstStyle/>
          <a:p>
            <a:pPr algn="l" marL="342900" indent="-171450">
              <a:lnSpc>
                <a:spcPct val="105000"/>
              </a:lnSpc>
            </a:pPr>
            <a:r>
              <a:rPr sz="1300">
                <a:solidFill>
                  <a:srgbClr val="1F1F1F"/>
                </a:solidFill>
                <a:latin typeface="Microsoft YaHei"/>
              </a:rPr>
              <a:t>• </a:t>
            </a:r>
            <a:r>
              <a:rPr sz="1300" b="0">
                <a:solidFill>
                  <a:srgbClr val="1F1F1F"/>
                </a:solidFill>
                <a:latin typeface="Microsoft YaHei"/>
              </a:rPr>
              <a:t>少量超长请求可在单个 DP 副本形成 GB 级 KV working set</a:t>
            </a:r>
          </a:p>
          <a:p>
            <a:pPr algn="l" marL="342900" indent="-171450">
              <a:lnSpc>
                <a:spcPct val="105000"/>
              </a:lnSpc>
            </a:pPr>
            <a:r>
              <a:rPr sz="1300">
                <a:solidFill>
                  <a:srgbClr val="1F1F1F"/>
                </a:solidFill>
                <a:latin typeface="Microsoft YaHei"/>
              </a:rPr>
              <a:t>• </a:t>
            </a:r>
            <a:r>
              <a:rPr sz="1300" b="0">
                <a:solidFill>
                  <a:srgbClr val="1F1F1F"/>
                </a:solidFill>
                <a:latin typeface="Microsoft YaHei"/>
              </a:rPr>
              <a:t>MoE 同步点会等待最慢 DP rank，形成访存 straggler</a:t>
            </a:r>
          </a:p>
          <a:p>
            <a:pPr algn="l" marL="342900" indent="-171450">
              <a:lnSpc>
                <a:spcPct val="105000"/>
              </a:lnSpc>
            </a:pPr>
            <a:r>
              <a:rPr sz="1300">
                <a:solidFill>
                  <a:srgbClr val="1F1F1F"/>
                </a:solidFill>
                <a:latin typeface="Microsoft YaHei"/>
              </a:rPr>
              <a:t>• </a:t>
            </a:r>
            <a:r>
              <a:rPr sz="1300" b="0">
                <a:solidFill>
                  <a:srgbClr val="1F1F1F"/>
                </a:solidFill>
                <a:latin typeface="Microsoft YaHei"/>
              </a:rPr>
              <a:t>目标：min(KV usage) 中心化 DPLB 平滑 KV 压力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520440" cy="3520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73152" cy="35204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536192"/>
            <a:ext cx="3264408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ED7D31"/>
                </a:solidFill>
                <a:latin typeface="Microsoft YaHei"/>
              </a:rPr>
              <a:t>问题三：跨副本并行度自适应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1984248"/>
            <a:ext cx="3227832" cy="2834640"/>
          </a:xfrm>
          <a:prstGeom prst="rect">
            <a:avLst/>
          </a:prstGeom>
          <a:noFill/>
        </p:spPr>
        <p:txBody>
          <a:bodyPr wrap="square" lIns="76200" rIns="76200" tIns="50800" bIns="50800">
            <a:normAutofit/>
          </a:bodyPr>
          <a:lstStyle/>
          <a:p>
            <a:pPr algn="l" marL="342900" indent="-171450">
              <a:lnSpc>
                <a:spcPct val="105000"/>
              </a:lnSpc>
            </a:pPr>
            <a:r>
              <a:rPr sz="1300">
                <a:solidFill>
                  <a:srgbClr val="1F1F1F"/>
                </a:solidFill>
                <a:latin typeface="Microsoft YaHei"/>
              </a:rPr>
              <a:t>• </a:t>
            </a:r>
            <a:r>
              <a:rPr sz="1300" b="0">
                <a:solidFill>
                  <a:srgbClr val="1F1F1F"/>
                </a:solidFill>
                <a:latin typeface="Microsoft YaHei"/>
              </a:rPr>
              <a:t>静态 PCP/DCP 无法同时兼顾短请求低开销和长请求并行收益</a:t>
            </a:r>
          </a:p>
          <a:p>
            <a:pPr algn="l" marL="342900" indent="-171450">
              <a:lnSpc>
                <a:spcPct val="105000"/>
              </a:lnSpc>
            </a:pPr>
            <a:r>
              <a:rPr sz="1300">
                <a:solidFill>
                  <a:srgbClr val="1F1F1F"/>
                </a:solidFill>
                <a:latin typeface="Microsoft YaHei"/>
              </a:rPr>
              <a:t>• </a:t>
            </a:r>
            <a:r>
              <a:rPr sz="1300" b="0">
                <a:solidFill>
                  <a:srgbClr val="1F1F1F"/>
                </a:solidFill>
                <a:latin typeface="Microsoft YaHei"/>
              </a:rPr>
              <a:t>需要根据上下文长度、负载强度、KV Pool 状态在线选择 CP 度</a:t>
            </a:r>
          </a:p>
          <a:p>
            <a:pPr algn="l" marL="342900" indent="-171450">
              <a:lnSpc>
                <a:spcPct val="105000"/>
              </a:lnSpc>
            </a:pPr>
            <a:r>
              <a:rPr sz="1300">
                <a:solidFill>
                  <a:srgbClr val="1F1F1F"/>
                </a:solidFill>
                <a:latin typeface="Microsoft YaHei"/>
              </a:rPr>
              <a:t>• </a:t>
            </a:r>
            <a:r>
              <a:rPr sz="1300" b="0">
                <a:solidFill>
                  <a:srgbClr val="1F1F1F"/>
                </a:solidFill>
                <a:latin typeface="Microsoft YaHei"/>
              </a:rPr>
              <a:t>目标：低负载逼近 DCP 收益，高负载避免通信代价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49240"/>
            <a:ext cx="10515600" cy="4114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递进关系：PD Connector 提供传输基础设施；DPLB 决定请求落到哪个副本；动态 CP 决定长请求跨几个副本协同。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89888"/>
            <a:ext cx="1005840" cy="5943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3500" b="1">
                <a:solidFill>
                  <a:srgbClr val="ED7D31"/>
                </a:solidFill>
                <a:latin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89888"/>
            <a:ext cx="7955279" cy="62179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F4E79"/>
                </a:solidFill>
                <a:latin typeface="Microsoft YaHei"/>
              </a:rPr>
              <a:t>国内外研究现状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93392" y="2176272"/>
            <a:ext cx="8046720" cy="43891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666666"/>
                </a:solidFill>
                <a:latin typeface="Microsoft YaHei"/>
              </a:rPr>
              <a:t>长文本推理服务正在从缓存管理、阶段解耦走向动态并行调度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1993392" y="2798064"/>
            <a:ext cx="7680960" cy="32004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93392" y="3072384"/>
            <a:ext cx="603504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面向昇腾显卡的大模型长文本推理优化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309360"/>
            <a:ext cx="3200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60350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66666"/>
                </a:solidFill>
                <a:latin typeface="Microsoft YaHei"/>
              </a:rPr>
              <a:t>面向昇腾显卡的大模型长文本推理优化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118872"/>
            <a:ext cx="3200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8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438912"/>
            <a:ext cx="11539728" cy="2286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029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F4E79"/>
                </a:solidFill>
                <a:latin typeface="Microsoft YaHei"/>
              </a:rPr>
              <a:t>相关工作脉络与不足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429000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417320"/>
            <a:ext cx="73152" cy="3977639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36192"/>
            <a:ext cx="3172968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F75B5"/>
                </a:solidFill>
                <a:latin typeface="Microsoft YaHei"/>
              </a:rPr>
              <a:t>长文本推理基础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84248"/>
            <a:ext cx="3136392" cy="3291839"/>
          </a:xfrm>
          <a:prstGeom prst="rect">
            <a:avLst/>
          </a:prstGeom>
          <a:noFill/>
        </p:spPr>
        <p:txBody>
          <a:bodyPr wrap="square" lIns="76200" rIns="76200" tIns="50800" bIns="50800">
            <a:normAutofit/>
          </a:bodyPr>
          <a:lstStyle/>
          <a:p>
            <a:pPr algn="l" marL="342900" indent="-171450">
              <a:lnSpc>
                <a:spcPct val="105000"/>
              </a:lnSpc>
            </a:pPr>
            <a:r>
              <a:rPr sz="1200">
                <a:solidFill>
                  <a:srgbClr val="1F1F1F"/>
                </a:solidFill>
                <a:latin typeface="Microsoft YaHei"/>
              </a:rPr>
              <a:t>• </a:t>
            </a:r>
            <a:r>
              <a:rPr sz="1200" b="0">
                <a:solidFill>
                  <a:srgbClr val="1F1F1F"/>
                </a:solidFill>
                <a:latin typeface="Microsoft YaHei"/>
              </a:rPr>
              <a:t>PagedAttention / Continuous batching / Prefix caching</a:t>
            </a:r>
          </a:p>
          <a:p>
            <a:pPr algn="l" marL="342900" indent="-171450">
              <a:lnSpc>
                <a:spcPct val="105000"/>
              </a:lnSpc>
            </a:pPr>
            <a:r>
              <a:rPr sz="1200">
                <a:solidFill>
                  <a:srgbClr val="1F1F1F"/>
                </a:solidFill>
                <a:latin typeface="Microsoft YaHei"/>
              </a:rPr>
              <a:t>• </a:t>
            </a:r>
            <a:r>
              <a:rPr sz="1200" b="0">
                <a:solidFill>
                  <a:srgbClr val="1F1F1F"/>
                </a:solidFill>
                <a:latin typeface="Microsoft YaHei"/>
              </a:rPr>
              <a:t>FlashAttention / FlashDecoding / KV eviction / KV quantization</a:t>
            </a:r>
          </a:p>
          <a:p>
            <a:pPr algn="l" marL="342900" indent="-171450">
              <a:lnSpc>
                <a:spcPct val="105000"/>
              </a:lnSpc>
            </a:pPr>
            <a:r>
              <a:rPr sz="1200">
                <a:solidFill>
                  <a:srgbClr val="1F1F1F"/>
                </a:solidFill>
                <a:latin typeface="Microsoft YaHei"/>
              </a:rPr>
              <a:t>• </a:t>
            </a:r>
            <a:r>
              <a:rPr sz="1200" b="0">
                <a:solidFill>
                  <a:srgbClr val="1F1F1F"/>
                </a:solidFill>
                <a:latin typeface="Microsoft YaHei"/>
              </a:rPr>
              <a:t>不足：主要解决局部算子或缓存管理，难以处理阶段与序列维度协同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1417320"/>
            <a:ext cx="3429000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62272" y="1417320"/>
            <a:ext cx="73152" cy="3977639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536192"/>
            <a:ext cx="3172968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70AD47"/>
                </a:solidFill>
                <a:latin typeface="Microsoft YaHei"/>
              </a:rPr>
              <a:t>Prefill-Decode 分离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1984248"/>
            <a:ext cx="3136392" cy="3291839"/>
          </a:xfrm>
          <a:prstGeom prst="rect">
            <a:avLst/>
          </a:prstGeom>
          <a:noFill/>
        </p:spPr>
        <p:txBody>
          <a:bodyPr wrap="square" lIns="76200" rIns="76200" tIns="50800" bIns="50800">
            <a:normAutofit/>
          </a:bodyPr>
          <a:lstStyle/>
          <a:p>
            <a:pPr algn="l" marL="342900" indent="-171450">
              <a:lnSpc>
                <a:spcPct val="105000"/>
              </a:lnSpc>
            </a:pPr>
            <a:r>
              <a:rPr sz="1200">
                <a:solidFill>
                  <a:srgbClr val="1F1F1F"/>
                </a:solidFill>
                <a:latin typeface="Microsoft YaHei"/>
              </a:rPr>
              <a:t>• </a:t>
            </a:r>
            <a:r>
              <a:rPr sz="1200" b="0">
                <a:solidFill>
                  <a:srgbClr val="1F1F1F"/>
                </a:solidFill>
                <a:latin typeface="Microsoft YaHei"/>
              </a:rPr>
              <a:t>Splitwise、DistServe、Mooncake、vLLM disaggregated prefilling</a:t>
            </a:r>
          </a:p>
          <a:p>
            <a:pPr algn="l" marL="342900" indent="-171450">
              <a:lnSpc>
                <a:spcPct val="105000"/>
              </a:lnSpc>
            </a:pPr>
            <a:r>
              <a:rPr sz="1200">
                <a:solidFill>
                  <a:srgbClr val="1F1F1F"/>
                </a:solidFill>
                <a:latin typeface="Microsoft YaHei"/>
              </a:rPr>
              <a:t>• </a:t>
            </a:r>
            <a:r>
              <a:rPr sz="1200" b="0">
                <a:solidFill>
                  <a:srgbClr val="1F1F1F"/>
                </a:solidFill>
                <a:latin typeface="Microsoft YaHei"/>
              </a:rPr>
              <a:t>共识：Prefill 计算密集、Decode 访存密集，应分离部署</a:t>
            </a:r>
          </a:p>
          <a:p>
            <a:pPr algn="l" marL="342900" indent="-171450">
              <a:lnSpc>
                <a:spcPct val="105000"/>
              </a:lnSpc>
            </a:pPr>
            <a:r>
              <a:rPr sz="1200">
                <a:solidFill>
                  <a:srgbClr val="1F1F1F"/>
                </a:solidFill>
                <a:latin typeface="Microsoft YaHei"/>
              </a:rPr>
              <a:t>• </a:t>
            </a:r>
            <a:r>
              <a:rPr sz="1200" b="0">
                <a:solidFill>
                  <a:srgbClr val="1F1F1F"/>
                </a:solidFill>
                <a:latin typeface="Microsoft YaHei"/>
              </a:rPr>
              <a:t>不足：GPU/CUDA 生态为主，昇腾 KV 布局与通信栈需要重适配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66176" y="1417320"/>
            <a:ext cx="3429000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66176" y="1417320"/>
            <a:ext cx="73152" cy="397763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1536192"/>
            <a:ext cx="3172968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ED7D31"/>
                </a:solidFill>
                <a:latin typeface="Microsoft YaHei"/>
              </a:rPr>
              <a:t>上下文并行 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1984248"/>
            <a:ext cx="3136392" cy="3291839"/>
          </a:xfrm>
          <a:prstGeom prst="rect">
            <a:avLst/>
          </a:prstGeom>
          <a:noFill/>
        </p:spPr>
        <p:txBody>
          <a:bodyPr wrap="square" lIns="76200" rIns="76200" tIns="50800" bIns="50800">
            <a:normAutofit/>
          </a:bodyPr>
          <a:lstStyle/>
          <a:p>
            <a:pPr algn="l" marL="342900" indent="-171450">
              <a:lnSpc>
                <a:spcPct val="105000"/>
              </a:lnSpc>
            </a:pPr>
            <a:r>
              <a:rPr sz="1200">
                <a:solidFill>
                  <a:srgbClr val="1F1F1F"/>
                </a:solidFill>
                <a:latin typeface="Microsoft YaHei"/>
              </a:rPr>
              <a:t>• </a:t>
            </a:r>
            <a:r>
              <a:rPr sz="1200" b="0">
                <a:solidFill>
                  <a:srgbClr val="1F1F1F"/>
                </a:solidFill>
                <a:latin typeface="Microsoft YaHei"/>
              </a:rPr>
              <a:t>Ring Attention、DeepSpeed-Ulysses、USP、vLLM-Ascend PCP/DCP</a:t>
            </a:r>
          </a:p>
          <a:p>
            <a:pPr algn="l" marL="342900" indent="-171450">
              <a:lnSpc>
                <a:spcPct val="105000"/>
              </a:lnSpc>
            </a:pPr>
            <a:r>
              <a:rPr sz="1200">
                <a:solidFill>
                  <a:srgbClr val="1F1F1F"/>
                </a:solidFill>
                <a:latin typeface="Microsoft YaHei"/>
              </a:rPr>
              <a:t>• </a:t>
            </a:r>
            <a:r>
              <a:rPr sz="1200" b="0">
                <a:solidFill>
                  <a:srgbClr val="1F1F1F"/>
                </a:solidFill>
                <a:latin typeface="Microsoft YaHei"/>
              </a:rPr>
              <a:t>沿序列维度切分长上下文，降低 TTFT 或 KV 访存压力</a:t>
            </a:r>
          </a:p>
          <a:p>
            <a:pPr algn="l" marL="342900" indent="-171450">
              <a:lnSpc>
                <a:spcPct val="105000"/>
              </a:lnSpc>
            </a:pPr>
            <a:r>
              <a:rPr sz="1200">
                <a:solidFill>
                  <a:srgbClr val="1F1F1F"/>
                </a:solidFill>
                <a:latin typeface="Microsoft YaHei"/>
              </a:rPr>
              <a:t>• </a:t>
            </a:r>
            <a:r>
              <a:rPr sz="1200" b="0">
                <a:solidFill>
                  <a:srgbClr val="1F1F1F"/>
                </a:solidFill>
                <a:latin typeface="Microsoft YaHei"/>
              </a:rPr>
              <a:t>不足：多为静态 CP 度，短长请求混部时通信开销难以控制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789920" cy="4114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1F4E79"/>
                </a:solidFill>
                <a:latin typeface="Microsoft YaHei"/>
              </a:rPr>
              <a:t>本课题切入点：面向昇腾平台，把 PD Connector、中心化 DPLB 与 P/D 两侧动态 CP 作为一个端到端系统问题处理。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89888"/>
            <a:ext cx="1005840" cy="5943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3500" b="1">
                <a:solidFill>
                  <a:srgbClr val="ED7D31"/>
                </a:solidFill>
                <a:latin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89888"/>
            <a:ext cx="7955279" cy="62179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F4E79"/>
                </a:solidFill>
                <a:latin typeface="Microsoft YaHei"/>
              </a:rPr>
              <a:t>研究内容与关键技术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93392" y="2176272"/>
            <a:ext cx="8046720" cy="43891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666666"/>
                </a:solidFill>
                <a:latin typeface="Microsoft YaHei"/>
              </a:rPr>
              <a:t>围绕三类瓶颈形成 PD Connector、中心化调度和动态 CP 三个研究点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1993392" y="2798064"/>
            <a:ext cx="7680960" cy="32004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93392" y="3072384"/>
            <a:ext cx="603504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面向昇腾显卡的大模型长文本推理优化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309360"/>
            <a:ext cx="3200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60350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66666"/>
                </a:solidFill>
                <a:latin typeface="Microsoft YaHei"/>
              </a:rPr>
              <a:t>面向昇腾显卡的大模型长文本推理优化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118872"/>
            <a:ext cx="3200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438912"/>
            <a:ext cx="11539728" cy="2286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029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F4E79"/>
                </a:solidFill>
                <a:latin typeface="Microsoft YaHei"/>
              </a:rPr>
              <a:t>研究内容概览：三层优化链路</a:t>
            </a:r>
          </a:p>
        </p:txBody>
      </p:sp>
      <p:pic>
        <p:nvPicPr>
          <p:cNvPr id="6" name="Picture 5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688" y="1325880"/>
            <a:ext cx="6776720" cy="2651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" y="4315968"/>
            <a:ext cx="333756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434840"/>
            <a:ext cx="297180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F75B5"/>
                </a:solidFill>
                <a:latin typeface="Microsoft YaHei"/>
              </a:rPr>
              <a:t>研究点 1：PD Connector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754880"/>
            <a:ext cx="2971800" cy="34747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F1F1F"/>
                </a:solidFill>
                <a:latin typeface="Microsoft YaHei"/>
              </a:rPr>
              <a:t>解决 P/D 异构下 KV Cache 传输、布局转换和生命周期管理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17136" y="4315968"/>
            <a:ext cx="333756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7" y="4434840"/>
            <a:ext cx="297180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70AD47"/>
                </a:solidFill>
                <a:latin typeface="Microsoft YaHei"/>
              </a:rPr>
              <a:t>研究点 2：中心化 DPLB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7" y="4754880"/>
            <a:ext cx="2971800" cy="34747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F1F1F"/>
                </a:solidFill>
                <a:latin typeface="Microsoft YaHei"/>
              </a:rPr>
              <a:t>基于 min(KV usage) 选择目标 DP 副本，降低访存 straggler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3023" y="4315968"/>
            <a:ext cx="333756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5" y="4434840"/>
            <a:ext cx="297180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ED7D31"/>
                </a:solidFill>
                <a:latin typeface="Microsoft YaHei"/>
              </a:rPr>
              <a:t>研究点 3：动态 CP 调度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5" y="4754880"/>
            <a:ext cx="2971800" cy="34747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F1F1F"/>
                </a:solidFill>
                <a:latin typeface="Microsoft YaHei"/>
              </a:rPr>
              <a:t>按请求长度和负载在线选择 PCP/DCP 度，实现跨 DP 协同执行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60350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66666"/>
                </a:solidFill>
                <a:latin typeface="Microsoft YaHei"/>
              </a:rPr>
              <a:t>面向昇腾显卡的大模型长文本推理优化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118872"/>
            <a:ext cx="3200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438912"/>
            <a:ext cx="11539728" cy="2286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029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F4E79"/>
                </a:solidFill>
                <a:latin typeface="Microsoft YaHei"/>
              </a:rPr>
              <a:t>研究点 1：PD Connector 的 KV Cache 传输与布局适配</a:t>
            </a:r>
          </a:p>
        </p:txBody>
      </p:sp>
      <p:pic>
        <p:nvPicPr>
          <p:cNvPr id="6" name="Picture 5" descr="fig_kv_resh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56156"/>
            <a:ext cx="6400800" cy="324276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223760" y="1325880"/>
            <a:ext cx="4160520" cy="3749039"/>
          </a:xfrm>
          <a:prstGeom prst="rect">
            <a:avLst/>
          </a:prstGeom>
          <a:solidFill>
            <a:srgbClr val="FFFFFF"/>
          </a:solidFill>
          <a:ln w="1524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536192"/>
            <a:ext cx="201168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1F4E79"/>
                </a:solidFill>
                <a:latin typeface="Microsoft YaHei"/>
              </a:rPr>
              <a:t>关键设计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993392"/>
            <a:ext cx="3520440" cy="2148840"/>
          </a:xfrm>
          <a:prstGeom prst="rect">
            <a:avLst/>
          </a:prstGeom>
          <a:noFill/>
        </p:spPr>
        <p:txBody>
          <a:bodyPr wrap="square" lIns="76200" rIns="76200" tIns="50800" bIns="50800">
            <a:normAutofit/>
          </a:bodyPr>
          <a:lstStyle/>
          <a:p>
            <a:pPr algn="l" marL="342900" indent="-171450">
              <a:lnSpc>
                <a:spcPct val="105000"/>
              </a:lnSpc>
            </a:pPr>
            <a:r>
              <a:rPr sz="1400">
                <a:solidFill>
                  <a:srgbClr val="1F1F1F"/>
                </a:solidFill>
                <a:latin typeface="Microsoft YaHei"/>
              </a:rPr>
              <a:t>• </a:t>
            </a:r>
            <a:r>
              <a:rPr sz="1400" b="0">
                <a:solidFill>
                  <a:srgbClr val="1F1F1F"/>
                </a:solidFill>
                <a:latin typeface="Microsoft YaHei"/>
              </a:rPr>
              <a:t>请求级元数据携带 P/D 两侧 TP、PP、PCP/DCP 配置</a:t>
            </a:r>
          </a:p>
          <a:p>
            <a:pPr algn="l" marL="342900" indent="-171450">
              <a:lnSpc>
                <a:spcPct val="105000"/>
              </a:lnSpc>
            </a:pPr>
            <a:r>
              <a:rPr sz="1400">
                <a:solidFill>
                  <a:srgbClr val="1F1F1F"/>
                </a:solidFill>
                <a:latin typeface="Microsoft YaHei"/>
              </a:rPr>
              <a:t>• </a:t>
            </a:r>
            <a:r>
              <a:rPr sz="1400" b="0">
                <a:solidFill>
                  <a:srgbClr val="1F1F1F"/>
                </a:solidFill>
                <a:latin typeface="Microsoft YaHei"/>
              </a:rPr>
              <a:t>按 KV head group 构建 P/D 端口映射，覆盖 GQA/MHA/MLA</a:t>
            </a:r>
          </a:p>
          <a:p>
            <a:pPr algn="l" marL="342900" indent="-171450">
              <a:lnSpc>
                <a:spcPct val="105000"/>
              </a:lnSpc>
            </a:pPr>
            <a:r>
              <a:rPr sz="1400">
                <a:solidFill>
                  <a:srgbClr val="1F1F1F"/>
                </a:solidFill>
                <a:latin typeface="Microsoft YaHei"/>
              </a:rPr>
              <a:t>• </a:t>
            </a:r>
            <a:r>
              <a:rPr sz="1400" b="0">
                <a:solidFill>
                  <a:srgbClr val="1F1F1F"/>
                </a:solidFill>
                <a:latin typeface="Microsoft YaHei"/>
              </a:rPr>
              <a:t>按 CP rank 计算 remote/local block 映射，支持多源拉取</a:t>
            </a:r>
          </a:p>
          <a:p>
            <a:pPr algn="l" marL="342900" indent="-171450">
              <a:lnSpc>
                <a:spcPct val="105000"/>
              </a:lnSpc>
            </a:pPr>
            <a:r>
              <a:rPr sz="1400">
                <a:solidFill>
                  <a:srgbClr val="1F1F1F"/>
                </a:solidFill>
                <a:latin typeface="Microsoft YaHei"/>
              </a:rPr>
              <a:t>• </a:t>
            </a:r>
            <a:r>
              <a:rPr sz="1400" b="0">
                <a:solidFill>
                  <a:srgbClr val="1F1F1F"/>
                </a:solidFill>
                <a:latin typeface="Microsoft YaHei"/>
              </a:rPr>
              <a:t>跨节点拓扑感知与引用计数，保证 KV 生命周期安全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443984"/>
            <a:ext cx="3566160" cy="5029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ED7D31"/>
                </a:solidFill>
                <a:latin typeface="Microsoft YaHei"/>
              </a:rPr>
              <a:t>阶段性结果：GQA TP 异构、PP/MTP 层划分已完成正确性验证；
KV 重排从 torch 路径约 155.9 ms 降至 NPU 融合算子约 5.6 ms。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27648"/>
            <a:ext cx="1097280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该研究点解决 PD 分离“能否正确、高效传输 KV Cache”的基础问题。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60350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66666"/>
                </a:solidFill>
                <a:latin typeface="Microsoft YaHei"/>
              </a:rPr>
              <a:t>面向昇腾显卡的大模型长文本推理优化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118872"/>
            <a:ext cx="3200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438912"/>
            <a:ext cx="11539728" cy="2286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029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F4E79"/>
                </a:solidFill>
                <a:latin typeface="Microsoft YaHei"/>
              </a:rPr>
              <a:t>研究点 2：中心化调度框架与 min(KV usage) DPLB</a:t>
            </a:r>
          </a:p>
        </p:txBody>
      </p:sp>
      <p:pic>
        <p:nvPicPr>
          <p:cNvPr id="6" name="Picture 5" descr="fig_moe_blo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19367"/>
            <a:ext cx="5669280" cy="15789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8" y="3520440"/>
            <a:ext cx="5394960" cy="43891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F1F1F"/>
                </a:solidFill>
                <a:latin typeface="Microsoft YaHei"/>
              </a:rPr>
              <a:t>问题：长请求集中到某个 DP rank 后，MoE 同步点等待最慢 rank，短请求也被阻塞。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629400" y="1234440"/>
            <a:ext cx="4526280" cy="4206240"/>
          </a:xfrm>
          <a:prstGeom prst="rect">
            <a:avLst/>
          </a:prstGeom>
          <a:solidFill>
            <a:srgbClr val="FAFCFF"/>
          </a:solidFill>
          <a:ln w="1524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31152" y="1508760"/>
            <a:ext cx="256032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1F4E79"/>
                </a:solidFill>
                <a:latin typeface="Microsoft YaHei"/>
              </a:rPr>
              <a:t>中心化 DPLB 设计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057400"/>
            <a:ext cx="91440" cy="384048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5472" y="2039112"/>
            <a:ext cx="141732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F75B5"/>
                </a:solidFill>
                <a:latin typeface="Microsoft YaHei"/>
              </a:rPr>
              <a:t>Domain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057400"/>
            <a:ext cx="2148840" cy="237744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F1F1F"/>
                </a:solidFill>
                <a:latin typeface="Microsoft YaHei"/>
              </a:rPr>
              <a:t>将一组 DP-attention 副本组织为调度域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95160" y="2770632"/>
            <a:ext cx="91440" cy="38404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5472" y="2752344"/>
            <a:ext cx="141732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70AD47"/>
                </a:solidFill>
                <a:latin typeface="Microsoft YaHei"/>
              </a:rPr>
              <a:t>KV usage 感知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770632"/>
            <a:ext cx="2148840" cy="237744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F1F1F"/>
                </a:solidFill>
                <a:latin typeface="Microsoft YaHei"/>
              </a:rPr>
              <a:t>DP rank 上报已分配 block 数，调度器维护视图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483864"/>
            <a:ext cx="91440" cy="38404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5472" y="3465576"/>
            <a:ext cx="141732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ED7D31"/>
                </a:solidFill>
                <a:latin typeface="Microsoft YaHei"/>
              </a:rPr>
              <a:t>min(KV usage)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483864"/>
            <a:ext cx="2148840" cy="237744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F1F1F"/>
                </a:solidFill>
                <a:latin typeface="Microsoft YaHei"/>
              </a:rPr>
              <a:t>新请求分配到 KV 压力最低的副本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95160" y="4197096"/>
            <a:ext cx="91440" cy="38404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5472" y="4178808"/>
            <a:ext cx="141732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7030A0"/>
                </a:solidFill>
                <a:latin typeface="Microsoft YaHei"/>
              </a:rPr>
              <a:t>闭环更新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4197096"/>
            <a:ext cx="2148840" cy="237744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F1F1F"/>
                </a:solidFill>
                <a:latin typeface="Microsoft YaHei"/>
              </a:rPr>
              <a:t>请求完成或 KV 释放后递减目标副本 usage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4800600"/>
            <a:ext cx="3657600" cy="34747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1F4E79"/>
                </a:solidFill>
                <a:latin typeface="Microsoft YaHei"/>
              </a:rPr>
              <a:t>目标：平滑各副本 KV Cache 压力，压缩 rank 间同步等待时间。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60350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66666"/>
                </a:solidFill>
                <a:latin typeface="Microsoft YaHei"/>
              </a:rPr>
              <a:t>面向昇腾显卡的大模型长文本推理优化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118872"/>
            <a:ext cx="3200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438912"/>
            <a:ext cx="11539728" cy="2286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029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F4E79"/>
                </a:solidFill>
                <a:latin typeface="Microsoft YaHei"/>
              </a:rPr>
              <a:t>研究点 3 动机：静态 DCP 的收益与代价随负载反转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25880"/>
            <a:ext cx="5166360" cy="4114800"/>
          </a:xfrm>
          <a:prstGeom prst="rect">
            <a:avLst/>
          </a:prstGeom>
          <a:solidFill>
            <a:srgbClr val="FFFFFF"/>
          </a:solidFill>
          <a:ln w="1524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72768"/>
            <a:ext cx="402336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1F4E79"/>
                </a:solidFill>
                <a:latin typeface="Microsoft YaHei"/>
              </a:rPr>
              <a:t>前期基线实验：DeepSeek-V2-Lite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103120"/>
            <a:ext cx="4206240" cy="1417320"/>
          </a:xfrm>
          <a:prstGeom prst="rect">
            <a:avLst/>
          </a:prstGeom>
          <a:noFill/>
        </p:spPr>
        <p:txBody>
          <a:bodyPr wrap="square" lIns="76200" rIns="76200" tIns="50800" bIns="50800">
            <a:normAutofit/>
          </a:bodyPr>
          <a:lstStyle/>
          <a:p>
            <a:pPr algn="l" marL="342900" indent="-171450">
              <a:lnSpc>
                <a:spcPct val="105000"/>
              </a:lnSpc>
            </a:pPr>
            <a:r>
              <a:rPr sz="1500">
                <a:solidFill>
                  <a:srgbClr val="1F1F1F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1F1F1F"/>
                </a:solidFill>
                <a:latin typeface="Microsoft YaHei"/>
              </a:rPr>
              <a:t>负载：4K 基线 + 1% 长请求混部</a:t>
            </a:r>
          </a:p>
          <a:p>
            <a:pPr algn="l" marL="342900" indent="-171450">
              <a:lnSpc>
                <a:spcPct val="105000"/>
              </a:lnSpc>
            </a:pPr>
            <a:r>
              <a:rPr sz="1500">
                <a:solidFill>
                  <a:srgbClr val="1F1F1F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1F1F1F"/>
                </a:solidFill>
                <a:latin typeface="Microsoft YaHei"/>
              </a:rPr>
              <a:t>上下文长度：128K / 256K / 512K / 1M</a:t>
            </a:r>
          </a:p>
          <a:p>
            <a:pPr algn="l" marL="342900" indent="-171450">
              <a:lnSpc>
                <a:spcPct val="105000"/>
              </a:lnSpc>
            </a:pPr>
            <a:r>
              <a:rPr sz="1500">
                <a:solidFill>
                  <a:srgbClr val="1F1F1F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1F1F1F"/>
                </a:solidFill>
                <a:latin typeface="Microsoft YaHei"/>
              </a:rPr>
              <a:t>请求速率：1–16 rps</a:t>
            </a:r>
          </a:p>
          <a:p>
            <a:pPr algn="l" marL="342900" indent="-171450">
              <a:lnSpc>
                <a:spcPct val="105000"/>
              </a:lnSpc>
            </a:pPr>
            <a:r>
              <a:rPr sz="1500">
                <a:solidFill>
                  <a:srgbClr val="1F1F1F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1F1F1F"/>
                </a:solidFill>
                <a:latin typeface="Microsoft YaHei"/>
              </a:rPr>
              <a:t>指标：P90 TPOT / P90 ITL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4096512"/>
            <a:ext cx="420624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ED7D31"/>
                </a:solidFill>
                <a:latin typeface="Microsoft YaHei"/>
              </a:rPr>
              <a:t>观察：低负载时 DCP 降低长上下文尾延迟；
高负载时静态 DCP 通信代价反而拖慢系统。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1325880"/>
            <a:ext cx="4480560" cy="4114800"/>
          </a:xfrm>
          <a:prstGeom prst="rect">
            <a:avLst/>
          </a:prstGeom>
          <a:solidFill>
            <a:srgbClr val="FAFCFF"/>
          </a:solidFill>
          <a:ln w="1524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572768"/>
            <a:ext cx="182880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1F4E79"/>
                </a:solidFill>
                <a:latin typeface="Microsoft YaHei"/>
              </a:rPr>
              <a:t>关键数据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148840"/>
            <a:ext cx="338328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F1F1F"/>
                </a:solidFill>
                <a:latin typeface="Microsoft YaHei"/>
              </a:rPr>
              <a:t>1M 上下文 / 1 rps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532888"/>
            <a:ext cx="1234440" cy="24688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66666"/>
                </a:solidFill>
                <a:latin typeface="Microsoft YaHei"/>
              </a:rPr>
              <a:t>DP 27.7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2208" y="2532888"/>
            <a:ext cx="1417320" cy="24688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70AD47"/>
                </a:solidFill>
                <a:latin typeface="Microsoft YaHei"/>
              </a:rPr>
              <a:t>DCP 10.1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246120"/>
            <a:ext cx="338328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F1F1F"/>
                </a:solidFill>
                <a:latin typeface="Microsoft YaHei"/>
              </a:rPr>
              <a:t>1M 上下文 / 16 rps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3630168"/>
            <a:ext cx="1234440" cy="24688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66666"/>
                </a:solidFill>
                <a:latin typeface="Microsoft YaHei"/>
              </a:rPr>
              <a:t>DP 53.8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3630168"/>
            <a:ext cx="1417320" cy="24688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7D31"/>
                </a:solidFill>
                <a:latin typeface="Microsoft YaHei"/>
              </a:rPr>
              <a:t>DCP 61.3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617720"/>
            <a:ext cx="3566160" cy="4114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F4E79"/>
                </a:solidFill>
                <a:latin typeface="Microsoft YaHei"/>
              </a:rPr>
              <a:t>结论：CP 度必须按请求长度与当前负载动态选择。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60350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66666"/>
                </a:solidFill>
                <a:latin typeface="Microsoft YaHei"/>
              </a:rPr>
              <a:t>面向昇腾显卡的大模型长文本推理优化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118872"/>
            <a:ext cx="3200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438912"/>
            <a:ext cx="11539728" cy="2286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029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F4E79"/>
                </a:solidFill>
                <a:latin typeface="Microsoft YaHei"/>
              </a:rPr>
              <a:t>开启 DyCP 后的中心化跨 DP 调度框架</a:t>
            </a:r>
          </a:p>
        </p:txBody>
      </p:sp>
      <p:pic>
        <p:nvPicPr>
          <p:cNvPr id="6" name="Picture 5" descr="fig_dycp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065" y="1207008"/>
            <a:ext cx="8101110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327648"/>
            <a:ext cx="1097280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Short request 只进入一个 DP EngineCore；Long request 的 KV Cache 沿序列维度分片到多个 DP EngineCore。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60350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66666"/>
                </a:solidFill>
                <a:latin typeface="Microsoft YaHei"/>
              </a:rPr>
              <a:t>面向昇腾显卡的大模型长文本推理优化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118872"/>
            <a:ext cx="3200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438912"/>
            <a:ext cx="11539728" cy="2286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029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F4E79"/>
                </a:solidFill>
                <a:latin typeface="Microsoft YaHei"/>
              </a:rPr>
              <a:t>PD 分离适配 DyCP：KV Cache 分片与落位</a:t>
            </a:r>
          </a:p>
        </p:txBody>
      </p:sp>
      <p:pic>
        <p:nvPicPr>
          <p:cNvPr id="6" name="Picture 5" descr="fig_dycp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902" y="1234440"/>
            <a:ext cx="9692292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327648"/>
            <a:ext cx="1097280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P 侧 PCP 与 D 侧 DCP 可独立选择，但 Connector 需要保证分片 KV Cache 能转换到 D 侧目标 layout。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89888"/>
            <a:ext cx="1005840" cy="5943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3500" b="1">
                <a:solidFill>
                  <a:srgbClr val="ED7D31"/>
                </a:solidFill>
                <a:latin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89888"/>
            <a:ext cx="7955279" cy="62179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F4E79"/>
                </a:solidFill>
                <a:latin typeface="Microsoft YaHei"/>
              </a:rPr>
              <a:t>技术路线与实验方案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93392" y="2176272"/>
            <a:ext cx="8046720" cy="43891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666666"/>
                </a:solidFill>
                <a:latin typeface="Microsoft YaHei"/>
              </a:rPr>
              <a:t>按瓶颈量化、传输适配、调度框架、动态 CP 四阶段推进</a:t>
            </a:r>
          </a:p>
        </p:txBody>
      </p:sp>
      <p:sp>
        <p:nvSpPr>
          <p:cNvPr id="7" name="Rectangle 6"/>
          <p:cNvSpPr/>
          <p:nvPr/>
        </p:nvSpPr>
        <p:spPr>
          <a:xfrm>
            <a:off x="1993392" y="2798064"/>
            <a:ext cx="7680960" cy="32004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93392" y="3072384"/>
            <a:ext cx="603504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面向昇腾显卡的大模型长文本推理优化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309360"/>
            <a:ext cx="3200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60350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66666"/>
                </a:solidFill>
                <a:latin typeface="Microsoft YaHei"/>
              </a:rPr>
              <a:t>面向昇腾显卡的大模型长文本推理优化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118872"/>
            <a:ext cx="3200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17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438912"/>
            <a:ext cx="11539728" cy="2286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029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F4E79"/>
                </a:solidFill>
                <a:latin typeface="Microsoft YaHei"/>
              </a:rPr>
              <a:t>技术路线：从瓶颈量化到实验闭环</a:t>
            </a:r>
          </a:p>
        </p:txBody>
      </p:sp>
      <p:pic>
        <p:nvPicPr>
          <p:cNvPr id="6" name="Picture 5" descr="fig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209" y="1188720"/>
            <a:ext cx="9198822" cy="3977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86400"/>
            <a:ext cx="10561320" cy="38404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四个阶段：瓶颈量化 → PD Connector 传输适配 → 中心化调度框架 → 动态 CP 调度策略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60350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66666"/>
                </a:solidFill>
                <a:latin typeface="Microsoft YaHei"/>
              </a:rPr>
              <a:t>面向昇腾显卡的大模型长文本推理优化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118872"/>
            <a:ext cx="3200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18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438912"/>
            <a:ext cx="11539728" cy="2286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029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F4E79"/>
                </a:solidFill>
                <a:latin typeface="Microsoft YaHei"/>
              </a:rPr>
              <a:t>实验方案与评价指标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342900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73152" cy="34747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490472"/>
            <a:ext cx="3172968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F75B5"/>
                </a:solidFill>
                <a:latin typeface="Microsoft YaHei"/>
              </a:rPr>
              <a:t>模型与平台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938528"/>
            <a:ext cx="3136392" cy="2788920"/>
          </a:xfrm>
          <a:prstGeom prst="rect">
            <a:avLst/>
          </a:prstGeom>
          <a:noFill/>
        </p:spPr>
        <p:txBody>
          <a:bodyPr wrap="square" lIns="76200" rIns="76200" tIns="50800" bIns="50800">
            <a:normAutofit/>
          </a:bodyPr>
          <a:lstStyle/>
          <a:p>
            <a:pPr algn="l" marL="342900" indent="-171450">
              <a:lnSpc>
                <a:spcPct val="105000"/>
              </a:lnSpc>
            </a:pPr>
            <a:r>
              <a:rPr sz="1250">
                <a:solidFill>
                  <a:srgbClr val="1F1F1F"/>
                </a:solidFill>
                <a:latin typeface="Microsoft YaHei"/>
              </a:rPr>
              <a:t>• </a:t>
            </a:r>
            <a:r>
              <a:rPr sz="1250" b="0">
                <a:solidFill>
                  <a:srgbClr val="1F1F1F"/>
                </a:solidFill>
                <a:latin typeface="Microsoft YaHei"/>
              </a:rPr>
              <a:t>Qwen / DeepSeek 等长上下文模型</a:t>
            </a:r>
          </a:p>
          <a:p>
            <a:pPr algn="l" marL="342900" indent="-171450">
              <a:lnSpc>
                <a:spcPct val="105000"/>
              </a:lnSpc>
            </a:pPr>
            <a:r>
              <a:rPr sz="1250">
                <a:solidFill>
                  <a:srgbClr val="1F1F1F"/>
                </a:solidFill>
                <a:latin typeface="Microsoft YaHei"/>
              </a:rPr>
              <a:t>• </a:t>
            </a:r>
            <a:r>
              <a:rPr sz="1250" b="0">
                <a:solidFill>
                  <a:srgbClr val="1F1F1F"/>
                </a:solidFill>
                <a:latin typeface="Microsoft YaHei"/>
              </a:rPr>
              <a:t>覆盖 MLA、GQA、MHA、MQA</a:t>
            </a:r>
          </a:p>
          <a:p>
            <a:pPr algn="l" marL="342900" indent="-171450">
              <a:lnSpc>
                <a:spcPct val="105000"/>
              </a:lnSpc>
            </a:pPr>
            <a:r>
              <a:rPr sz="1250">
                <a:solidFill>
                  <a:srgbClr val="1F1F1F"/>
                </a:solidFill>
                <a:latin typeface="Microsoft YaHei"/>
              </a:rPr>
              <a:t>• </a:t>
            </a:r>
            <a:r>
              <a:rPr sz="1250" b="0">
                <a:solidFill>
                  <a:srgbClr val="1F1F1F"/>
                </a:solidFill>
                <a:latin typeface="Microsoft YaHei"/>
              </a:rPr>
              <a:t>昇腾 910 系列或实验室昇腾集群；可选 NVIDIA 对照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371600"/>
            <a:ext cx="342900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371600"/>
            <a:ext cx="73152" cy="34747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490472"/>
            <a:ext cx="3172968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70AD47"/>
                </a:solidFill>
                <a:latin typeface="Microsoft YaHei"/>
              </a:rPr>
              <a:t>对比基线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1938528"/>
            <a:ext cx="3136392" cy="2788920"/>
          </a:xfrm>
          <a:prstGeom prst="rect">
            <a:avLst/>
          </a:prstGeom>
          <a:noFill/>
        </p:spPr>
        <p:txBody>
          <a:bodyPr wrap="square" lIns="76200" rIns="76200" tIns="50800" bIns="50800">
            <a:normAutofit/>
          </a:bodyPr>
          <a:lstStyle/>
          <a:p>
            <a:pPr algn="l" marL="342900" indent="-171450">
              <a:lnSpc>
                <a:spcPct val="105000"/>
              </a:lnSpc>
            </a:pPr>
            <a:r>
              <a:rPr sz="1250">
                <a:solidFill>
                  <a:srgbClr val="1F1F1F"/>
                </a:solidFill>
                <a:latin typeface="Microsoft YaHei"/>
              </a:rPr>
              <a:t>• </a:t>
            </a:r>
            <a:r>
              <a:rPr sz="1250" b="0">
                <a:solidFill>
                  <a:srgbClr val="1F1F1F"/>
                </a:solidFill>
                <a:latin typeface="Microsoft YaHei"/>
              </a:rPr>
              <a:t>混合部署</a:t>
            </a:r>
          </a:p>
          <a:p>
            <a:pPr algn="l" marL="342900" indent="-171450">
              <a:lnSpc>
                <a:spcPct val="105000"/>
              </a:lnSpc>
            </a:pPr>
            <a:r>
              <a:rPr sz="1250">
                <a:solidFill>
                  <a:srgbClr val="1F1F1F"/>
                </a:solidFill>
                <a:latin typeface="Microsoft YaHei"/>
              </a:rPr>
              <a:t>• </a:t>
            </a:r>
            <a:r>
              <a:rPr sz="1250" b="0">
                <a:solidFill>
                  <a:srgbClr val="1F1F1F"/>
                </a:solidFill>
                <a:latin typeface="Microsoft YaHei"/>
              </a:rPr>
              <a:t>PD 分离但无 TP 异构优化</a:t>
            </a:r>
          </a:p>
          <a:p>
            <a:pPr algn="l" marL="342900" indent="-171450">
              <a:lnSpc>
                <a:spcPct val="105000"/>
              </a:lnSpc>
            </a:pPr>
            <a:r>
              <a:rPr sz="1250">
                <a:solidFill>
                  <a:srgbClr val="1F1F1F"/>
                </a:solidFill>
                <a:latin typeface="Microsoft YaHei"/>
              </a:rPr>
              <a:t>• </a:t>
            </a:r>
            <a:r>
              <a:rPr sz="1250" b="0">
                <a:solidFill>
                  <a:srgbClr val="1F1F1F"/>
                </a:solidFill>
                <a:latin typeface="Microsoft YaHei"/>
              </a:rPr>
              <a:t>通用 KV 重排序</a:t>
            </a:r>
          </a:p>
          <a:p>
            <a:pPr algn="l" marL="342900" indent="-171450">
              <a:lnSpc>
                <a:spcPct val="105000"/>
              </a:lnSpc>
            </a:pPr>
            <a:r>
              <a:rPr sz="1250">
                <a:solidFill>
                  <a:srgbClr val="1F1F1F"/>
                </a:solidFill>
                <a:latin typeface="Microsoft YaHei"/>
              </a:rPr>
              <a:t>• </a:t>
            </a:r>
            <a:r>
              <a:rPr sz="1250" b="0">
                <a:solidFill>
                  <a:srgbClr val="1F1F1F"/>
                </a:solidFill>
                <a:latin typeface="Microsoft YaHei"/>
              </a:rPr>
              <a:t>静态 PCP/DCP</a:t>
            </a:r>
          </a:p>
          <a:p>
            <a:pPr algn="l" marL="342900" indent="-171450">
              <a:lnSpc>
                <a:spcPct val="105000"/>
              </a:lnSpc>
            </a:pPr>
            <a:r>
              <a:rPr sz="1250">
                <a:solidFill>
                  <a:srgbClr val="1F1F1F"/>
                </a:solidFill>
                <a:latin typeface="Microsoft YaHei"/>
              </a:rPr>
              <a:t>• </a:t>
            </a:r>
            <a:r>
              <a:rPr sz="1250" b="0">
                <a:solidFill>
                  <a:srgbClr val="1F1F1F"/>
                </a:solidFill>
                <a:latin typeface="Microsoft YaHei"/>
              </a:rPr>
              <a:t>固定 CP 粒度跨 DP</a:t>
            </a:r>
          </a:p>
          <a:p>
            <a:pPr algn="l" marL="342900" indent="-171450">
              <a:lnSpc>
                <a:spcPct val="105000"/>
              </a:lnSpc>
            </a:pPr>
            <a:r>
              <a:rPr sz="1250">
                <a:solidFill>
                  <a:srgbClr val="1F1F1F"/>
                </a:solidFill>
                <a:latin typeface="Microsoft YaHei"/>
              </a:rPr>
              <a:t>• </a:t>
            </a:r>
            <a:r>
              <a:rPr sz="1250" b="0">
                <a:solidFill>
                  <a:srgbClr val="1F1F1F"/>
                </a:solidFill>
                <a:latin typeface="Microsoft YaHei"/>
              </a:rPr>
              <a:t>本文融合方案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42900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73152" cy="3474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490472"/>
            <a:ext cx="3172968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ED7D31"/>
                </a:solidFill>
                <a:latin typeface="Microsoft YaHei"/>
              </a:rPr>
              <a:t>评价指标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1938528"/>
            <a:ext cx="3136392" cy="2788920"/>
          </a:xfrm>
          <a:prstGeom prst="rect">
            <a:avLst/>
          </a:prstGeom>
          <a:noFill/>
        </p:spPr>
        <p:txBody>
          <a:bodyPr wrap="square" lIns="76200" rIns="76200" tIns="50800" bIns="50800">
            <a:normAutofit/>
          </a:bodyPr>
          <a:lstStyle/>
          <a:p>
            <a:pPr algn="l" marL="342900" indent="-171450">
              <a:lnSpc>
                <a:spcPct val="105000"/>
              </a:lnSpc>
            </a:pPr>
            <a:r>
              <a:rPr sz="1250">
                <a:solidFill>
                  <a:srgbClr val="1F1F1F"/>
                </a:solidFill>
                <a:latin typeface="Microsoft YaHei"/>
              </a:rPr>
              <a:t>• </a:t>
            </a:r>
            <a:r>
              <a:rPr sz="1250" b="0">
                <a:solidFill>
                  <a:srgbClr val="1F1F1F"/>
                </a:solidFill>
                <a:latin typeface="Microsoft YaHei"/>
              </a:rPr>
              <a:t>TTFT、TPOT、ITL P50/P90/P95/P99</a:t>
            </a:r>
          </a:p>
          <a:p>
            <a:pPr algn="l" marL="342900" indent="-171450">
              <a:lnSpc>
                <a:spcPct val="105000"/>
              </a:lnSpc>
            </a:pPr>
            <a:r>
              <a:rPr sz="1250">
                <a:solidFill>
                  <a:srgbClr val="1F1F1F"/>
                </a:solidFill>
                <a:latin typeface="Microsoft YaHei"/>
              </a:rPr>
              <a:t>• </a:t>
            </a:r>
            <a:r>
              <a:rPr sz="1250" b="0">
                <a:solidFill>
                  <a:srgbClr val="1F1F1F"/>
                </a:solidFill>
                <a:latin typeface="Microsoft YaHei"/>
              </a:rPr>
              <a:t>归一化 QPS、显存峰值、HBM 读写量</a:t>
            </a:r>
          </a:p>
          <a:p>
            <a:pPr algn="l" marL="342900" indent="-171450">
              <a:lnSpc>
                <a:spcPct val="105000"/>
              </a:lnSpc>
            </a:pPr>
            <a:r>
              <a:rPr sz="1250">
                <a:solidFill>
                  <a:srgbClr val="1F1F1F"/>
                </a:solidFill>
                <a:latin typeface="Microsoft YaHei"/>
              </a:rPr>
              <a:t>• </a:t>
            </a:r>
            <a:r>
              <a:rPr sz="1250" b="0">
                <a:solidFill>
                  <a:srgbClr val="1F1F1F"/>
                </a:solidFill>
                <a:latin typeface="Microsoft YaHei"/>
              </a:rPr>
              <a:t>AI Core 利用率、KV 传输时间、layout 转换时间</a:t>
            </a:r>
          </a:p>
          <a:p>
            <a:pPr algn="l" marL="342900" indent="-171450">
              <a:lnSpc>
                <a:spcPct val="105000"/>
              </a:lnSpc>
            </a:pPr>
            <a:r>
              <a:rPr sz="1250">
                <a:solidFill>
                  <a:srgbClr val="1F1F1F"/>
                </a:solidFill>
                <a:latin typeface="Microsoft YaHei"/>
              </a:rPr>
              <a:t>• </a:t>
            </a:r>
            <a:r>
              <a:rPr sz="1250" b="0">
                <a:solidFill>
                  <a:srgbClr val="1F1F1F"/>
                </a:solidFill>
                <a:latin typeface="Microsoft YaHei"/>
              </a:rPr>
              <a:t>跨 DP 负载均衡程度和输出一致性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03520"/>
            <a:ext cx="10424160" cy="43891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重点验证：动态 CP 是否在低负载逼近静态 DCP 的访存收益，并在高负载自动规避通信代价。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89888"/>
            <a:ext cx="1005840" cy="5943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3500" b="1">
                <a:solidFill>
                  <a:srgbClr val="ED7D31"/>
                </a:solidFill>
                <a:latin typeface="Microsoft YaHe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89888"/>
            <a:ext cx="7955279" cy="62179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F4E79"/>
                </a:solidFill>
                <a:latin typeface="Microsoft YaHei"/>
              </a:rPr>
              <a:t>可行性与进度安排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93392" y="2176272"/>
            <a:ext cx="8046720" cy="43891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666666"/>
                </a:solidFill>
                <a:latin typeface="Microsoft YaHei"/>
              </a:rPr>
              <a:t>已有系统基础和前期实验支撑，采用渐进式实现降低风险</a:t>
            </a:r>
          </a:p>
        </p:txBody>
      </p:sp>
      <p:sp>
        <p:nvSpPr>
          <p:cNvPr id="7" name="Rectangle 6"/>
          <p:cNvSpPr/>
          <p:nvPr/>
        </p:nvSpPr>
        <p:spPr>
          <a:xfrm>
            <a:off x="1993392" y="2798064"/>
            <a:ext cx="7680960" cy="32004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93392" y="3072384"/>
            <a:ext cx="603504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面向昇腾显卡的大模型长文本推理优化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309360"/>
            <a:ext cx="3200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60350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66666"/>
                </a:solidFill>
                <a:latin typeface="Microsoft YaHei"/>
              </a:rPr>
              <a:t>面向昇腾显卡的大模型长文本推理优化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118872"/>
            <a:ext cx="3200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20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438912"/>
            <a:ext cx="11539728" cy="2286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029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F4E79"/>
                </a:solidFill>
                <a:latin typeface="Microsoft YaHei"/>
              </a:rPr>
              <a:t>已有基础、风险与应对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520440" cy="3886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73152" cy="38862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444752"/>
            <a:ext cx="3264408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F75B5"/>
                </a:solidFill>
                <a:latin typeface="Microsoft YaHei"/>
              </a:rPr>
              <a:t>已有科研基础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892808"/>
            <a:ext cx="3227832" cy="3200400"/>
          </a:xfrm>
          <a:prstGeom prst="rect">
            <a:avLst/>
          </a:prstGeom>
          <a:noFill/>
        </p:spPr>
        <p:txBody>
          <a:bodyPr wrap="square" lIns="76200" rIns="76200" tIns="50800" bIns="50800">
            <a:normAutofit/>
          </a:bodyPr>
          <a:lstStyle/>
          <a:p>
            <a:pPr algn="l" marL="342900" indent="-171450">
              <a:lnSpc>
                <a:spcPct val="105000"/>
              </a:lnSpc>
            </a:pPr>
            <a:r>
              <a:rPr sz="1250">
                <a:solidFill>
                  <a:srgbClr val="1F1F1F"/>
                </a:solidFill>
                <a:latin typeface="Microsoft YaHei"/>
              </a:rPr>
              <a:t>• </a:t>
            </a:r>
            <a:r>
              <a:rPr sz="1250" b="0">
                <a:solidFill>
                  <a:srgbClr val="1F1F1F"/>
                </a:solidFill>
                <a:latin typeface="Microsoft YaHei"/>
              </a:rPr>
              <a:t>已调研 Splitwise、DistServe、Mooncake、Ring Attention、Ulysses 等代表性工作</a:t>
            </a:r>
          </a:p>
          <a:p>
            <a:pPr algn="l" marL="342900" indent="-171450">
              <a:lnSpc>
                <a:spcPct val="105000"/>
              </a:lnSpc>
            </a:pPr>
            <a:r>
              <a:rPr sz="1250">
                <a:solidFill>
                  <a:srgbClr val="1F1F1F"/>
                </a:solidFill>
                <a:latin typeface="Microsoft YaHei"/>
              </a:rPr>
              <a:t>• </a:t>
            </a:r>
            <a:r>
              <a:rPr sz="1250" b="0">
                <a:solidFill>
                  <a:srgbClr val="1F1F1F"/>
                </a:solidFill>
                <a:latin typeface="Microsoft YaHei"/>
              </a:rPr>
              <a:t>已分析并改造 vLLM-Ascend Mooncake Connector 的 KV 传输流程</a:t>
            </a:r>
          </a:p>
          <a:p>
            <a:pPr algn="l" marL="342900" indent="-171450">
              <a:lnSpc>
                <a:spcPct val="105000"/>
              </a:lnSpc>
            </a:pPr>
            <a:r>
              <a:rPr sz="1250">
                <a:solidFill>
                  <a:srgbClr val="1F1F1F"/>
                </a:solidFill>
                <a:latin typeface="Microsoft YaHei"/>
              </a:rPr>
              <a:t>• </a:t>
            </a:r>
            <a:r>
              <a:rPr sz="1250" b="0">
                <a:solidFill>
                  <a:srgbClr val="1F1F1F"/>
                </a:solidFill>
                <a:latin typeface="Microsoft YaHei"/>
              </a:rPr>
              <a:t>已完成 GQA TP 异构、PP/MTP 层划分和 KV 重排序初步实现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325880"/>
            <a:ext cx="3520440" cy="3886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325880"/>
            <a:ext cx="73152" cy="38862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444752"/>
            <a:ext cx="3264408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70AD47"/>
                </a:solidFill>
                <a:latin typeface="Microsoft YaHei"/>
              </a:rPr>
              <a:t>前期实验基础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1892808"/>
            <a:ext cx="3227832" cy="3200400"/>
          </a:xfrm>
          <a:prstGeom prst="rect">
            <a:avLst/>
          </a:prstGeom>
          <a:noFill/>
        </p:spPr>
        <p:txBody>
          <a:bodyPr wrap="square" lIns="76200" rIns="76200" tIns="50800" bIns="50800">
            <a:normAutofit/>
          </a:bodyPr>
          <a:lstStyle/>
          <a:p>
            <a:pPr algn="l" marL="342900" indent="-171450">
              <a:lnSpc>
                <a:spcPct val="105000"/>
              </a:lnSpc>
            </a:pPr>
            <a:r>
              <a:rPr sz="1250">
                <a:solidFill>
                  <a:srgbClr val="1F1F1F"/>
                </a:solidFill>
                <a:latin typeface="Microsoft YaHei"/>
              </a:rPr>
              <a:t>• </a:t>
            </a:r>
            <a:r>
              <a:rPr sz="1250" b="0">
                <a:solidFill>
                  <a:srgbClr val="1F1F1F"/>
                </a:solidFill>
                <a:latin typeface="Microsoft YaHei"/>
              </a:rPr>
              <a:t>已完成 DP 与静态 DCP 对比</a:t>
            </a:r>
          </a:p>
          <a:p>
            <a:pPr algn="l" marL="342900" indent="-171450">
              <a:lnSpc>
                <a:spcPct val="105000"/>
              </a:lnSpc>
            </a:pPr>
            <a:r>
              <a:rPr sz="1250">
                <a:solidFill>
                  <a:srgbClr val="1F1F1F"/>
                </a:solidFill>
                <a:latin typeface="Microsoft YaHei"/>
              </a:rPr>
              <a:t>• </a:t>
            </a:r>
            <a:r>
              <a:rPr sz="1250" b="0">
                <a:solidFill>
                  <a:srgbClr val="1F1F1F"/>
                </a:solidFill>
                <a:latin typeface="Microsoft YaHei"/>
              </a:rPr>
              <a:t>1M / 1 rps：DCP P90 ITL 10.1 ms，DP 27.7 ms</a:t>
            </a:r>
          </a:p>
          <a:p>
            <a:pPr algn="l" marL="342900" indent="-171450">
              <a:lnSpc>
                <a:spcPct val="105000"/>
              </a:lnSpc>
            </a:pPr>
            <a:r>
              <a:rPr sz="1250">
                <a:solidFill>
                  <a:srgbClr val="1F1F1F"/>
                </a:solidFill>
                <a:latin typeface="Microsoft YaHei"/>
              </a:rPr>
              <a:t>• </a:t>
            </a:r>
            <a:r>
              <a:rPr sz="1250" b="0">
                <a:solidFill>
                  <a:srgbClr val="1F1F1F"/>
                </a:solidFill>
                <a:latin typeface="Microsoft YaHei"/>
              </a:rPr>
              <a:t>1M / 16 rps：DCP 61.3 ms，DP 53.8 ms</a:t>
            </a:r>
          </a:p>
          <a:p>
            <a:pPr algn="l" marL="342900" indent="-171450">
              <a:lnSpc>
                <a:spcPct val="105000"/>
              </a:lnSpc>
            </a:pPr>
            <a:r>
              <a:rPr sz="1250">
                <a:solidFill>
                  <a:srgbClr val="1F1F1F"/>
                </a:solidFill>
                <a:latin typeface="Microsoft YaHei"/>
              </a:rPr>
              <a:t>• </a:t>
            </a:r>
            <a:r>
              <a:rPr sz="1250" b="0">
                <a:solidFill>
                  <a:srgbClr val="1F1F1F"/>
                </a:solidFill>
                <a:latin typeface="Microsoft YaHei"/>
              </a:rPr>
              <a:t>直接证明动态 CP 度选择的必要性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3520440" cy="3886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325880"/>
            <a:ext cx="73152" cy="3886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444752"/>
            <a:ext cx="3264408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ED7D31"/>
                </a:solidFill>
                <a:latin typeface="Microsoft YaHei"/>
              </a:rPr>
              <a:t>风险与应对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1892808"/>
            <a:ext cx="3227832" cy="3200400"/>
          </a:xfrm>
          <a:prstGeom prst="rect">
            <a:avLst/>
          </a:prstGeom>
          <a:noFill/>
        </p:spPr>
        <p:txBody>
          <a:bodyPr wrap="square" lIns="76200" rIns="76200" tIns="50800" bIns="50800">
            <a:normAutofit/>
          </a:bodyPr>
          <a:lstStyle/>
          <a:p>
            <a:pPr algn="l" marL="342900" indent="-171450">
              <a:lnSpc>
                <a:spcPct val="105000"/>
              </a:lnSpc>
            </a:pPr>
            <a:r>
              <a:rPr sz="1250">
                <a:solidFill>
                  <a:srgbClr val="1F1F1F"/>
                </a:solidFill>
                <a:latin typeface="Microsoft YaHei"/>
              </a:rPr>
              <a:t>• </a:t>
            </a:r>
            <a:r>
              <a:rPr sz="1250" b="0">
                <a:solidFill>
                  <a:srgbClr val="1F1F1F"/>
                </a:solidFill>
                <a:latin typeface="Microsoft YaHei"/>
              </a:rPr>
              <a:t>KV layout 错误会影响推理正确性：逐模型逐并行方式验证</a:t>
            </a:r>
          </a:p>
          <a:p>
            <a:pPr algn="l" marL="342900" indent="-171450">
              <a:lnSpc>
                <a:spcPct val="105000"/>
              </a:lnSpc>
            </a:pPr>
            <a:r>
              <a:rPr sz="1250">
                <a:solidFill>
                  <a:srgbClr val="1F1F1F"/>
                </a:solidFill>
                <a:latin typeface="Microsoft YaHei"/>
              </a:rPr>
              <a:t>• </a:t>
            </a:r>
            <a:r>
              <a:rPr sz="1250" b="0">
                <a:solidFill>
                  <a:srgbClr val="1F1F1F"/>
                </a:solidFill>
                <a:latin typeface="Microsoft YaHei"/>
              </a:rPr>
              <a:t>PD + CP 增加通信复杂度：先 Decode 侧静态对比，再做动态决策</a:t>
            </a:r>
          </a:p>
          <a:p>
            <a:pPr algn="l" marL="342900" indent="-171450">
              <a:lnSpc>
                <a:spcPct val="105000"/>
              </a:lnSpc>
            </a:pPr>
            <a:r>
              <a:rPr sz="1250">
                <a:solidFill>
                  <a:srgbClr val="1F1F1F"/>
                </a:solidFill>
                <a:latin typeface="Microsoft YaHei"/>
              </a:rPr>
              <a:t>• </a:t>
            </a:r>
            <a:r>
              <a:rPr sz="1250" b="0">
                <a:solidFill>
                  <a:srgbClr val="1F1F1F"/>
                </a:solidFill>
                <a:latin typeface="Microsoft YaHei"/>
              </a:rPr>
              <a:t>HCCS/RDMA 带宽风险：静态 DCP 是通信量上界，动态 CP 可退化到 CP=1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60350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66666"/>
                </a:solidFill>
                <a:latin typeface="Microsoft YaHei"/>
              </a:rPr>
              <a:t>面向昇腾显卡的大模型长文本推理优化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118872"/>
            <a:ext cx="3200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21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438912"/>
            <a:ext cx="11539728" cy="2286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029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F4E79"/>
                </a:solidFill>
                <a:latin typeface="Microsoft YaHei"/>
              </a:rPr>
              <a:t>研究工作计划与进度安排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2560320"/>
            <a:ext cx="10378440" cy="0"/>
          </a:xfrm>
          <a:prstGeom prst="line">
            <a:avLst/>
          </a:prstGeom>
          <a:ln w="27940">
            <a:solidFill>
              <a:srgbClr val="2F7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68680" y="2350008"/>
            <a:ext cx="146304" cy="420624"/>
          </a:xfrm>
          <a:prstGeom prst="rect">
            <a:avLst/>
          </a:prstGeom>
          <a:solidFill>
            <a:srgbClr val="2F75B5"/>
          </a:solidFill>
          <a:ln w="1524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912620" cy="29260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2F75B5"/>
                </a:solidFill>
                <a:latin typeface="Microsoft YaHei"/>
              </a:rPr>
              <a:t>2026.06–2026.08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17520"/>
            <a:ext cx="163830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3227832"/>
            <a:ext cx="1418844" cy="6583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1F1F1F"/>
                </a:solidFill>
                <a:latin typeface="Microsoft YaHei"/>
              </a:rPr>
              <a:t>文献调研、系统调研、基础实验环境搭建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98420" y="2350008"/>
            <a:ext cx="146304" cy="420624"/>
          </a:xfrm>
          <a:prstGeom prst="rect">
            <a:avLst/>
          </a:prstGeom>
          <a:solidFill>
            <a:srgbClr val="70AD47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06980" y="1508760"/>
            <a:ext cx="1912620" cy="29260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70AD47"/>
                </a:solidFill>
                <a:latin typeface="Microsoft YaHei"/>
              </a:rPr>
              <a:t>2026.09–2026.11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44140" y="3017520"/>
            <a:ext cx="163830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53868" y="3227832"/>
            <a:ext cx="1418844" cy="6583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1F1F1F"/>
                </a:solidFill>
                <a:latin typeface="Microsoft YaHei"/>
              </a:rPr>
              <a:t>PD Connector KV 传输与布局适配，完成消融实验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8160" y="2350008"/>
            <a:ext cx="146304" cy="420624"/>
          </a:xfrm>
          <a:prstGeom prst="rect">
            <a:avLst/>
          </a:prstGeom>
          <a:solidFill>
            <a:srgbClr val="ED7D31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36720" y="1508760"/>
            <a:ext cx="1912620" cy="29260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ED7D31"/>
                </a:solidFill>
                <a:latin typeface="Microsoft YaHei"/>
              </a:rPr>
              <a:t>2026.12–2027.01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3880" y="3017520"/>
            <a:ext cx="163830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3608" y="3227832"/>
            <a:ext cx="1418844" cy="6583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1F1F1F"/>
                </a:solidFill>
                <a:latin typeface="Microsoft YaHei"/>
              </a:rPr>
              <a:t>中心化调度框架原型与 DPLB 实验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57900" y="2350008"/>
            <a:ext cx="146304" cy="420624"/>
          </a:xfrm>
          <a:prstGeom prst="rect">
            <a:avLst/>
          </a:prstGeom>
          <a:solidFill>
            <a:srgbClr val="7030A0"/>
          </a:solidFill>
          <a:ln w="1524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66460" y="1508760"/>
            <a:ext cx="1912620" cy="29260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7030A0"/>
                </a:solidFill>
                <a:latin typeface="Microsoft YaHei"/>
              </a:rPr>
              <a:t>2027.02–2027.03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03620" y="3017520"/>
            <a:ext cx="163830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3348" y="3227832"/>
            <a:ext cx="1418844" cy="6583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1F1F1F"/>
                </a:solidFill>
                <a:latin typeface="Microsoft YaHei"/>
              </a:rPr>
              <a:t>跨 DP 协同执行机制与动态 CP 调度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87640" y="2350008"/>
            <a:ext cx="146304" cy="420624"/>
          </a:xfrm>
          <a:prstGeom prst="rect">
            <a:avLst/>
          </a:prstGeom>
          <a:solidFill>
            <a:srgbClr val="2F75B5"/>
          </a:solidFill>
          <a:ln w="1524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6200" y="1508760"/>
            <a:ext cx="1912620" cy="29260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2F75B5"/>
                </a:solidFill>
                <a:latin typeface="Microsoft YaHei"/>
              </a:rPr>
              <a:t>2027.04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33360" y="3017520"/>
            <a:ext cx="163830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43088" y="3227832"/>
            <a:ext cx="1418844" cy="6583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1F1F1F"/>
                </a:solidFill>
                <a:latin typeface="Microsoft YaHei"/>
              </a:rPr>
              <a:t>整理实验结果，完成论文主体与图表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17380" y="2350008"/>
            <a:ext cx="146304" cy="420624"/>
          </a:xfrm>
          <a:prstGeom prst="rect">
            <a:avLst/>
          </a:prstGeom>
          <a:solidFill>
            <a:srgbClr val="70AD47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25940" y="1508760"/>
            <a:ext cx="1912620" cy="29260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70AD47"/>
                </a:solidFill>
                <a:latin typeface="Microsoft YaHei"/>
              </a:rPr>
              <a:t>2027.05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63100" y="3017520"/>
            <a:ext cx="163830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72828" y="3227832"/>
            <a:ext cx="1418844" cy="6583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1F1F1F"/>
                </a:solidFill>
                <a:latin typeface="Microsoft YaHei"/>
              </a:rPr>
              <a:t>论文修改、预答辩与正式答辩材料准备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303520"/>
            <a:ext cx="10149840" cy="512064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1F4E79"/>
                </a:solidFill>
                <a:latin typeface="Microsoft YaHei"/>
              </a:rPr>
              <a:t>前期已完成：文献综述框架、DP/DCP 基线数据、vLLM-Ascend 环境、GQA TP 异构 layout 映射、PP/MTP 层切分和融合算子初步结果。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3840480" cy="7315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1F4E79"/>
                </a:solidFill>
                <a:latin typeface="Microsoft YaHei"/>
              </a:rPr>
              <a:t>谢谢！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2971800"/>
            <a:ext cx="3840480" cy="43891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F1F1F"/>
                </a:solidFill>
                <a:latin typeface="Microsoft YaHei"/>
              </a:rPr>
              <a:t>请老师指正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4709160"/>
            <a:ext cx="3840480" cy="5943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666666"/>
                </a:solidFill>
                <a:latin typeface="Microsoft YaHei"/>
              </a:rPr>
              <a:t>陈潇
中国科学院计算技术研究所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508760"/>
            <a:ext cx="4343400" cy="3063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965960"/>
            <a:ext cx="3611880" cy="8229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1F4E79"/>
                </a:solidFill>
                <a:latin typeface="Microsoft YaHei"/>
              </a:rPr>
              <a:t>面向昇腾显卡的大模型长文本推理优化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76288" y="3182112"/>
            <a:ext cx="3493008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rmAutofit/>
          </a:bodyPr>
          <a:lstStyle/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666666"/>
                </a:solidFill>
                <a:latin typeface="Microsoft YaHei"/>
              </a:rPr>
              <a:t>PD 分离  ·  KV Cache  ·  动态上下文并行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7309</TotalTime>
  <Words>1888</Words>
  <Application>Microsoft Office PowerPoint</Application>
  <PresentationFormat>宽屏</PresentationFormat>
  <Paragraphs>310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Microsoft YaHei UI</vt:lpstr>
      <vt:lpstr>等线</vt:lpstr>
      <vt:lpstr>等线 Light</vt:lpstr>
      <vt:lpstr>华文隶书</vt:lpstr>
      <vt:lpstr>微软雅黑</vt:lpstr>
      <vt:lpstr>微软雅黑</vt:lpstr>
      <vt:lpstr>Arial</vt:lpstr>
      <vt:lpstr>Calibri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huining</dc:creator>
  <cp:lastModifiedBy>潇 陈</cp:lastModifiedBy>
  <cp:revision>194</cp:revision>
  <dcterms:created xsi:type="dcterms:W3CDTF">2022-01-05T02:50:25Z</dcterms:created>
  <dcterms:modified xsi:type="dcterms:W3CDTF">2026-06-14T14:18:46Z</dcterms:modified>
</cp:coreProperties>
</file>